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5" r:id="rId5"/>
    <p:sldMasterId id="2147483686" r:id="rId6"/>
    <p:sldMasterId id="2147483687" r:id="rId7"/>
    <p:sldMasterId id="2147483688" r:id="rId8"/>
    <p:sldMasterId id="2147483689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  <p:sldId id="310" r:id="rId65"/>
    <p:sldId id="311" r:id="rId66"/>
    <p:sldId id="312" r:id="rId67"/>
    <p:sldId id="313" r:id="rId68"/>
    <p:sldId id="314" r:id="rId69"/>
    <p:sldId id="315" r:id="rId70"/>
    <p:sldId id="316" r:id="rId71"/>
    <p:sldId id="317" r:id="rId72"/>
    <p:sldId id="318" r:id="rId73"/>
    <p:sldId id="319" r:id="rId74"/>
    <p:sldId id="320" r:id="rId75"/>
    <p:sldId id="321" r:id="rId76"/>
    <p:sldId id="322" r:id="rId77"/>
    <p:sldId id="323" r:id="rId78"/>
    <p:sldId id="324" r:id="rId79"/>
    <p:sldId id="325" r:id="rId80"/>
    <p:sldId id="326" r:id="rId81"/>
    <p:sldId id="327" r:id="rId82"/>
    <p:sldId id="328" r:id="rId83"/>
    <p:sldId id="329" r:id="rId84"/>
    <p:sldId id="330" r:id="rId85"/>
    <p:sldId id="331" r:id="rId86"/>
    <p:sldId id="332" r:id="rId87"/>
    <p:sldId id="333" r:id="rId88"/>
    <p:sldId id="334" r:id="rId89"/>
    <p:sldId id="335" r:id="rId90"/>
    <p:sldId id="336" r:id="rId91"/>
    <p:sldId id="337" r:id="rId92"/>
    <p:sldId id="338" r:id="rId93"/>
    <p:sldId id="339" r:id="rId94"/>
    <p:sldId id="340" r:id="rId95"/>
    <p:sldId id="341" r:id="rId96"/>
    <p:sldId id="342" r:id="rId97"/>
    <p:sldId id="343" r:id="rId98"/>
    <p:sldId id="344" r:id="rId99"/>
    <p:sldId id="345" r:id="rId100"/>
    <p:sldId id="346" r:id="rId101"/>
    <p:sldId id="347" r:id="rId102"/>
    <p:sldId id="348" r:id="rId103"/>
    <p:sldId id="349" r:id="rId104"/>
    <p:sldId id="350" r:id="rId105"/>
    <p:sldId id="351" r:id="rId106"/>
    <p:sldId id="352" r:id="rId107"/>
    <p:sldId id="353" r:id="rId108"/>
    <p:sldId id="354" r:id="rId109"/>
    <p:sldId id="355" r:id="rId110"/>
    <p:sldId id="356" r:id="rId111"/>
    <p:sldId id="357" r:id="rId112"/>
    <p:sldId id="358" r:id="rId113"/>
    <p:sldId id="359" r:id="rId114"/>
    <p:sldId id="360" r:id="rId115"/>
    <p:sldId id="361" r:id="rId116"/>
    <p:sldId id="362" r:id="rId117"/>
    <p:sldId id="363" r:id="rId118"/>
    <p:sldId id="364" r:id="rId119"/>
    <p:sldId id="365" r:id="rId120"/>
    <p:sldId id="366" r:id="rId121"/>
    <p:sldId id="367" r:id="rId122"/>
    <p:sldId id="368" r:id="rId123"/>
    <p:sldId id="369" r:id="rId124"/>
    <p:sldId id="370" r:id="rId125"/>
    <p:sldId id="371" r:id="rId126"/>
    <p:sldId id="372" r:id="rId127"/>
    <p:sldId id="373" r:id="rId128"/>
    <p:sldId id="374" r:id="rId129"/>
    <p:sldId id="375" r:id="rId130"/>
    <p:sldId id="376" r:id="rId131"/>
    <p:sldId id="377" r:id="rId132"/>
    <p:sldId id="378" r:id="rId133"/>
    <p:sldId id="379" r:id="rId134"/>
    <p:sldId id="380" r:id="rId135"/>
    <p:sldId id="381" r:id="rId136"/>
    <p:sldId id="382" r:id="rId137"/>
    <p:sldId id="383" r:id="rId138"/>
    <p:sldId id="384" r:id="rId139"/>
    <p:sldId id="385" r:id="rId140"/>
    <p:sldId id="386" r:id="rId141"/>
    <p:sldId id="387" r:id="rId142"/>
    <p:sldId id="388" r:id="rId143"/>
    <p:sldId id="389" r:id="rId144"/>
    <p:sldId id="390" r:id="rId145"/>
    <p:sldId id="391" r:id="rId146"/>
    <p:sldId id="392" r:id="rId147"/>
    <p:sldId id="393" r:id="rId148"/>
    <p:sldId id="394" r:id="rId149"/>
    <p:sldId id="395" r:id="rId150"/>
    <p:sldId id="396" r:id="rId151"/>
    <p:sldId id="397" r:id="rId152"/>
    <p:sldId id="398" r:id="rId153"/>
    <p:sldId id="399" r:id="rId154"/>
  </p:sldIdLst>
  <p:sldSz cy="5143500" cx="9144000"/>
  <p:notesSz cx="6858000" cy="9144000"/>
  <p:embeddedFontLst>
    <p:embeddedFont>
      <p:font typeface="Noto Sans Medium"/>
      <p:regular r:id="rId155"/>
      <p:bold r:id="rId156"/>
      <p:italic r:id="rId157"/>
      <p:boldItalic r:id="rId158"/>
    </p:embeddedFont>
    <p:embeddedFont>
      <p:font typeface="Roboto"/>
      <p:regular r:id="rId159"/>
      <p:bold r:id="rId160"/>
      <p:italic r:id="rId161"/>
      <p:boldItalic r:id="rId162"/>
    </p:embeddedFont>
    <p:embeddedFont>
      <p:font typeface="Noto Sans Thin"/>
      <p:regular r:id="rId163"/>
      <p:bold r:id="rId164"/>
      <p:italic r:id="rId165"/>
      <p:boldItalic r:id="rId166"/>
    </p:embeddedFont>
    <p:embeddedFont>
      <p:font typeface="Noto Sans"/>
      <p:regular r:id="rId167"/>
      <p:bold r:id="rId168"/>
      <p:italic r:id="rId169"/>
      <p:boldItalic r:id="rId170"/>
    </p:embeddedFont>
    <p:embeddedFont>
      <p:font typeface="Noto Sans SemiBold"/>
      <p:regular r:id="rId171"/>
      <p:bold r:id="rId172"/>
      <p:italic r:id="rId173"/>
      <p:boldItalic r:id="rId174"/>
    </p:embeddedFont>
    <p:embeddedFont>
      <p:font typeface="Delicious Handrawn"/>
      <p:regular r:id="rId175"/>
    </p:embeddedFont>
    <p:embeddedFont>
      <p:font typeface="Oswald"/>
      <p:regular r:id="rId176"/>
      <p:bold r:id="rId17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1" name="Deepali Barapatre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496B87-5704-4777-A86E-75ADE45BAD4F}">
  <a:tblStyle styleId="{14496B87-5704-4777-A86E-75ADE45BAD4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1DC0F98-B191-489F-A54A-C2740581BDA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6350">
              <a:solidFill>
                <a:srgbClr val="113D5C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6350">
              <a:solidFill>
                <a:srgbClr val="113D5C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113D5C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6350">
              <a:solidFill>
                <a:srgbClr val="113D5C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0.xml"/><Relationship Id="rId42" Type="http://schemas.openxmlformats.org/officeDocument/2006/relationships/slide" Target="slides/slide32.xml"/><Relationship Id="rId41" Type="http://schemas.openxmlformats.org/officeDocument/2006/relationships/slide" Target="slides/slide31.xml"/><Relationship Id="rId44" Type="http://schemas.openxmlformats.org/officeDocument/2006/relationships/slide" Target="slides/slide34.xml"/><Relationship Id="rId43" Type="http://schemas.openxmlformats.org/officeDocument/2006/relationships/slide" Target="slides/slide33.xml"/><Relationship Id="rId46" Type="http://schemas.openxmlformats.org/officeDocument/2006/relationships/slide" Target="slides/slide36.xml"/><Relationship Id="rId45" Type="http://schemas.openxmlformats.org/officeDocument/2006/relationships/slide" Target="slides/slide35.xml"/><Relationship Id="rId107" Type="http://schemas.openxmlformats.org/officeDocument/2006/relationships/slide" Target="slides/slide97.xml"/><Relationship Id="rId106" Type="http://schemas.openxmlformats.org/officeDocument/2006/relationships/slide" Target="slides/slide96.xml"/><Relationship Id="rId105" Type="http://schemas.openxmlformats.org/officeDocument/2006/relationships/slide" Target="slides/slide95.xml"/><Relationship Id="rId104" Type="http://schemas.openxmlformats.org/officeDocument/2006/relationships/slide" Target="slides/slide94.xml"/><Relationship Id="rId109" Type="http://schemas.openxmlformats.org/officeDocument/2006/relationships/slide" Target="slides/slide99.xml"/><Relationship Id="rId108" Type="http://schemas.openxmlformats.org/officeDocument/2006/relationships/slide" Target="slides/slide98.xml"/><Relationship Id="rId48" Type="http://schemas.openxmlformats.org/officeDocument/2006/relationships/slide" Target="slides/slide38.xml"/><Relationship Id="rId47" Type="http://schemas.openxmlformats.org/officeDocument/2006/relationships/slide" Target="slides/slide37.xml"/><Relationship Id="rId49" Type="http://schemas.openxmlformats.org/officeDocument/2006/relationships/slide" Target="slides/slide39.xml"/><Relationship Id="rId103" Type="http://schemas.openxmlformats.org/officeDocument/2006/relationships/slide" Target="slides/slide93.xml"/><Relationship Id="rId102" Type="http://schemas.openxmlformats.org/officeDocument/2006/relationships/slide" Target="slides/slide92.xml"/><Relationship Id="rId101" Type="http://schemas.openxmlformats.org/officeDocument/2006/relationships/slide" Target="slides/slide91.xml"/><Relationship Id="rId100" Type="http://schemas.openxmlformats.org/officeDocument/2006/relationships/slide" Target="slides/slide90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33" Type="http://schemas.openxmlformats.org/officeDocument/2006/relationships/slide" Target="slides/slide23.xml"/><Relationship Id="rId32" Type="http://schemas.openxmlformats.org/officeDocument/2006/relationships/slide" Target="slides/slide22.xml"/><Relationship Id="rId35" Type="http://schemas.openxmlformats.org/officeDocument/2006/relationships/slide" Target="slides/slide25.xml"/><Relationship Id="rId34" Type="http://schemas.openxmlformats.org/officeDocument/2006/relationships/slide" Target="slides/slide24.xml"/><Relationship Id="rId37" Type="http://schemas.openxmlformats.org/officeDocument/2006/relationships/slide" Target="slides/slide27.xml"/><Relationship Id="rId176" Type="http://schemas.openxmlformats.org/officeDocument/2006/relationships/font" Target="fonts/Oswald-regular.fntdata"/><Relationship Id="rId36" Type="http://schemas.openxmlformats.org/officeDocument/2006/relationships/slide" Target="slides/slide26.xml"/><Relationship Id="rId175" Type="http://schemas.openxmlformats.org/officeDocument/2006/relationships/font" Target="fonts/DeliciousHandrawn-regular.fntdata"/><Relationship Id="rId39" Type="http://schemas.openxmlformats.org/officeDocument/2006/relationships/slide" Target="slides/slide29.xml"/><Relationship Id="rId174" Type="http://schemas.openxmlformats.org/officeDocument/2006/relationships/font" Target="fonts/NotoSansSemiBold-boldItalic.fntdata"/><Relationship Id="rId38" Type="http://schemas.openxmlformats.org/officeDocument/2006/relationships/slide" Target="slides/slide28.xml"/><Relationship Id="rId173" Type="http://schemas.openxmlformats.org/officeDocument/2006/relationships/font" Target="fonts/NotoSansSemiBold-italic.fntdata"/><Relationship Id="rId177" Type="http://schemas.openxmlformats.org/officeDocument/2006/relationships/font" Target="fonts/Oswald-bold.fntdata"/><Relationship Id="rId20" Type="http://schemas.openxmlformats.org/officeDocument/2006/relationships/slide" Target="slides/slide10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129" Type="http://schemas.openxmlformats.org/officeDocument/2006/relationships/slide" Target="slides/slide119.xml"/><Relationship Id="rId128" Type="http://schemas.openxmlformats.org/officeDocument/2006/relationships/slide" Target="slides/slide118.xml"/><Relationship Id="rId127" Type="http://schemas.openxmlformats.org/officeDocument/2006/relationships/slide" Target="slides/slide117.xml"/><Relationship Id="rId126" Type="http://schemas.openxmlformats.org/officeDocument/2006/relationships/slide" Target="slides/slide116.xml"/><Relationship Id="rId26" Type="http://schemas.openxmlformats.org/officeDocument/2006/relationships/slide" Target="slides/slide16.xml"/><Relationship Id="rId121" Type="http://schemas.openxmlformats.org/officeDocument/2006/relationships/slide" Target="slides/slide111.xml"/><Relationship Id="rId25" Type="http://schemas.openxmlformats.org/officeDocument/2006/relationships/slide" Target="slides/slide15.xml"/><Relationship Id="rId120" Type="http://schemas.openxmlformats.org/officeDocument/2006/relationships/slide" Target="slides/slide110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125" Type="http://schemas.openxmlformats.org/officeDocument/2006/relationships/slide" Target="slides/slide115.xml"/><Relationship Id="rId29" Type="http://schemas.openxmlformats.org/officeDocument/2006/relationships/slide" Target="slides/slide19.xml"/><Relationship Id="rId124" Type="http://schemas.openxmlformats.org/officeDocument/2006/relationships/slide" Target="slides/slide114.xml"/><Relationship Id="rId123" Type="http://schemas.openxmlformats.org/officeDocument/2006/relationships/slide" Target="slides/slide113.xml"/><Relationship Id="rId122" Type="http://schemas.openxmlformats.org/officeDocument/2006/relationships/slide" Target="slides/slide112.xml"/><Relationship Id="rId95" Type="http://schemas.openxmlformats.org/officeDocument/2006/relationships/slide" Target="slides/slide85.xml"/><Relationship Id="rId94" Type="http://schemas.openxmlformats.org/officeDocument/2006/relationships/slide" Target="slides/slide84.xml"/><Relationship Id="rId97" Type="http://schemas.openxmlformats.org/officeDocument/2006/relationships/slide" Target="slides/slide87.xml"/><Relationship Id="rId96" Type="http://schemas.openxmlformats.org/officeDocument/2006/relationships/slide" Target="slides/slide86.xml"/><Relationship Id="rId11" Type="http://schemas.openxmlformats.org/officeDocument/2006/relationships/slide" Target="slides/slide1.xml"/><Relationship Id="rId99" Type="http://schemas.openxmlformats.org/officeDocument/2006/relationships/slide" Target="slides/slide89.xml"/><Relationship Id="rId10" Type="http://schemas.openxmlformats.org/officeDocument/2006/relationships/notesMaster" Target="notesMasters/notesMaster1.xml"/><Relationship Id="rId98" Type="http://schemas.openxmlformats.org/officeDocument/2006/relationships/slide" Target="slides/slide88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91" Type="http://schemas.openxmlformats.org/officeDocument/2006/relationships/slide" Target="slides/slide81.xml"/><Relationship Id="rId90" Type="http://schemas.openxmlformats.org/officeDocument/2006/relationships/slide" Target="slides/slide80.xml"/><Relationship Id="rId93" Type="http://schemas.openxmlformats.org/officeDocument/2006/relationships/slide" Target="slides/slide83.xml"/><Relationship Id="rId92" Type="http://schemas.openxmlformats.org/officeDocument/2006/relationships/slide" Target="slides/slide82.xml"/><Relationship Id="rId118" Type="http://schemas.openxmlformats.org/officeDocument/2006/relationships/slide" Target="slides/slide108.xml"/><Relationship Id="rId117" Type="http://schemas.openxmlformats.org/officeDocument/2006/relationships/slide" Target="slides/slide107.xml"/><Relationship Id="rId116" Type="http://schemas.openxmlformats.org/officeDocument/2006/relationships/slide" Target="slides/slide106.xml"/><Relationship Id="rId115" Type="http://schemas.openxmlformats.org/officeDocument/2006/relationships/slide" Target="slides/slide105.xml"/><Relationship Id="rId119" Type="http://schemas.openxmlformats.org/officeDocument/2006/relationships/slide" Target="slides/slide109.xml"/><Relationship Id="rId15" Type="http://schemas.openxmlformats.org/officeDocument/2006/relationships/slide" Target="slides/slide5.xml"/><Relationship Id="rId110" Type="http://schemas.openxmlformats.org/officeDocument/2006/relationships/slide" Target="slides/slide100.xml"/><Relationship Id="rId14" Type="http://schemas.openxmlformats.org/officeDocument/2006/relationships/slide" Target="slides/slide4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14" Type="http://schemas.openxmlformats.org/officeDocument/2006/relationships/slide" Target="slides/slide104.xml"/><Relationship Id="rId18" Type="http://schemas.openxmlformats.org/officeDocument/2006/relationships/slide" Target="slides/slide8.xml"/><Relationship Id="rId113" Type="http://schemas.openxmlformats.org/officeDocument/2006/relationships/slide" Target="slides/slide103.xml"/><Relationship Id="rId112" Type="http://schemas.openxmlformats.org/officeDocument/2006/relationships/slide" Target="slides/slide102.xml"/><Relationship Id="rId111" Type="http://schemas.openxmlformats.org/officeDocument/2006/relationships/slide" Target="slides/slide101.xml"/><Relationship Id="rId84" Type="http://schemas.openxmlformats.org/officeDocument/2006/relationships/slide" Target="slides/slide74.xml"/><Relationship Id="rId83" Type="http://schemas.openxmlformats.org/officeDocument/2006/relationships/slide" Target="slides/slide73.xml"/><Relationship Id="rId86" Type="http://schemas.openxmlformats.org/officeDocument/2006/relationships/slide" Target="slides/slide76.xml"/><Relationship Id="rId85" Type="http://schemas.openxmlformats.org/officeDocument/2006/relationships/slide" Target="slides/slide75.xml"/><Relationship Id="rId88" Type="http://schemas.openxmlformats.org/officeDocument/2006/relationships/slide" Target="slides/slide78.xml"/><Relationship Id="rId150" Type="http://schemas.openxmlformats.org/officeDocument/2006/relationships/slide" Target="slides/slide140.xml"/><Relationship Id="rId87" Type="http://schemas.openxmlformats.org/officeDocument/2006/relationships/slide" Target="slides/slide77.xml"/><Relationship Id="rId89" Type="http://schemas.openxmlformats.org/officeDocument/2006/relationships/slide" Target="slides/slide79.xml"/><Relationship Id="rId80" Type="http://schemas.openxmlformats.org/officeDocument/2006/relationships/slide" Target="slides/slide70.xml"/><Relationship Id="rId82" Type="http://schemas.openxmlformats.org/officeDocument/2006/relationships/slide" Target="slides/slide72.xml"/><Relationship Id="rId81" Type="http://schemas.openxmlformats.org/officeDocument/2006/relationships/slide" Target="slides/slide71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149" Type="http://schemas.openxmlformats.org/officeDocument/2006/relationships/slide" Target="slides/slide139.xml"/><Relationship Id="rId4" Type="http://schemas.openxmlformats.org/officeDocument/2006/relationships/commentAuthors" Target="commentAuthors.xml"/><Relationship Id="rId148" Type="http://schemas.openxmlformats.org/officeDocument/2006/relationships/slide" Target="slides/slide138.xml"/><Relationship Id="rId9" Type="http://schemas.openxmlformats.org/officeDocument/2006/relationships/slideMaster" Target="slideMasters/slideMaster5.xml"/><Relationship Id="rId143" Type="http://schemas.openxmlformats.org/officeDocument/2006/relationships/slide" Target="slides/slide133.xml"/><Relationship Id="rId142" Type="http://schemas.openxmlformats.org/officeDocument/2006/relationships/slide" Target="slides/slide132.xml"/><Relationship Id="rId141" Type="http://schemas.openxmlformats.org/officeDocument/2006/relationships/slide" Target="slides/slide131.xml"/><Relationship Id="rId140" Type="http://schemas.openxmlformats.org/officeDocument/2006/relationships/slide" Target="slides/slide130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37.xml"/><Relationship Id="rId6" Type="http://schemas.openxmlformats.org/officeDocument/2006/relationships/slideMaster" Target="slideMasters/slideMaster2.xml"/><Relationship Id="rId146" Type="http://schemas.openxmlformats.org/officeDocument/2006/relationships/slide" Target="slides/slide136.xml"/><Relationship Id="rId7" Type="http://schemas.openxmlformats.org/officeDocument/2006/relationships/slideMaster" Target="slideMasters/slideMaster3.xml"/><Relationship Id="rId145" Type="http://schemas.openxmlformats.org/officeDocument/2006/relationships/slide" Target="slides/slide135.xml"/><Relationship Id="rId8" Type="http://schemas.openxmlformats.org/officeDocument/2006/relationships/slideMaster" Target="slideMasters/slideMaster4.xml"/><Relationship Id="rId144" Type="http://schemas.openxmlformats.org/officeDocument/2006/relationships/slide" Target="slides/slide134.xml"/><Relationship Id="rId73" Type="http://schemas.openxmlformats.org/officeDocument/2006/relationships/slide" Target="slides/slide63.xml"/><Relationship Id="rId72" Type="http://schemas.openxmlformats.org/officeDocument/2006/relationships/slide" Target="slides/slide62.xml"/><Relationship Id="rId75" Type="http://schemas.openxmlformats.org/officeDocument/2006/relationships/slide" Target="slides/slide65.xml"/><Relationship Id="rId74" Type="http://schemas.openxmlformats.org/officeDocument/2006/relationships/slide" Target="slides/slide64.xml"/><Relationship Id="rId77" Type="http://schemas.openxmlformats.org/officeDocument/2006/relationships/slide" Target="slides/slide67.xml"/><Relationship Id="rId76" Type="http://schemas.openxmlformats.org/officeDocument/2006/relationships/slide" Target="slides/slide66.xml"/><Relationship Id="rId79" Type="http://schemas.openxmlformats.org/officeDocument/2006/relationships/slide" Target="slides/slide69.xml"/><Relationship Id="rId78" Type="http://schemas.openxmlformats.org/officeDocument/2006/relationships/slide" Target="slides/slide68.xml"/><Relationship Id="rId71" Type="http://schemas.openxmlformats.org/officeDocument/2006/relationships/slide" Target="slides/slide61.xml"/><Relationship Id="rId70" Type="http://schemas.openxmlformats.org/officeDocument/2006/relationships/slide" Target="slides/slide60.xml"/><Relationship Id="rId139" Type="http://schemas.openxmlformats.org/officeDocument/2006/relationships/slide" Target="slides/slide129.xml"/><Relationship Id="rId138" Type="http://schemas.openxmlformats.org/officeDocument/2006/relationships/slide" Target="slides/slide128.xml"/><Relationship Id="rId137" Type="http://schemas.openxmlformats.org/officeDocument/2006/relationships/slide" Target="slides/slide127.xml"/><Relationship Id="rId132" Type="http://schemas.openxmlformats.org/officeDocument/2006/relationships/slide" Target="slides/slide122.xml"/><Relationship Id="rId131" Type="http://schemas.openxmlformats.org/officeDocument/2006/relationships/slide" Target="slides/slide121.xml"/><Relationship Id="rId130" Type="http://schemas.openxmlformats.org/officeDocument/2006/relationships/slide" Target="slides/slide120.xml"/><Relationship Id="rId136" Type="http://schemas.openxmlformats.org/officeDocument/2006/relationships/slide" Target="slides/slide126.xml"/><Relationship Id="rId135" Type="http://schemas.openxmlformats.org/officeDocument/2006/relationships/slide" Target="slides/slide125.xml"/><Relationship Id="rId134" Type="http://schemas.openxmlformats.org/officeDocument/2006/relationships/slide" Target="slides/slide124.xml"/><Relationship Id="rId133" Type="http://schemas.openxmlformats.org/officeDocument/2006/relationships/slide" Target="slides/slide123.xml"/><Relationship Id="rId62" Type="http://schemas.openxmlformats.org/officeDocument/2006/relationships/slide" Target="slides/slide52.xml"/><Relationship Id="rId61" Type="http://schemas.openxmlformats.org/officeDocument/2006/relationships/slide" Target="slides/slide51.xml"/><Relationship Id="rId64" Type="http://schemas.openxmlformats.org/officeDocument/2006/relationships/slide" Target="slides/slide54.xml"/><Relationship Id="rId63" Type="http://schemas.openxmlformats.org/officeDocument/2006/relationships/slide" Target="slides/slide53.xml"/><Relationship Id="rId66" Type="http://schemas.openxmlformats.org/officeDocument/2006/relationships/slide" Target="slides/slide56.xml"/><Relationship Id="rId172" Type="http://schemas.openxmlformats.org/officeDocument/2006/relationships/font" Target="fonts/NotoSansSemiBold-bold.fntdata"/><Relationship Id="rId65" Type="http://schemas.openxmlformats.org/officeDocument/2006/relationships/slide" Target="slides/slide55.xml"/><Relationship Id="rId171" Type="http://schemas.openxmlformats.org/officeDocument/2006/relationships/font" Target="fonts/NotoSansSemiBold-regular.fntdata"/><Relationship Id="rId68" Type="http://schemas.openxmlformats.org/officeDocument/2006/relationships/slide" Target="slides/slide58.xml"/><Relationship Id="rId170" Type="http://schemas.openxmlformats.org/officeDocument/2006/relationships/font" Target="fonts/NotoSans-boldItalic.fntdata"/><Relationship Id="rId67" Type="http://schemas.openxmlformats.org/officeDocument/2006/relationships/slide" Target="slides/slide57.xml"/><Relationship Id="rId60" Type="http://schemas.openxmlformats.org/officeDocument/2006/relationships/slide" Target="slides/slide50.xml"/><Relationship Id="rId165" Type="http://schemas.openxmlformats.org/officeDocument/2006/relationships/font" Target="fonts/NotoSansThin-italic.fntdata"/><Relationship Id="rId69" Type="http://schemas.openxmlformats.org/officeDocument/2006/relationships/slide" Target="slides/slide59.xml"/><Relationship Id="rId164" Type="http://schemas.openxmlformats.org/officeDocument/2006/relationships/font" Target="fonts/NotoSansThin-bold.fntdata"/><Relationship Id="rId163" Type="http://schemas.openxmlformats.org/officeDocument/2006/relationships/font" Target="fonts/NotoSansThin-regular.fntdata"/><Relationship Id="rId162" Type="http://schemas.openxmlformats.org/officeDocument/2006/relationships/font" Target="fonts/Roboto-boldItalic.fntdata"/><Relationship Id="rId169" Type="http://schemas.openxmlformats.org/officeDocument/2006/relationships/font" Target="fonts/NotoSans-italic.fntdata"/><Relationship Id="rId168" Type="http://schemas.openxmlformats.org/officeDocument/2006/relationships/font" Target="fonts/NotoSans-bold.fntdata"/><Relationship Id="rId167" Type="http://schemas.openxmlformats.org/officeDocument/2006/relationships/font" Target="fonts/NotoSans-regular.fntdata"/><Relationship Id="rId166" Type="http://schemas.openxmlformats.org/officeDocument/2006/relationships/font" Target="fonts/NotoSansThin-boldItalic.fntdata"/><Relationship Id="rId51" Type="http://schemas.openxmlformats.org/officeDocument/2006/relationships/slide" Target="slides/slide41.xml"/><Relationship Id="rId50" Type="http://schemas.openxmlformats.org/officeDocument/2006/relationships/slide" Target="slides/slide40.xml"/><Relationship Id="rId53" Type="http://schemas.openxmlformats.org/officeDocument/2006/relationships/slide" Target="slides/slide43.xml"/><Relationship Id="rId52" Type="http://schemas.openxmlformats.org/officeDocument/2006/relationships/slide" Target="slides/slide42.xml"/><Relationship Id="rId55" Type="http://schemas.openxmlformats.org/officeDocument/2006/relationships/slide" Target="slides/slide45.xml"/><Relationship Id="rId161" Type="http://schemas.openxmlformats.org/officeDocument/2006/relationships/font" Target="fonts/Roboto-italic.fntdata"/><Relationship Id="rId54" Type="http://schemas.openxmlformats.org/officeDocument/2006/relationships/slide" Target="slides/slide44.xml"/><Relationship Id="rId160" Type="http://schemas.openxmlformats.org/officeDocument/2006/relationships/font" Target="fonts/Roboto-bold.fntdata"/><Relationship Id="rId57" Type="http://schemas.openxmlformats.org/officeDocument/2006/relationships/slide" Target="slides/slide47.xml"/><Relationship Id="rId56" Type="http://schemas.openxmlformats.org/officeDocument/2006/relationships/slide" Target="slides/slide46.xml"/><Relationship Id="rId159" Type="http://schemas.openxmlformats.org/officeDocument/2006/relationships/font" Target="fonts/Roboto-regular.fntdata"/><Relationship Id="rId59" Type="http://schemas.openxmlformats.org/officeDocument/2006/relationships/slide" Target="slides/slide49.xml"/><Relationship Id="rId154" Type="http://schemas.openxmlformats.org/officeDocument/2006/relationships/slide" Target="slides/slide144.xml"/><Relationship Id="rId58" Type="http://schemas.openxmlformats.org/officeDocument/2006/relationships/slide" Target="slides/slide48.xml"/><Relationship Id="rId153" Type="http://schemas.openxmlformats.org/officeDocument/2006/relationships/slide" Target="slides/slide143.xml"/><Relationship Id="rId152" Type="http://schemas.openxmlformats.org/officeDocument/2006/relationships/slide" Target="slides/slide142.xml"/><Relationship Id="rId151" Type="http://schemas.openxmlformats.org/officeDocument/2006/relationships/slide" Target="slides/slide141.xml"/><Relationship Id="rId158" Type="http://schemas.openxmlformats.org/officeDocument/2006/relationships/font" Target="fonts/NotoSansMedium-boldItalic.fntdata"/><Relationship Id="rId157" Type="http://schemas.openxmlformats.org/officeDocument/2006/relationships/font" Target="fonts/NotoSansMedium-italic.fntdata"/><Relationship Id="rId156" Type="http://schemas.openxmlformats.org/officeDocument/2006/relationships/font" Target="fonts/NotoSansMedium-bold.fntdata"/><Relationship Id="rId155" Type="http://schemas.openxmlformats.org/officeDocument/2006/relationships/font" Target="fonts/NotoSansMedium-regular.fnt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02-23T13:17:19.162">
    <p:pos x="6000" y="0"/>
    <p:text>Destaca que este es un programa basado en evidencia</p:text>
  </p:cm>
  <p:cm authorId="0" idx="2" dt="2024-02-15T21:39:16.040">
    <p:pos x="6000" y="0"/>
    <p:text>@naagy14@gmail.com - Agrega alguna evidencia que venga de México</p:text>
  </p:cm>
  <p:cm authorId="0" idx="3" dt="2024-02-23T13:17:19.162">
    <p:pos x="6000" y="0"/>
    <p:text>@naagy14@gmail.com
Destaco esto para que aparezca en tu bandeja de entrada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4-02-15T22:05:02.898">
    <p:pos x="6000" y="0"/>
    <p:text>Revisa que el código QR sirva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4-02-15T22:36:20.604">
    <p:pos x="187" y="708"/>
    <p:text>Crianza con Conciencia +</p:text>
  </p:cm>
  <p:cm authorId="0" idx="6" dt="2024-02-15T22:36:20.604">
    <p:pos x="187" y="708"/>
    <p:text>No para la versión 2000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4-02-23T15:14:59.823">
    <p:pos x="6000" y="0"/>
    <p:text>@grm.lmt@gmail.com - Añadir instrucciones para modelar
_Reasignado a grm.lmt@gmail.com_</p:text>
  </p:cm>
  <p:cm authorId="0" idx="8" dt="2024-02-23T15:14:59.823">
    <p:pos x="6000" y="0"/>
    <p:text>@grm.lmt@gmail.com - Resalto esto para que esté en la parte superior de tu bandeja de entrada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9" dt="2024-02-23T15:15:25.562">
    <p:pos x="6000" y="0"/>
    <p:text>Eliminar</p:text>
  </p:cm>
  <p:cm authorId="0" idx="10" dt="2024-02-15T22:39:16.722">
    <p:pos x="6000" y="0"/>
    <p:text>@grm.lmt@gmail.com - Comparte la versión corta aquí</p:text>
  </p:cm>
  <p:cm authorId="0" idx="11" dt="2024-02-23T15:15:25.562">
    <p:pos x="6000" y="0"/>
    <p:text>@grm.lmt@gmail.com - Resalto esto para que esté en la parte superior de tu bandeja de entrada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presentation/d/1EXuJBIEbd-WohBCFeso0FmL0TNwOnl8fi36HQT_hrsE/edit#slide=id.p49" TargetMode="Externa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presentation/d/1EXuJBIEbd-WohBCFeso0FmL0TNwOnl8fi36HQT_hrsE/edit#slide=id.p49" TargetMode="Externa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presentation/d/1EXuJBIEbd-WohBCFeso0FmL0TNwOnl8fi36HQT_hrsE/edit#slide=id.p49" TargetMode="Externa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742f19afe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</a:p>
        </p:txBody>
      </p:sp>
      <p:sp>
        <p:nvSpPr>
          <p:cNvPr id="263" name="Google Shape;263;g2742f19afe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66f4ffd752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66f4ffd752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672cfc2c3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672cfc2c3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672cfc2c3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672cfc2c3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672cfc2c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672cfc2c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66f4ffd75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66f4ffd75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66f4ffd75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</a:p>
        </p:txBody>
      </p:sp>
      <p:sp>
        <p:nvSpPr>
          <p:cNvPr id="319" name="Google Shape;319;g266f4ffd75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b37ab3d4e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Bienvenida a los grupos </a:t>
            </a:r>
          </a:p>
        </p:txBody>
      </p:sp>
      <p:sp>
        <p:nvSpPr>
          <p:cNvPr id="332" name="Google Shape;332;g2b37ab3d4e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678004976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678004976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678004976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678004976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7d7a524493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Resalta los puntos clave en el resumen </a:t>
            </a:r>
          </a:p>
        </p:txBody>
      </p:sp>
      <p:sp>
        <p:nvSpPr>
          <p:cNvPr id="349" name="Google Shape;349;g27d7a524493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e70f730c27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1e70f730c2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359" name="Google Shape;359;g1e70f730c27_0_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e70f730c27_0_1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1e70f730c27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66f4ffd75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Char char="●"/>
              <a:defRPr b="1">
                <a:solidFill>
                  <a:schemeClr val="dk1"/>
                </a:solidFill>
              </a:defRPr>
            </a:pPr>
            <a:r>
              <a:t>Destaca lo único y especial que es programa y la colaboración entre el DIF, el PNI, PLH y la UNICEF. Intervención basada en evidencia 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407" name="Google Shape;407;g266f4ffd75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678004976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Char char="●"/>
            </a:pPr>
            <a:endParaRPr b="1">
              <a:solidFill>
                <a:schemeClr val="dk1"/>
              </a:solidFill>
            </a:endParaRPr>
          </a:p>
        </p:txBody>
      </p:sp>
      <p:sp>
        <p:nvSpPr>
          <p:cNvPr id="415" name="Google Shape;415;g2678004976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bb9a15ef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g2bb9a15ef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Crianza con Conciencia + consta de tres partes: </a:t>
            </a:r>
            <a:br>
              <a:rPr lang="en-US"/>
            </a:br>
            <a:br>
              <a:rPr lang="en-US"/>
            </a:br>
            <a:r>
              <a:t>1. La sesión de integración presencial, de la que formas parte en este momento </a:t>
            </a: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2. Cursos llevados a cabo en el chatbot de WhatsApp donde aprenderás tips para mejorar tu relación con tu niña, niño o adolescente. </a:t>
            </a: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3. Un grupo de WhatsApp con otros padres, madres, cuidadores y facilitadores para hacer preguntas y discutir temas de crianza. </a:t>
            </a: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bb9a15ef9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g2bb9a15ef9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Los padres, madres y cuidadores reciben tips diarios sobre la crianza por WhatsApp para ayudarles en la relación con su niña, niño o adolescente (solo necesitan 5 minutos al día). Los padres, madres y cuidadores recibirán 5 sesiones para mejorar su relación con su niña, niño o adolescente: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2bb9a15ef9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g2bb9a15ef9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  <a:defRPr sz="1200">
                <a:solidFill>
                  <a:schemeClr val="dk1"/>
                </a:solidFill>
              </a:defRPr>
            </a:pPr>
            <a:r>
              <a:t>Comparte el nombre y el objetivo de cada sesión con los padres, madres y cuidadores.  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bb9a15ef9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g2bb9a15ef9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2bb9a15ef9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g2bb9a15ef9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Además de las 5 sesiones diarias, las personas participantes también tendrán acceso a: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Actividades lúdicas para hacer con su niña, niño o adolescente al final de cada sesión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Recursos adicionales si necesitan ayuda con situaciones de abuso de sustancias, salud mental, violencia o violencia sexual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bb9a15ef93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g2bb9a15ef93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Los padres, madres y personas cuidadoras participan en sesiones de chat de WhatsApp para aprender a cuidar de su salud mental para apoyarse a sí mismos y a sus familias. Los padres, madres y personas cuidadoras también pueden compartir sus experiencias en torno a las clases ofrecidas a través de Crianza con Conciencia + chatbot.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Hay tres sesiones de chat: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Después de la sesión de integración: Bienvenida y presentaciones.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Día 3: Diálogo Interno: Sesión de chat de WhatsApp sobre el diálogo Interno y el estrés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Día 5: Despedida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El Facilitador solo compartirá los temas de debate o discusión en el Grupo de Comunidad de WhatsApp. las personas facilitadoras </a:t>
            </a:r>
            <a:r>
              <a:rPr b="1"/>
              <a:t>no son moderadores</a:t>
            </a:r>
            <a:r>
              <a:t>; solo interferirán si el contenido debatido va en contra de las prácticas de crianza positiva.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2bb9a15ef9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g2bb9a15ef9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Aquí tienes un resumen de cómo serán los cinco días del programa: </a:t>
            </a:r>
            <a:br>
              <a:rPr lang="en-US"/>
            </a:b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2bb9a15ef93_0_1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g2bb9a15ef93_0_1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Aquí tienes un resumen de cómo serán los cinco días del programa: </a:t>
            </a:r>
            <a:br>
              <a:rPr lang="en-US"/>
            </a:b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1e70f730c27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640" name="Google Shape;640;g1e70f730c27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b37e86ac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651" name="Google Shape;651;g2b37e86ac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2b37e86ac7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659" name="Google Shape;659;g2b37e86ac7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266f4ffd752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266f4ffd752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266f4ffd752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266f4ffd752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>
                <a:solidFill>
                  <a:srgbClr val="0B4060"/>
                </a:solidFill>
              </a:defRPr>
            </a:pPr>
            <a:r>
              <a:t>El método Aceptar, Explorar, Conectar y Practicar (A-E-C-P) es la técnica principal de facilitación usada en el programa Crianza con Conciencia +. Implica la escucha activa, la facilitación colaborativa, el fomento de la autoconciencia, el énfasis hacia los principios básicos y la oportunidad de practicar las habilidades aprendidas.</a:t>
            </a:r>
            <a:endParaRPr>
              <a:solidFill>
                <a:srgbClr val="0B4060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>
                <a:solidFill>
                  <a:srgbClr val="0B4060"/>
                </a:solidFill>
              </a:defRPr>
            </a:pPr>
            <a:r>
              <a:t>Les presentamos el enfoque A-E-C-P a las personas participantes de la formación con un ejercicio de aprendizaje activo que también modela el proceso A-E-C-P. ¡También es importante que tú modeles este enfoque a lo largo de la formación de las personas facilitadoras!</a:t>
            </a:r>
            <a:endParaRPr>
              <a:solidFill>
                <a:srgbClr val="0B406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266f4ffd752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266f4ffd752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266f4ffd752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266f4ffd752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266f4ffd752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266f4ffd752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266f4ffd752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266f4ffd752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266f4ffd752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266f4ffd752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266f4ffd752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266f4ffd752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266f4ffd752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266f4ffd752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66f4ffd752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66f4ffd752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66f4ffd752_0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66f4ffd752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266f4ffd752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266f4ffd752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66f4ffd752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66f4ffd752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66f4ffd752_0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66f4ffd752_0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266f4ffd752_0_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266f4ffd752_0_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2b567024720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2b567024720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267800497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267800497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2672cfc2c3f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2672cfc2c3f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2b9b1a6c5f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2b9b1a6c5f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2672cfc2c3f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827" name="Google Shape;827;g2672cfc2c3f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672cfc2c3f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834" name="Google Shape;834;g2672cfc2c3f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2bb9a15ef93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Para que esta actividad sea interactiva, pídele a las personas participantes que le demuestren al grupo cómo hacer lo siguiente (y corrige/guía si es necesario):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56540" lvl="0" marL="18034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 u="sng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Prender y apagar el teléfono</a:t>
            </a:r>
            <a:endParaRPr sz="1200" u="sng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180340" lvl="0" marL="18034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	Muéstrale a las personas participantes: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Cómo prender y apagar el teléfono. Señala claramente los tres botones laterales (encendido/apagado, subir/bajar volumen).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Dónde y cómo insertar una tarjeta sim y asegurarse de que funciona correctamente una vez prendido el teléfono.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179705" lvl="0" marL="360045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Habla sobre el PIN de la tarjeta SIM y de cómo puede bloquearse si no se introduce correctamente.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56540" lvl="0" marL="18034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 u="sng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Navegar por los ajustes del teléfono</a:t>
            </a:r>
            <a:endParaRPr sz="1200" u="sng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179705" lvl="0" marL="360045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Muéstrale a las personas participantes: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Cómo aumentar y disminuir el brillo del teléfono.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Cómo instalar y desinstalar aplicaciones.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Cómo hacer y compartir capturas de pantalla (esto es clave para cuando tienen problemas técnicos).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	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56540" lvl="0" marL="1803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 u="sng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Navegar por los ajustes de WhatsApp</a:t>
            </a:r>
            <a:endParaRPr sz="1200" u="sng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179705" lvl="0" marL="360045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Recuérdale a las personas participantes que recibirán el contenido del chatbot de Crianza con Conciencia + por WhatsApp.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179705" lvl="0" marL="360045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Muéstrale a las personas participantes: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Cómo encontrar y abrir WhatsApp.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Cómo responder a los mensajes/indicaciones de Crianza con Conciencia + chatbot (para recibir el contenido que sigue).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Cómo abrir imágenes.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Cómo abrir archivos de audio/video.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56540" lvl="0" marL="1803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 u="sng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Cargar el teléfono</a:t>
            </a:r>
            <a:endParaRPr sz="1200" u="sng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18034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Muestra cómo introducir correctamente el cargador del teléfono para evitar descomponer el sistema de carga.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18034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Enfatiza la importancia de desconectar el teléfono del cargador una vez que esté completamente cargado para evitar la sobrecarga.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18034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Utiliza el cargador original del teléfono para cargarlo.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56540" lvl="0" marL="18034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 u="sng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Activar y desactivar los datos móviles</a:t>
            </a:r>
            <a:endParaRPr sz="1200" u="sng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18034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Muéstrale a las personas participantes cómo activar y desactivar los datos. Señala cómo cambia la barra de estado cuando los datos están activados o desactivados (H+/3G/4G en la barra de red).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18034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Haz hincapié en que los datos no deben dejarse encendidos todo el tiempo con el fin de minimizar el uso del paquete de datos y optimizar el uso de la batería.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18034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Muéstrale a las personas participantes cómo revisar el saldo del paquete de datos y/o el uso de los datos.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56540" lvl="0" marL="18034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 u="sng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Manejar el almacenamiento interno del teléfono</a:t>
            </a:r>
            <a:endParaRPr sz="1200" u="sng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18034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Asegúrate de que las personas participantes entiendan que las aplicaciones, los videos, la música y las imágenes ocupan espacio en el teléfono y que este no funcionará correctamente si está demasiado lleno.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179705" lvl="0" marL="360045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Muéstrale a las personas participantes cómo liberar espacio de almacenamiento al: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Borrar archivos como videos, audio, imágenes, etc.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Desinstalar aplicaciones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180340" lvl="0" marL="180340" rtl="0" algn="just">
              <a:spcBef>
                <a:spcPts val="600"/>
              </a:spcBef>
              <a:spcAft>
                <a:spcPts val="0"/>
              </a:spcAft>
              <a:buSzPts val="1100"/>
              <a:buNone/>
              <a:defRPr b="1"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	</a:t>
            </a:r>
            <a:endParaRPr b="1"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56540" lvl="0" marL="1803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 u="sng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Conciencia digital: Seguridad en Internet</a:t>
            </a:r>
            <a:endParaRPr sz="1200" u="sng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18034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Habla sobre los riesgos de hacer clic en enlaces sospechosos y de suplantación de identidad en Internet.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18034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Asegúrate de que las personas participantes entiendan que no se debe compartir información personal específica con personas o fuentes desconocidas, por ejemplo: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Contraseñas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Datos bancarios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Ubicaciones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Imágenes/videos personales o sensibles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28600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56540" lvl="0" marL="18034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 u="sng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Cómo evitar dañar tu teléfono</a:t>
            </a:r>
            <a:endParaRPr sz="1200" u="sng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18034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Muéstrale a las personas participantes cómo acceder al bloqueo de contraseña/patrón para proteger su teléfono de otros usuarios no autorizados.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18034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Habla sobre la importancia de manejar los teléfonos con cuidado, por ejemplo: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Mantener los teléfonos fuera del alcance de sus niños, niñas o adolescentes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Mantener los teléfonos alejados de la luz solar directa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Mantener los teléfonos alejados de áreas de trabajo que puedan dañarlos, por ejemplo, agua, fuego, etc.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839" name="Google Shape;839;g2bb9a15ef93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bb9a15ef93_0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Resumen </a:t>
            </a:r>
            <a:endParaRPr b="1"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 descripción general y las instrucciones para esta actividad se pueden encontrar en Cómo Usar Crianza con Conciencia + Chatbot en tu Guía para el Facilitador.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200">
                <a:latin typeface="Noto Sans"/>
                <a:ea typeface="Noto Sans"/>
                <a:cs typeface="Noto Sans"/>
                <a:sym typeface="Noto Sans"/>
              </a:defRPr>
            </a:pPr>
            <a:r>
              <a:rPr>
                <a:solidFill>
                  <a:srgbClr val="113D5C"/>
                </a:solidFill>
              </a:rPr>
              <a:t>Instrucciones (</a:t>
            </a:r>
            <a:r>
              <a:rPr u="sng">
                <a:solidFill>
                  <a:srgbClr val="1155CC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Diapositiva</a:t>
            </a:r>
            <a:r>
              <a:rPr>
                <a:solidFill>
                  <a:srgbClr val="113D5C"/>
                </a:solidFill>
              </a:rPr>
              <a:t>) </a:t>
            </a:r>
            <a:endParaRPr b="1"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Comparte los siguientes puntos con las personas participantes: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1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las personas facilitadoras deben modelar todo lo básico para poder usar un teléfono celular (aún si ya lo pueden hacer).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1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Esta actividad le ayudará a los padres, madres y cuidadores a tener los conocimientos básicos para poder usar un teléfono celular (si es que no los tienen aún) y empezar a interactuar con Crianza con Conciencia + chatbot.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Comparte esta lista de cosas que el facilitador debe de hacer en la demostración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Prender y apagar el celular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Navegar en el menú de configuración del celular - ajustar el brillo, instalar y desinstalar apps, tomar y compartir capturas de pantalla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Navegar en el menú de Configuración de WhatsApp - responder mensajes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Cargar el celular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Activar y desactivar los datos móviles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Gestionar el almacenamiento interno del celular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Seguridad digital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Prevenir daños al teléfono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Recuérdale a las personas participantes que deben de ofrecer ayuda considerando las necesidades individuales de cada quién, especialmente de aquellas personas que no estén familiarizadas con un teléfono móvil o celular.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Pregúntale a las personas participantes si tienen alguna duda.</a:t>
            </a:r>
          </a:p>
        </p:txBody>
      </p:sp>
      <p:sp>
        <p:nvSpPr>
          <p:cNvPr id="847" name="Google Shape;847;g2bb9a15ef93_0_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2bb9a15ef93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Resumen </a:t>
            </a:r>
            <a:endParaRPr b="1"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 descripción general y las instrucciones para esta actividad se pueden encontrar en Cómo Usar Crianza con Conciencia + Chatbot en tu Guía para el Facilitador.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200">
                <a:latin typeface="Noto Sans"/>
                <a:ea typeface="Noto Sans"/>
                <a:cs typeface="Noto Sans"/>
                <a:sym typeface="Noto Sans"/>
              </a:defRPr>
            </a:pPr>
            <a:r>
              <a:rPr>
                <a:solidFill>
                  <a:srgbClr val="113D5C"/>
                </a:solidFill>
              </a:rPr>
              <a:t>Instrucciones (</a:t>
            </a:r>
            <a:r>
              <a:rPr u="sng">
                <a:solidFill>
                  <a:srgbClr val="1155CC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Diapositiva</a:t>
            </a:r>
            <a:r>
              <a:rPr>
                <a:solidFill>
                  <a:srgbClr val="113D5C"/>
                </a:solidFill>
              </a:rPr>
              <a:t>) </a:t>
            </a:r>
            <a:endParaRPr b="1"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Comparte los siguientes puntos con las personas participantes: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1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las personas facilitadoras deben modelar todo lo básico para poder usar un teléfono celular (aún si ya lo pueden hacer).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1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Esta actividad le ayudará a los padres, madres y cuidadores a tener los conocimientos básicos para poder usar un teléfono celular (si es que no los tienen aún) y empezar a interactuar con Crianza con Conciencia + chatbot.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Comparte esta lista de cosas que el facilitador debe de hacer en la demostración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Prender y apagar el celular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Navegar en el menú de configuración del celular - ajustar el brillo, instalar y desinstalar apps, tomar y compartir capturas de pantalla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Navegar en el menú de Configuración de WhatsApp - responder mensajes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Cargar el celular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Activar y desactivar los datos móviles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Gestionar el almacenamiento interno del celular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Seguridad digital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Prevenir daños al teléfono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Recuérdale a las personas participantes que deben de ofrecer ayuda considerando las necesidades individuales de cada quién, especialmente de aquellas personas que no estén familiarizadas con un teléfono móvil o celular.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Pregúntale a las personas participantes si tienen alguna duda.</a:t>
            </a:r>
          </a:p>
        </p:txBody>
      </p:sp>
      <p:sp>
        <p:nvSpPr>
          <p:cNvPr id="854" name="Google Shape;854;g2bb9a15ef93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2bb9a15ef93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Resumen </a:t>
            </a:r>
            <a:endParaRPr b="1"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 descripción general y las instrucciones para esta actividad se pueden encontrar en Cómo Usar Crianza con Conciencia + Chatbot en tu Guía para el Facilitador.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200">
                <a:latin typeface="Noto Sans"/>
                <a:ea typeface="Noto Sans"/>
                <a:cs typeface="Noto Sans"/>
                <a:sym typeface="Noto Sans"/>
              </a:defRPr>
            </a:pPr>
            <a:r>
              <a:rPr>
                <a:solidFill>
                  <a:srgbClr val="113D5C"/>
                </a:solidFill>
              </a:rPr>
              <a:t>Instrucciones (</a:t>
            </a:r>
            <a:r>
              <a:rPr u="sng">
                <a:solidFill>
                  <a:srgbClr val="1155CC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Diapositiva</a:t>
            </a:r>
            <a:r>
              <a:rPr>
                <a:solidFill>
                  <a:srgbClr val="113D5C"/>
                </a:solidFill>
              </a:rPr>
              <a:t>) </a:t>
            </a:r>
            <a:endParaRPr b="1"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Comparte los siguientes puntos con las personas participantes: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1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las personas facilitadoras deben modelar todo lo básico para poder usar un teléfono celular (aún si ya lo pueden hacer).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1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Esta actividad le ayudará a los padres, madres y cuidadores a tener los conocimientos básicos para poder usar un teléfono celular (si es que no los tienen aún) y empezar a interactuar con Crianza con Conciencia + chatbot.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Comparte esta lista de cosas que el facilitador debe de hacer en la demostración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Prender y apagar el celular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Navegar en el menú de configuración del celular - ajustar el brillo, instalar y desinstalar apps, tomar y compartir capturas de pantalla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Navegar en el menú de Configuración de WhatsApp - responder mensajes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Cargar el celular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Activar y desactivar los datos móviles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Gestionar el almacenamiento interno del celular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Seguridad digital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Prevenir daños al teléfono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Recuérdale a las personas participantes que deben de ofrecer ayuda considerando las necesidades individuales de cada quién, especialmente de aquellas personas que no estén familiarizadas con un teléfono móvil o celular.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Pregúntale a las personas participantes si tienen alguna duda.</a:t>
            </a:r>
          </a:p>
        </p:txBody>
      </p:sp>
      <p:sp>
        <p:nvSpPr>
          <p:cNvPr id="861" name="Google Shape;861;g2bb9a15ef93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2bb9a15ef93_0_5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6540" lvl="0" marL="1803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 u="sng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Inicia un chat de WhatsApp con Crianza con Conciencia + chatbot</a:t>
            </a:r>
            <a:endParaRPr sz="1200" u="sng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179705" lvl="0" marL="360045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Dale a las personas participantes las siguientes instrucciones: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Abre o desbloquea tu teléfono.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Guarda el número de teléfono del chatbot de Crianza con Conciencia + (+6-012-292-7434</a:t>
            </a:r>
            <a:r>
              <a:rPr>
                <a:highlight>
                  <a:srgbClr val="FFFFFF"/>
                </a:highlight>
              </a:rPr>
              <a:t>) </a:t>
            </a:r>
            <a:r>
              <a:t>como contacto.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868" name="Google Shape;868;g2bb9a15ef93_0_5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2bb9a15ef93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4" name="Google Shape;874;g2bb9a15ef93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2bb9a15ef93_0_5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0505" lvl="0" marL="360045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113D5C"/>
              </a:buClr>
              <a:buSzPts val="8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Abre WhatsApp, busca "Crianza con Conciencia +" e inicia un chat escribiendo INICIAR. </a:t>
            </a:r>
          </a:p>
        </p:txBody>
      </p:sp>
      <p:sp>
        <p:nvSpPr>
          <p:cNvPr id="893" name="Google Shape;893;g2bb9a15ef93_0_5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2bb9a15ef93_0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8" name="Google Shape;898;g2bb9a15ef93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2bb9a15ef93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0" name="Google Shape;920;g2bb9a15ef93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2bb9a15ef93_0_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81175" rtl="0" algn="just"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Antes del siguiente paso, Crianza con Conciencia + chatbot generará un número de 6 dígitos como identificador único para cada padre, madre y persona cuidadora. Al final de la sesión de integración, las personas facilitadoras asociarán el identificador único del padre, madre y cuidador con el facilitador de Formando Conciencia +.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281175" rtl="0" algn="just"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Consulta la sección "Cómo Informar la Implementación del Programa" de la Guía de la Persona Facilitadora de Formando Conciencia + para obtener orientación sobre este proceso.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281175" rtl="0" algn="just"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br>
              <a:rPr b="1" lang="en-US" sz="1200" u="sng">
                <a:solidFill>
                  <a:schemeClr val="dk1"/>
                </a:solidFill>
              </a:rPr>
            </a:br>
            <a:r>
              <a:t>Dile a las personas participantes que sigan las indicaciones de Crianza con Conciencia +. Crianza con Conciencia + les pedirá que: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809999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Escriban su nombre y apellidos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809999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Elijan su género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809999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Estado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809999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Elijan su situación sentimental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endParaRPr b="1" sz="1200" u="sng">
              <a:solidFill>
                <a:schemeClr val="dk1"/>
              </a:solidFill>
            </a:endParaRPr>
          </a:p>
        </p:txBody>
      </p:sp>
      <p:sp>
        <p:nvSpPr>
          <p:cNvPr id="942" name="Google Shape;942;g2bb9a15ef93_0_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2bb9a15ef93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80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Escriban el nombre de su niña o niño.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809999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Género de la niña o del niño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809999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Fecha de nacimiento de la niña o del niño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endParaRPr b="1" sz="1200" u="sng">
              <a:solidFill>
                <a:schemeClr val="dk1"/>
              </a:solidFill>
            </a:endParaRPr>
          </a:p>
        </p:txBody>
      </p:sp>
      <p:sp>
        <p:nvSpPr>
          <p:cNvPr id="950" name="Google Shape;950;g2bb9a15ef93_0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2bb9a15ef93_0_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69999" marR="281175" rtl="0" algn="just"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Si el padre, madre o cuidador tiene varios niños, niñas o adolescentes, pídele que al inscribirse en el programa elija a la niña, niño o adolescente que presente más problemas de conducta. Recuérdale que las sesiones que lleven del programa pueden aplicarse a todos los niños, niñas o adolescentes. Sin embargo, para lo que dure el programa, pídele que se centre solo en una niña o un niño.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 sz="1200" u="sng">
              <a:solidFill>
                <a:schemeClr val="dk1"/>
              </a:solidFill>
            </a:endParaRPr>
          </a:p>
        </p:txBody>
      </p:sp>
      <p:sp>
        <p:nvSpPr>
          <p:cNvPr id="959" name="Google Shape;959;g2bb9a15ef93_0_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2bb9a15ef93_0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 u="sng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Video de introducción:</a:t>
            </a:r>
            <a:endParaRPr sz="1200" u="sng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4500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Pídele a las personas participantes que hagan una pausa cuando aparezca el vídeo de introducción de 5 minutos que explica cómo funciona Crianza con Conciencia + en su chatbot.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4500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Reproduce el video en la pantalla. Pregúntale a las personas participantes si tienen alguna duda.</a:t>
            </a:r>
            <a:endParaRPr b="1" sz="1200" u="sng">
              <a:solidFill>
                <a:schemeClr val="dk1"/>
              </a:solidFill>
            </a:endParaRPr>
          </a:p>
        </p:txBody>
      </p:sp>
      <p:sp>
        <p:nvSpPr>
          <p:cNvPr id="967" name="Google Shape;967;g2bb9a15ef93_0_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2bb9a15ef93_0_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54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Dile a las personas participantes que sigan las indicaciones de Crianza con Conciencia +. Crianza con Conciencia + les pedirá que: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○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Elijan cómo quieren recibir los mensajes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2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■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Texto, Imágenes y Videos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3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Selecciona esta opción si leer representa un reto para ti, y </a:t>
            </a:r>
            <a:r>
              <a:rPr b="1"/>
              <a:t>no</a:t>
            </a:r>
            <a:r>
              <a:rPr b="1"/>
              <a:t> </a:t>
            </a:r>
            <a:r>
              <a:t>necesitas cuidar tu uso de datos móviles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2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■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Texto, Imágenes y Audio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3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Selecciona esta opción si leer representa un reto para ti, y </a:t>
            </a:r>
            <a:r>
              <a:rPr b="1"/>
              <a:t>sí </a:t>
            </a:r>
            <a:r>
              <a:t>necesitas cuidar tu uso de datos móviles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2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■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Solo Texto e Imágenes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3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Selecciona esta opción si leer </a:t>
            </a:r>
            <a:r>
              <a:rPr b="1"/>
              <a:t>NO</a:t>
            </a:r>
            <a:r>
              <a:t> representa un reto para ti, y </a:t>
            </a:r>
            <a:r>
              <a:rPr b="1"/>
              <a:t>sí</a:t>
            </a:r>
            <a:r>
              <a:t>necesitas cuidar tu uso de datos móviles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b="1" sz="1200" u="sng">
              <a:solidFill>
                <a:schemeClr val="dk1"/>
              </a:solidFill>
            </a:endParaRPr>
          </a:p>
        </p:txBody>
      </p:sp>
      <p:sp>
        <p:nvSpPr>
          <p:cNvPr id="973" name="Google Shape;973;g2bb9a15ef93_0_6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2bb9a15ef93_0_10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90" name="Google Shape;990;g2bb9a15ef93_0_10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2672cfc2c3f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2672cfc2c3f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2bb9a15ef93_0_1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  <a:defRPr sz="1300">
                <a:solidFill>
                  <a:srgbClr val="E4007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Primera Habilidad de Crianza: El Autocuidado (5 min) </a:t>
            </a:r>
            <a:endParaRPr sz="1300">
              <a:solidFill>
                <a:srgbClr val="E4007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Instrucciones </a:t>
            </a:r>
            <a:endParaRPr sz="1200" u="sng">
              <a:solidFill>
                <a:srgbClr val="113D5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Comparte con los padres, las madres y los cuidadores que comenzaremos Crianza con Conciencia + aprendiendo un breve ejercicio de relajación.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 crianza puede ser difícil y es útil aprender un ejercicio de relajación que los padres, las madres y las personas cuidadoras puedan usar siempre que sientan enojo o estrés. Es una gran herramienta de crianza y una habilidad para la vida.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Dile a las personas participantes que sigan las indicaciones de Crianza con Conciencia +. Crianza con Conciencia + les pedirá que hagan el ejercicio de autocuidado.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Reproduce el video o el audio para todo el grupo y practiquen juntos el ejercicio.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Pregúntale a los padres, madres y personas cuidadoras si tienen alguna duda sobre el ejercicio.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4500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sz="1200" u="sng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0" name="Google Shape;1000;g2bb9a15ef93_0_1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2bb9a15ef93_0_10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  <a:defRPr sz="1300">
                <a:solidFill>
                  <a:srgbClr val="E4007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Revisión general de la primera sesión del chatbot de Crianza con Conciencia + (5 min) </a:t>
            </a:r>
            <a:endParaRPr sz="1300">
              <a:solidFill>
                <a:srgbClr val="E4007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Resumen</a:t>
            </a:r>
            <a:endParaRPr sz="1200">
              <a:solidFill>
                <a:srgbClr val="113D5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Padres, madres y cuidadores explorarán la primera sesión en el chatbot para ver qué se incluye normalmente en una sesión de Crianza con Conciencia +.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Instrucciones</a:t>
            </a:r>
            <a:endParaRPr sz="1200">
              <a:solidFill>
                <a:srgbClr val="113D5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Pídele a los padres, madres y cuidadores que se tomen un momento y completen la primera sesión, "Pasar Tiempo Uno a Uno con Mi Niña o Niño/Adolescente" en sus teléfonos. Recuérdales que no se trata de obtener cada una de las respuestas correctas en el cuestionario de la sesión, sino que todos estamos aquí para aprender juntos.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Tras completar la sesión, pide que compartan sus experiencias con el resto del grupo. Discute los temas que se incluyeron en la sesión y las ideas que surgieron.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Comparte los siguientes puntos con los padres, las madres y personas cuidadores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Aunque no todas las sesiones incluirán cuestionarios y historietas, cada una de ellas incluirá tips o consejos.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 sesión de cada persona será un poco diferente, ya que se personalizan según el perfil de los padres, madres o cuidadores.</a:t>
            </a:r>
          </a:p>
        </p:txBody>
      </p:sp>
      <p:sp>
        <p:nvSpPr>
          <p:cNvPr id="1006" name="Google Shape;1006;g2bb9a15ef93_0_10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2bb9a15ef93_0_10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 sz="1200" u="sng">
              <a:solidFill>
                <a:schemeClr val="dk1"/>
              </a:solidFill>
            </a:endParaRPr>
          </a:p>
        </p:txBody>
      </p:sp>
      <p:sp>
        <p:nvSpPr>
          <p:cNvPr id="1011" name="Google Shape;1011;g2bb9a15ef93_0_10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2bb9a15ef93_0_1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Resumen </a:t>
            </a:r>
            <a:endParaRPr sz="1200">
              <a:solidFill>
                <a:srgbClr val="113D5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las personas participantes pueden encontrarse con algunos desafíos al interactuar con Crianza con Conciencia + chatbot. Enséñales a las personas participantes cómo solucionar problemas con el chat automatizado.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Instrucciones</a:t>
            </a:r>
            <a:endParaRPr sz="1200">
              <a:solidFill>
                <a:srgbClr val="113D5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Pídele a las personas participantes que se muestren unos a otros cómo resolver los siguientes desafíos: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Estoy atorado en Crianza con Conciencia +, o no aparece el botón de "Siguiente".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1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○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Escribe y manda la palabra SIGUIENTE para navegar a tu siguiente actividad.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No sé cómo acceder al Menú Principal ni sé qué hace el Menú.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1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○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Escribe y manda la palabra MENÚ en cualquier momento para: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2" marL="13716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■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Seguir tu progreso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2" marL="13716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■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Cambiar la configuración (cómo/cuándo recibir mensajes, actualizar tus datos para contenido personalizado)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2" marL="13716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■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Volver a ver el video de integración y obtener tips para navegar en Crianza con Conciencia +.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2" marL="13716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■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Obtener ayuda para superar desafíos específicos al aplicar las habilidades aprendidas.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Tengo una emergencia y necesito ayuda urgente.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1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○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Escribe y manda la palabra AYUDA, en cualquier momento, para acceder a datos de contacto y recursos en tu comunidad en caso de necesitar ayuda relacionada con violencia familiar, violencia sexual, salud mental u otras emergencias.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Pregúntale a los padres, madres y personas cuidadoras si tienen alguna duda sobre el uso de Crianza con Conciencia + Chatbot </a:t>
            </a:r>
          </a:p>
        </p:txBody>
      </p:sp>
      <p:sp>
        <p:nvSpPr>
          <p:cNvPr id="1030" name="Google Shape;1030;g2bb9a15ef93_0_10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2bb9a15ef93_0_1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Usar MENÚ para cambiar la configuración </a:t>
            </a:r>
          </a:p>
        </p:txBody>
      </p:sp>
      <p:sp>
        <p:nvSpPr>
          <p:cNvPr id="1051" name="Google Shape;1051;g2bb9a15ef93_0_10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2bb9a15ef93_0_1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Usar MENÚ para volver a ver las sesiones que han completado </a:t>
            </a:r>
          </a:p>
        </p:txBody>
      </p:sp>
      <p:sp>
        <p:nvSpPr>
          <p:cNvPr id="1057" name="Google Shape;1057;g2bb9a15ef93_0_10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2bb9a15ef93_0_1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2bb9a15ef93_0_1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2672cfc2c3f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2672cfc2c3f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2672cfc2c3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2672cfc2c3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2672cfc2c3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 sz="1200" u="sng">
              <a:solidFill>
                <a:schemeClr val="dk1"/>
              </a:solidFill>
            </a:endParaRPr>
          </a:p>
        </p:txBody>
      </p:sp>
      <p:sp>
        <p:nvSpPr>
          <p:cNvPr id="1079" name="Google Shape;1079;g2672cfc2c3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2672cfc2c3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 sz="1200" u="sng">
              <a:solidFill>
                <a:schemeClr val="dk1"/>
              </a:solidFill>
            </a:endParaRPr>
          </a:p>
        </p:txBody>
      </p:sp>
      <p:sp>
        <p:nvSpPr>
          <p:cNvPr id="1089" name="Google Shape;1089;g2672cfc2c3f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2672cfc2c3f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 sz="1200" u="sng">
              <a:solidFill>
                <a:schemeClr val="dk1"/>
              </a:solidFill>
            </a:endParaRPr>
          </a:p>
        </p:txBody>
      </p:sp>
      <p:sp>
        <p:nvSpPr>
          <p:cNvPr id="1112" name="Google Shape;1112;g2672cfc2c3f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2672cfc2c3f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2672cfc2c3f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2672cfc2c3f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2672cfc2c3f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1e70f730c27_0_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130" name="Google Shape;1130;g1e70f730c27_0_6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2678279555f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153" name="Google Shape;1153;g2678279555f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2672cfc2c3f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176" name="Google Shape;1176;g2672cfc2c3f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2672cfc2c3f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2672cfc2c3f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267827957df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</a:p>
        </p:txBody>
      </p:sp>
      <p:sp>
        <p:nvSpPr>
          <p:cNvPr id="1189" name="Google Shape;1189;g267827957df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2672cfc2c3f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2672cfc2c3f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2672cfc2c3f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2672cfc2c3f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2672cfc2c3f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Bienvenida a los grupos </a:t>
            </a:r>
          </a:p>
        </p:txBody>
      </p:sp>
      <p:sp>
        <p:nvSpPr>
          <p:cNvPr id="1221" name="Google Shape;1221;g2672cfc2c3f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2672cfc2c3f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2672cfc2c3f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2672cfc2c3f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2672cfc2c3f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2672cfc2c3f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2672cfc2c3f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2672cfc2c3f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2672cfc2c3f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27eae46321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250" name="Google Shape;1250;g27eae463212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2672cfc2c3f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257" name="Google Shape;1257;g2672cfc2c3f_0_4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2672cfc2c3f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264" name="Google Shape;1264;g2672cfc2c3f_0_4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2672cfc2c3f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271" name="Google Shape;1271;g2672cfc2c3f_0_4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2672cfc2c3f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8" name="Google Shape;1278;g2672cfc2c3f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2672cfc2c3f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2672cfc2c3f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g2672cfc2c3f_0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6" name="Google Shape;1296;g2672cfc2c3f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2b567024720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1" name="Google Shape;1311;g2b567024720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2b52f69b49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0" name="Google Shape;1320;g2b52f69b49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2b567024720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5" name="Google Shape;1325;g2b567024720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2b567024720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2b567024720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2b9b1a6c5f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6" name="Google Shape;1346;g2b9b1a6c5f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2b52f69b49c_1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6" name="Google Shape;1356;g2b52f69b49c_1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>
                <a:solidFill>
                  <a:srgbClr val="0B4060"/>
                </a:solidFill>
              </a:defRPr>
            </a:pPr>
            <a:r>
              <a:t>El método Aceptar, Explorar, Conectar y Practicar (A-E-C-P) es la técnica principal de facilitación usada en el programa Crianza con Conciencia +. Implica la escucha activa, la facilitación colaborativa, el fomento de la autoconciencia, el énfasis hacia los principios básicos y la oportunidad de practicar las habilidades aprendidas.</a:t>
            </a:r>
            <a:endParaRPr>
              <a:solidFill>
                <a:srgbClr val="0B4060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>
                <a:solidFill>
                  <a:srgbClr val="0B4060"/>
                </a:solidFill>
              </a:defRPr>
            </a:pPr>
            <a:r>
              <a:t>Les presentamos el enfoque A-E-C-P a las personas participantes de la formación con un ejercicio de aprendizaje activo que también modela el proceso A-E-C-P. ¡También es importante que tú modeles este enfoque a lo largo de la formación de las personas facilitadoras!</a:t>
            </a:r>
            <a:endParaRPr>
              <a:solidFill>
                <a:srgbClr val="0B406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2b52f69b49c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2b52f69b49c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g2b52f69b49c_1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4" name="Google Shape;1394;g2b52f69b49c_1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g2b567024720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5" name="Google Shape;1415;g2b567024720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2b52f69b49c_1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2b52f69b49c_1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b567024720_1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b567024720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g2b52f69b49c_1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2" name="Google Shape;1472;g2b52f69b49c_1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2b52f69b49c_1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2b52f69b49c_1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2b52f69b49c_1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" name="Google Shape;1507;g2b52f69b49c_1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g2b52f69b49c_1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6" name="Google Shape;1526;g2b52f69b49c_1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2b52f69b49c_1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g2b52f69b49c_1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g2b52f69b49c_1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6" name="Google Shape;1566;g2b52f69b49c_1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2672cfc2c3f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571" name="Google Shape;1571;g2672cfc2c3f_0_4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g267827957df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578" name="Google Shape;1578;g267827957df_3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g267827957df_3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585" name="Google Shape;1585;g267827957df_3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g267827957df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592" name="Google Shape;1592;g267827957df_3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g267827957df_3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599" name="Google Shape;1599;g267827957df_3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267827957df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606" name="Google Shape;1606;g267827957df_3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g267827957df_3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613" name="Google Shape;1613;g267827957df_3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g267827957df_3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620" name="Google Shape;1620;g267827957df_3_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g2b56702472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7" name="Google Shape;1627;g2b56702472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67827957df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632" name="Google Shape;1632;g267827957df_3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g2b567024720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639" name="Google Shape;1639;g2b567024720_1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g267827957df_3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646" name="Google Shape;1646;g267827957df_3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g2b567024720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653" name="Google Shape;1653;g2b567024720_1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g2b567024720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665" name="Google Shape;1665;g2b567024720_1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g2b567024720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672" name="Google Shape;1672;g2b567024720_1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g2b567024720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679" name="Google Shape;1679;g2b567024720_1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g2b567024720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686" name="Google Shape;1686;g2b567024720_1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g267827957df_3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695" name="Google Shape;1695;g267827957df_3_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g2bb9a15ef93_0_1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3" name="Google Shape;1703;g2bb9a15ef93_0_1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g2b57ffc44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708" name="Google Shape;1708;g2b57ffc44e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g267827957df_3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716" name="Google Shape;1716;g267827957df_3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g2b57ffc44e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724" name="Google Shape;1724;g2b57ffc44ea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g2b57ffc44e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731" name="Google Shape;1731;g2b57ffc44ea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7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g2b57ffc44e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739" name="Google Shape;1739;g2b57ffc44ea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g2b57ffc44e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747" name="Google Shape;1747;g2b57ffc44ea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g2b57ffc44e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754" name="Google Shape;1754;g2b57ffc44ea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g2b57ffc44e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1" name="Google Shape;1761;g2b57ffc44e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g2b57ffc44e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6" name="Google Shape;1766;g2b57ffc44e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g2b57ffc44e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1" name="Google Shape;1771;g2b57ffc44e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g2b57ffc44e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776" name="Google Shape;1776;g2b57ffc44ea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g267827957df_3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</a:p>
        </p:txBody>
      </p:sp>
      <p:sp>
        <p:nvSpPr>
          <p:cNvPr id="1783" name="Google Shape;1783;g267827957df_3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jp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jp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jpg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image" Target="../media/image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3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32.png"/><Relationship Id="rId6" Type="http://schemas.openxmlformats.org/officeDocument/2006/relationships/image" Target="../media/image28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7.png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image" Target="../media/image8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2.png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3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jpg"/><Relationship Id="rId3" Type="http://schemas.openxmlformats.org/officeDocument/2006/relationships/image" Target="../media/image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508000" y="1620442"/>
            <a:ext cx="64476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42997" y="4531022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Quote">
  <p:cSld name="Single Quote">
    <p:bg>
      <p:bgPr>
        <a:solidFill>
          <a:schemeClr val="accen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8"/>
          <p:cNvPicPr preferRelativeResize="0"/>
          <p:nvPr/>
        </p:nvPicPr>
        <p:blipFill rotWithShape="1">
          <a:blip r:embed="rId3">
            <a:alphaModFix/>
          </a:blip>
          <a:srcRect b="0" l="0" r="0" t="35839"/>
          <a:stretch/>
        </p:blipFill>
        <p:spPr>
          <a:xfrm>
            <a:off x="874685" y="0"/>
            <a:ext cx="7394632" cy="474435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8"/>
          <p:cNvSpPr txBox="1"/>
          <p:nvPr>
            <p:ph idx="1" type="body"/>
          </p:nvPr>
        </p:nvSpPr>
        <p:spPr>
          <a:xfrm>
            <a:off x="2080649" y="1091336"/>
            <a:ext cx="5045100" cy="17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b="0" i="0" sz="41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8"/>
          <p:cNvSpPr txBox="1"/>
          <p:nvPr>
            <p:ph idx="2" type="body"/>
          </p:nvPr>
        </p:nvSpPr>
        <p:spPr>
          <a:xfrm>
            <a:off x="1538434" y="423331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8"/>
          <p:cNvSpPr txBox="1"/>
          <p:nvPr>
            <p:ph idx="3" type="body"/>
          </p:nvPr>
        </p:nvSpPr>
        <p:spPr>
          <a:xfrm rot="10800000">
            <a:off x="6187920" y="1201375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8"/>
          <p:cNvSpPr txBox="1"/>
          <p:nvPr>
            <p:ph idx="4" type="body"/>
          </p:nvPr>
        </p:nvSpPr>
        <p:spPr>
          <a:xfrm>
            <a:off x="2080649" y="3044123"/>
            <a:ext cx="50451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 header 1">
    <p:bg>
      <p:bgPr>
        <a:solidFill>
          <a:schemeClr val="accen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9"/>
          <p:cNvPicPr preferRelativeResize="0"/>
          <p:nvPr/>
        </p:nvPicPr>
        <p:blipFill rotWithShape="1">
          <a:blip r:embed="rId2">
            <a:alphaModFix/>
          </a:blip>
          <a:srcRect b="8506" l="21377" r="0" t="8257"/>
          <a:stretch/>
        </p:blipFill>
        <p:spPr>
          <a:xfrm>
            <a:off x="0" y="-1"/>
            <a:ext cx="485871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9"/>
          <p:cNvPicPr preferRelativeResize="0"/>
          <p:nvPr/>
        </p:nvPicPr>
        <p:blipFill rotWithShape="1">
          <a:blip r:embed="rId3">
            <a:alphaModFix/>
          </a:blip>
          <a:srcRect b="-340" l="-402" r="29870" t="8310"/>
          <a:stretch/>
        </p:blipFill>
        <p:spPr>
          <a:xfrm rot="5400000">
            <a:off x="4147775" y="147279"/>
            <a:ext cx="4335565" cy="5656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9"/>
          <p:cNvPicPr preferRelativeResize="0"/>
          <p:nvPr/>
        </p:nvPicPr>
        <p:blipFill rotWithShape="1">
          <a:blip r:embed="rId4">
            <a:alphaModFix/>
          </a:blip>
          <a:srcRect b="-333" l="55096" r="0" t="12506"/>
          <a:stretch/>
        </p:blipFill>
        <p:spPr>
          <a:xfrm rot="5400000">
            <a:off x="5800468" y="-1081238"/>
            <a:ext cx="2262292" cy="442477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2530851" y="2620280"/>
            <a:ext cx="5045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76" name="Google Shape;7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664" y="1047036"/>
            <a:ext cx="2501451" cy="265586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9"/>
          <p:cNvSpPr txBox="1"/>
          <p:nvPr>
            <p:ph idx="2" type="body"/>
          </p:nvPr>
        </p:nvSpPr>
        <p:spPr>
          <a:xfrm>
            <a:off x="2530850" y="1865458"/>
            <a:ext cx="12909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lt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uble Quote">
  <p:cSld name="Double Quote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20"/>
          <p:cNvPicPr preferRelativeResize="0"/>
          <p:nvPr/>
        </p:nvPicPr>
        <p:blipFill rotWithShape="1">
          <a:blip r:embed="rId3">
            <a:alphaModFix/>
          </a:blip>
          <a:srcRect b="0" l="0" r="0" t="35839"/>
          <a:stretch/>
        </p:blipFill>
        <p:spPr>
          <a:xfrm>
            <a:off x="247136" y="0"/>
            <a:ext cx="5693655" cy="3653018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0"/>
          <p:cNvSpPr txBox="1"/>
          <p:nvPr>
            <p:ph idx="1" type="body"/>
          </p:nvPr>
        </p:nvSpPr>
        <p:spPr>
          <a:xfrm>
            <a:off x="1142703" y="657429"/>
            <a:ext cx="41073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20"/>
          <p:cNvSpPr txBox="1"/>
          <p:nvPr>
            <p:ph idx="2" type="body"/>
          </p:nvPr>
        </p:nvSpPr>
        <p:spPr>
          <a:xfrm>
            <a:off x="600488" y="-10576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20"/>
          <p:cNvSpPr txBox="1"/>
          <p:nvPr>
            <p:ph idx="3" type="body"/>
          </p:nvPr>
        </p:nvSpPr>
        <p:spPr>
          <a:xfrm rot="10800000">
            <a:off x="4426591" y="424950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20"/>
          <p:cNvSpPr txBox="1"/>
          <p:nvPr>
            <p:ph idx="4" type="body"/>
          </p:nvPr>
        </p:nvSpPr>
        <p:spPr>
          <a:xfrm>
            <a:off x="1142703" y="2346877"/>
            <a:ext cx="37635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85" name="Google Shape;85;p20"/>
          <p:cNvPicPr preferRelativeResize="0"/>
          <p:nvPr/>
        </p:nvPicPr>
        <p:blipFill rotWithShape="1">
          <a:blip r:embed="rId3">
            <a:alphaModFix/>
          </a:blip>
          <a:srcRect b="0" l="0" r="0" t="35839"/>
          <a:stretch/>
        </p:blipFill>
        <p:spPr>
          <a:xfrm rot="10800000">
            <a:off x="4021812" y="1855558"/>
            <a:ext cx="5124644" cy="328794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0"/>
          <p:cNvSpPr txBox="1"/>
          <p:nvPr>
            <p:ph idx="5" type="body"/>
          </p:nvPr>
        </p:nvSpPr>
        <p:spPr>
          <a:xfrm>
            <a:off x="5277206" y="3137535"/>
            <a:ext cx="32814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20"/>
          <p:cNvSpPr txBox="1"/>
          <p:nvPr>
            <p:ph idx="6" type="body"/>
          </p:nvPr>
        </p:nvSpPr>
        <p:spPr>
          <a:xfrm>
            <a:off x="4835583" y="2541543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4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20"/>
          <p:cNvSpPr txBox="1"/>
          <p:nvPr>
            <p:ph idx="7" type="body"/>
          </p:nvPr>
        </p:nvSpPr>
        <p:spPr>
          <a:xfrm rot="10800000">
            <a:off x="7086331" y="2860365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4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20"/>
          <p:cNvSpPr txBox="1"/>
          <p:nvPr>
            <p:ph idx="8" type="body"/>
          </p:nvPr>
        </p:nvSpPr>
        <p:spPr>
          <a:xfrm>
            <a:off x="5311076" y="4688285"/>
            <a:ext cx="37635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 header 2">
    <p:bg>
      <p:bgPr>
        <a:solidFill>
          <a:schemeClr val="accent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1"/>
          <p:cNvPicPr preferRelativeResize="0"/>
          <p:nvPr/>
        </p:nvPicPr>
        <p:blipFill rotWithShape="1">
          <a:blip r:embed="rId2">
            <a:alphaModFix/>
          </a:blip>
          <a:srcRect b="8506" l="21377" r="0" t="8257"/>
          <a:stretch/>
        </p:blipFill>
        <p:spPr>
          <a:xfrm>
            <a:off x="0" y="-1"/>
            <a:ext cx="485871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1"/>
          <p:cNvPicPr preferRelativeResize="0"/>
          <p:nvPr/>
        </p:nvPicPr>
        <p:blipFill rotWithShape="1">
          <a:blip r:embed="rId3">
            <a:alphaModFix/>
          </a:blip>
          <a:srcRect b="-340" l="-402" r="29870" t="8310"/>
          <a:stretch/>
        </p:blipFill>
        <p:spPr>
          <a:xfrm rot="5400000">
            <a:off x="4147775" y="147279"/>
            <a:ext cx="4335565" cy="5656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1"/>
          <p:cNvPicPr preferRelativeResize="0"/>
          <p:nvPr/>
        </p:nvPicPr>
        <p:blipFill rotWithShape="1">
          <a:blip r:embed="rId4">
            <a:alphaModFix/>
          </a:blip>
          <a:srcRect b="-333" l="55096" r="0" t="12506"/>
          <a:stretch/>
        </p:blipFill>
        <p:spPr>
          <a:xfrm rot="5400000">
            <a:off x="5800468" y="-1081238"/>
            <a:ext cx="2262292" cy="442477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2530851" y="2620280"/>
            <a:ext cx="5045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95" name="Google Shape;9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664" y="1047036"/>
            <a:ext cx="2501451" cy="265586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1"/>
          <p:cNvSpPr txBox="1"/>
          <p:nvPr>
            <p:ph idx="2" type="body"/>
          </p:nvPr>
        </p:nvSpPr>
        <p:spPr>
          <a:xfrm>
            <a:off x="2530850" y="1865458"/>
            <a:ext cx="12909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lt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Section header 4"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2"/>
          <p:cNvPicPr preferRelativeResize="0"/>
          <p:nvPr/>
        </p:nvPicPr>
        <p:blipFill rotWithShape="1">
          <a:blip r:embed="rId2">
            <a:alphaModFix/>
          </a:blip>
          <a:srcRect b="8506" l="21377" r="0" t="8257"/>
          <a:stretch/>
        </p:blipFill>
        <p:spPr>
          <a:xfrm>
            <a:off x="0" y="-1"/>
            <a:ext cx="485871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2"/>
          <p:cNvPicPr preferRelativeResize="0"/>
          <p:nvPr/>
        </p:nvPicPr>
        <p:blipFill rotWithShape="1">
          <a:blip r:embed="rId3">
            <a:alphaModFix/>
          </a:blip>
          <a:srcRect b="-340" l="-402" r="29870" t="8310"/>
          <a:stretch/>
        </p:blipFill>
        <p:spPr>
          <a:xfrm rot="5400000">
            <a:off x="4147775" y="147279"/>
            <a:ext cx="4335565" cy="5656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2"/>
          <p:cNvPicPr preferRelativeResize="0"/>
          <p:nvPr/>
        </p:nvPicPr>
        <p:blipFill rotWithShape="1">
          <a:blip r:embed="rId4">
            <a:alphaModFix/>
          </a:blip>
          <a:srcRect b="-333" l="55096" r="0" t="12506"/>
          <a:stretch/>
        </p:blipFill>
        <p:spPr>
          <a:xfrm rot="5400000">
            <a:off x="5800468" y="-1081238"/>
            <a:ext cx="2262292" cy="442477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2"/>
          <p:cNvSpPr txBox="1"/>
          <p:nvPr>
            <p:ph idx="1" type="body"/>
          </p:nvPr>
        </p:nvSpPr>
        <p:spPr>
          <a:xfrm>
            <a:off x="2530851" y="2620280"/>
            <a:ext cx="5045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02" name="Google Shape;10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664" y="1047036"/>
            <a:ext cx="2501451" cy="265586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2"/>
          <p:cNvSpPr txBox="1"/>
          <p:nvPr>
            <p:ph idx="2" type="body"/>
          </p:nvPr>
        </p:nvSpPr>
        <p:spPr>
          <a:xfrm>
            <a:off x="2530850" y="1865458"/>
            <a:ext cx="12909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lt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no image">
  <p:cSld name="Cover no image">
    <p:bg>
      <p:bgPr>
        <a:solidFill>
          <a:schemeClr val="accen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3"/>
          <p:cNvPicPr preferRelativeResize="0"/>
          <p:nvPr/>
        </p:nvPicPr>
        <p:blipFill rotWithShape="1">
          <a:blip r:embed="rId3">
            <a:alphaModFix/>
          </a:blip>
          <a:srcRect b="42290" l="19517" r="0" t="8258"/>
          <a:stretch/>
        </p:blipFill>
        <p:spPr>
          <a:xfrm>
            <a:off x="0" y="0"/>
            <a:ext cx="8372024" cy="5143501"/>
          </a:xfrm>
          <a:prstGeom prst="rect">
            <a:avLst/>
          </a:prstGeom>
          <a:noFill/>
          <a:ln>
            <a:noFill/>
          </a:ln>
          <a:effectLst>
            <a:outerShdw blurRad="411778" sx="102000" rotWithShape="0" algn="ctr" sy="102000">
              <a:srgbClr val="000000">
                <a:alpha val="40000"/>
              </a:srgbClr>
            </a:outerShdw>
          </a:effectLst>
        </p:spPr>
      </p:pic>
      <p:sp>
        <p:nvSpPr>
          <p:cNvPr id="107" name="Google Shape;107;p23"/>
          <p:cNvSpPr txBox="1"/>
          <p:nvPr>
            <p:ph idx="1" type="body"/>
          </p:nvPr>
        </p:nvSpPr>
        <p:spPr>
          <a:xfrm>
            <a:off x="585997" y="2308601"/>
            <a:ext cx="69927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23"/>
          <p:cNvSpPr txBox="1"/>
          <p:nvPr>
            <p:ph idx="2" type="body"/>
          </p:nvPr>
        </p:nvSpPr>
        <p:spPr>
          <a:xfrm>
            <a:off x="585997" y="3028884"/>
            <a:ext cx="12909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09" name="Google Shape;10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997" y="740829"/>
            <a:ext cx="3014053" cy="119675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3"/>
          <p:cNvSpPr txBox="1"/>
          <p:nvPr>
            <p:ph idx="3" type="body"/>
          </p:nvPr>
        </p:nvSpPr>
        <p:spPr>
          <a:xfrm>
            <a:off x="585997" y="3576929"/>
            <a:ext cx="46098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" name="Google Shape;111;p23"/>
          <p:cNvSpPr/>
          <p:nvPr/>
        </p:nvSpPr>
        <p:spPr>
          <a:xfrm>
            <a:off x="0" y="4402671"/>
            <a:ext cx="9144000" cy="74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ver with image">
  <p:cSld name="1_Cover with image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/>
          <p:nvPr>
            <p:ph idx="2" type="pic"/>
          </p:nvPr>
        </p:nvSpPr>
        <p:spPr>
          <a:xfrm>
            <a:off x="61" y="0"/>
            <a:ext cx="3704100" cy="440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4"/>
          <p:cNvSpPr/>
          <p:nvPr>
            <p:ph idx="3" type="pic"/>
          </p:nvPr>
        </p:nvSpPr>
        <p:spPr>
          <a:xfrm>
            <a:off x="5439966" y="0"/>
            <a:ext cx="3704100" cy="4403100"/>
          </a:xfrm>
          <a:prstGeom prst="rect">
            <a:avLst/>
          </a:prstGeom>
          <a:noFill/>
          <a:ln>
            <a:noFill/>
          </a:ln>
        </p:spPr>
      </p:sp>
      <p:pic>
        <p:nvPicPr>
          <p:cNvPr id="115" name="Google Shape;115;p24"/>
          <p:cNvPicPr preferRelativeResize="0"/>
          <p:nvPr/>
        </p:nvPicPr>
        <p:blipFill rotWithShape="1">
          <a:blip r:embed="rId2">
            <a:alphaModFix/>
          </a:blip>
          <a:srcRect b="42290" l="19517" r="0" t="8258"/>
          <a:stretch/>
        </p:blipFill>
        <p:spPr>
          <a:xfrm>
            <a:off x="0" y="0"/>
            <a:ext cx="8372024" cy="5143501"/>
          </a:xfrm>
          <a:prstGeom prst="rect">
            <a:avLst/>
          </a:prstGeom>
          <a:noFill/>
          <a:ln>
            <a:noFill/>
          </a:ln>
          <a:effectLst>
            <a:outerShdw blurRad="411778" sx="102000" rotWithShape="0" algn="ctr" sy="102000">
              <a:srgbClr val="000000">
                <a:alpha val="40000"/>
              </a:srgbClr>
            </a:outerShdw>
          </a:effectLst>
        </p:spPr>
      </p:pic>
      <p:sp>
        <p:nvSpPr>
          <p:cNvPr id="116" name="Google Shape;116;p24"/>
          <p:cNvSpPr txBox="1"/>
          <p:nvPr>
            <p:ph idx="1" type="body"/>
          </p:nvPr>
        </p:nvSpPr>
        <p:spPr>
          <a:xfrm>
            <a:off x="585997" y="2308601"/>
            <a:ext cx="69927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24"/>
          <p:cNvSpPr txBox="1"/>
          <p:nvPr>
            <p:ph idx="4" type="body"/>
          </p:nvPr>
        </p:nvSpPr>
        <p:spPr>
          <a:xfrm>
            <a:off x="585997" y="3028884"/>
            <a:ext cx="12909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18" name="Google Shape;11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997" y="740829"/>
            <a:ext cx="3014053" cy="119675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4"/>
          <p:cNvSpPr txBox="1"/>
          <p:nvPr>
            <p:ph idx="5" type="body"/>
          </p:nvPr>
        </p:nvSpPr>
        <p:spPr>
          <a:xfrm>
            <a:off x="585997" y="3576929"/>
            <a:ext cx="46098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0" name="Google Shape;120;p24"/>
          <p:cNvSpPr/>
          <p:nvPr/>
        </p:nvSpPr>
        <p:spPr>
          <a:xfrm>
            <a:off x="0" y="4402671"/>
            <a:ext cx="9144000" cy="74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 header 3">
    <p:bg>
      <p:bgPr>
        <a:solidFill>
          <a:schemeClr val="accent4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5"/>
          <p:cNvPicPr preferRelativeResize="0"/>
          <p:nvPr/>
        </p:nvPicPr>
        <p:blipFill rotWithShape="1">
          <a:blip r:embed="rId2">
            <a:alphaModFix/>
          </a:blip>
          <a:srcRect b="8506" l="21377" r="0" t="8257"/>
          <a:stretch/>
        </p:blipFill>
        <p:spPr>
          <a:xfrm>
            <a:off x="0" y="-1"/>
            <a:ext cx="485871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5"/>
          <p:cNvPicPr preferRelativeResize="0"/>
          <p:nvPr/>
        </p:nvPicPr>
        <p:blipFill rotWithShape="1">
          <a:blip r:embed="rId3">
            <a:alphaModFix/>
          </a:blip>
          <a:srcRect b="-340" l="-402" r="29870" t="8310"/>
          <a:stretch/>
        </p:blipFill>
        <p:spPr>
          <a:xfrm rot="5400000">
            <a:off x="4147775" y="147279"/>
            <a:ext cx="4335565" cy="5656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5"/>
          <p:cNvPicPr preferRelativeResize="0"/>
          <p:nvPr/>
        </p:nvPicPr>
        <p:blipFill rotWithShape="1">
          <a:blip r:embed="rId4">
            <a:alphaModFix/>
          </a:blip>
          <a:srcRect b="-333" l="55096" r="0" t="12506"/>
          <a:stretch/>
        </p:blipFill>
        <p:spPr>
          <a:xfrm rot="5400000">
            <a:off x="5800468" y="-1081238"/>
            <a:ext cx="2262292" cy="442477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5"/>
          <p:cNvSpPr txBox="1"/>
          <p:nvPr>
            <p:ph idx="1" type="body"/>
          </p:nvPr>
        </p:nvSpPr>
        <p:spPr>
          <a:xfrm>
            <a:off x="2530851" y="2620280"/>
            <a:ext cx="5045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26" name="Google Shape;12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664" y="1047036"/>
            <a:ext cx="2501451" cy="265586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5"/>
          <p:cNvSpPr txBox="1"/>
          <p:nvPr>
            <p:ph idx="2" type="body"/>
          </p:nvPr>
        </p:nvSpPr>
        <p:spPr>
          <a:xfrm>
            <a:off x="2530850" y="1865458"/>
            <a:ext cx="12909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lt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text box">
  <p:cSld name="Single text box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/>
          <p:nvPr>
            <p:ph type="ctrTitle"/>
          </p:nvPr>
        </p:nvSpPr>
        <p:spPr>
          <a:xfrm>
            <a:off x="379560" y="373588"/>
            <a:ext cx="8385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Delicious Handrawn"/>
              <a:buNone/>
              <a:defRPr b="0" i="0" sz="4500" u="none" cap="none" strike="noStrike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26"/>
          <p:cNvSpPr txBox="1"/>
          <p:nvPr>
            <p:ph idx="1" type="subTitle"/>
          </p:nvPr>
        </p:nvSpPr>
        <p:spPr>
          <a:xfrm>
            <a:off x="379560" y="1066085"/>
            <a:ext cx="838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26"/>
          <p:cNvSpPr txBox="1"/>
          <p:nvPr>
            <p:ph idx="12" type="sldNum"/>
          </p:nvPr>
        </p:nvSpPr>
        <p:spPr>
          <a:xfrm>
            <a:off x="8691769" y="4892041"/>
            <a:ext cx="45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2" name="Google Shape;132;p26"/>
          <p:cNvCxnSpPr/>
          <p:nvPr/>
        </p:nvCxnSpPr>
        <p:spPr>
          <a:xfrm>
            <a:off x="0" y="476991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33" name="Google Shape;133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3190" y="4859506"/>
            <a:ext cx="238578" cy="2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6"/>
          <p:cNvSpPr txBox="1"/>
          <p:nvPr>
            <p:ph idx="2" type="body"/>
          </p:nvPr>
        </p:nvSpPr>
        <p:spPr>
          <a:xfrm>
            <a:off x="379853" y="1663303"/>
            <a:ext cx="8384700" cy="26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uble text box slide">
  <p:cSld name="Double text box slide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ctrTitle"/>
          </p:nvPr>
        </p:nvSpPr>
        <p:spPr>
          <a:xfrm>
            <a:off x="379560" y="373588"/>
            <a:ext cx="8385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Delicious Handrawn"/>
              <a:buNone/>
              <a:defRPr b="0" i="0" sz="4500" u="none" cap="none" strike="noStrike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27"/>
          <p:cNvSpPr txBox="1"/>
          <p:nvPr>
            <p:ph idx="1" type="subTitle"/>
          </p:nvPr>
        </p:nvSpPr>
        <p:spPr>
          <a:xfrm>
            <a:off x="379560" y="1066085"/>
            <a:ext cx="838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" name="Google Shape;138;p27"/>
          <p:cNvSpPr txBox="1"/>
          <p:nvPr>
            <p:ph idx="12" type="sldNum"/>
          </p:nvPr>
        </p:nvSpPr>
        <p:spPr>
          <a:xfrm>
            <a:off x="8691769" y="4892041"/>
            <a:ext cx="45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9" name="Google Shape;139;p27"/>
          <p:cNvCxnSpPr/>
          <p:nvPr/>
        </p:nvCxnSpPr>
        <p:spPr>
          <a:xfrm>
            <a:off x="0" y="476991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0" name="Google Shape;140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3190" y="4859506"/>
            <a:ext cx="238578" cy="2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 txBox="1"/>
          <p:nvPr>
            <p:ph idx="2" type="body"/>
          </p:nvPr>
        </p:nvSpPr>
        <p:spPr>
          <a:xfrm>
            <a:off x="379853" y="1663303"/>
            <a:ext cx="3955800" cy="26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27"/>
          <p:cNvSpPr txBox="1"/>
          <p:nvPr>
            <p:ph idx="3" type="body"/>
          </p:nvPr>
        </p:nvSpPr>
        <p:spPr>
          <a:xfrm>
            <a:off x="4808494" y="1663303"/>
            <a:ext cx="3955800" cy="26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text box and image">
  <p:cSld name="Left text box and image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ctrTitle"/>
          </p:nvPr>
        </p:nvSpPr>
        <p:spPr>
          <a:xfrm>
            <a:off x="379560" y="373588"/>
            <a:ext cx="3851700" cy="19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Delicious Handrawn"/>
              <a:buNone/>
              <a:defRPr b="0" i="0" sz="4500" u="none" cap="none" strike="noStrike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" name="Google Shape;145;p28"/>
          <p:cNvSpPr txBox="1"/>
          <p:nvPr>
            <p:ph idx="1" type="subTitle"/>
          </p:nvPr>
        </p:nvSpPr>
        <p:spPr>
          <a:xfrm>
            <a:off x="379560" y="2454773"/>
            <a:ext cx="3851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" name="Google Shape;146;p28"/>
          <p:cNvSpPr txBox="1"/>
          <p:nvPr>
            <p:ph idx="12" type="sldNum"/>
          </p:nvPr>
        </p:nvSpPr>
        <p:spPr>
          <a:xfrm>
            <a:off x="8691769" y="4892041"/>
            <a:ext cx="45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7" name="Google Shape;147;p28"/>
          <p:cNvCxnSpPr/>
          <p:nvPr/>
        </p:nvCxnSpPr>
        <p:spPr>
          <a:xfrm>
            <a:off x="0" y="476991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8" name="Google Shape;148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3190" y="4859506"/>
            <a:ext cx="238578" cy="2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8"/>
          <p:cNvSpPr txBox="1"/>
          <p:nvPr>
            <p:ph idx="2" type="body"/>
          </p:nvPr>
        </p:nvSpPr>
        <p:spPr>
          <a:xfrm>
            <a:off x="379560" y="3184902"/>
            <a:ext cx="38517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" name="Google Shape;150;p28"/>
          <p:cNvSpPr/>
          <p:nvPr>
            <p:ph idx="3" type="pic"/>
          </p:nvPr>
        </p:nvSpPr>
        <p:spPr>
          <a:xfrm>
            <a:off x="4572000" y="373589"/>
            <a:ext cx="4192500" cy="418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numbered columns">
  <p:cSld name="3 numbered columns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>
            <p:ph type="ctrTitle"/>
          </p:nvPr>
        </p:nvSpPr>
        <p:spPr>
          <a:xfrm>
            <a:off x="379560" y="373588"/>
            <a:ext cx="8385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Delicious Handrawn"/>
              <a:buNone/>
              <a:defRPr b="0" i="0" sz="4500" u="none" cap="none" strike="noStrike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3" name="Google Shape;153;p29"/>
          <p:cNvSpPr txBox="1"/>
          <p:nvPr>
            <p:ph idx="1" type="subTitle"/>
          </p:nvPr>
        </p:nvSpPr>
        <p:spPr>
          <a:xfrm>
            <a:off x="379560" y="1066085"/>
            <a:ext cx="838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4" name="Google Shape;154;p29"/>
          <p:cNvSpPr txBox="1"/>
          <p:nvPr>
            <p:ph idx="12" type="sldNum"/>
          </p:nvPr>
        </p:nvSpPr>
        <p:spPr>
          <a:xfrm>
            <a:off x="8691769" y="4892041"/>
            <a:ext cx="45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5" name="Google Shape;155;p29"/>
          <p:cNvCxnSpPr/>
          <p:nvPr/>
        </p:nvCxnSpPr>
        <p:spPr>
          <a:xfrm>
            <a:off x="0" y="476991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6" name="Google Shape;15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3190" y="4859506"/>
            <a:ext cx="238578" cy="2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9"/>
          <p:cNvSpPr txBox="1"/>
          <p:nvPr>
            <p:ph idx="2" type="body"/>
          </p:nvPr>
        </p:nvSpPr>
        <p:spPr>
          <a:xfrm>
            <a:off x="379852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" name="Google Shape;158;p29"/>
          <p:cNvSpPr txBox="1"/>
          <p:nvPr>
            <p:ph idx="3" type="body"/>
          </p:nvPr>
        </p:nvSpPr>
        <p:spPr>
          <a:xfrm>
            <a:off x="379852" y="2043463"/>
            <a:ext cx="2258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p29"/>
          <p:cNvSpPr txBox="1"/>
          <p:nvPr>
            <p:ph idx="4" type="body"/>
          </p:nvPr>
        </p:nvSpPr>
        <p:spPr>
          <a:xfrm>
            <a:off x="379852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" name="Google Shape;160;p29"/>
          <p:cNvSpPr txBox="1"/>
          <p:nvPr>
            <p:ph idx="5" type="body"/>
          </p:nvPr>
        </p:nvSpPr>
        <p:spPr>
          <a:xfrm>
            <a:off x="3491283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29"/>
          <p:cNvSpPr txBox="1"/>
          <p:nvPr>
            <p:ph idx="6" type="body"/>
          </p:nvPr>
        </p:nvSpPr>
        <p:spPr>
          <a:xfrm>
            <a:off x="3491283" y="2043463"/>
            <a:ext cx="2258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29"/>
          <p:cNvSpPr txBox="1"/>
          <p:nvPr>
            <p:ph idx="7" type="body"/>
          </p:nvPr>
        </p:nvSpPr>
        <p:spPr>
          <a:xfrm>
            <a:off x="3491283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" name="Google Shape;163;p29"/>
          <p:cNvSpPr txBox="1"/>
          <p:nvPr>
            <p:ph idx="8" type="body"/>
          </p:nvPr>
        </p:nvSpPr>
        <p:spPr>
          <a:xfrm>
            <a:off x="6517182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29"/>
          <p:cNvSpPr txBox="1"/>
          <p:nvPr>
            <p:ph idx="9" type="body"/>
          </p:nvPr>
        </p:nvSpPr>
        <p:spPr>
          <a:xfrm>
            <a:off x="6517182" y="2043463"/>
            <a:ext cx="2258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accent3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" name="Google Shape;165;p29"/>
          <p:cNvSpPr txBox="1"/>
          <p:nvPr>
            <p:ph idx="13" type="body"/>
          </p:nvPr>
        </p:nvSpPr>
        <p:spPr>
          <a:xfrm>
            <a:off x="6517182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3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numbered columns">
  <p:cSld name="4 numbered columns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ctrTitle"/>
          </p:nvPr>
        </p:nvSpPr>
        <p:spPr>
          <a:xfrm>
            <a:off x="379560" y="373588"/>
            <a:ext cx="8385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Delicious Handrawn"/>
              <a:buNone/>
              <a:defRPr b="0" i="0" sz="4500" u="none" cap="none" strike="noStrike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30"/>
          <p:cNvSpPr txBox="1"/>
          <p:nvPr>
            <p:ph idx="1" type="subTitle"/>
          </p:nvPr>
        </p:nvSpPr>
        <p:spPr>
          <a:xfrm>
            <a:off x="379560" y="1066085"/>
            <a:ext cx="838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30"/>
          <p:cNvSpPr txBox="1"/>
          <p:nvPr>
            <p:ph idx="12" type="sldNum"/>
          </p:nvPr>
        </p:nvSpPr>
        <p:spPr>
          <a:xfrm>
            <a:off x="8691769" y="4892041"/>
            <a:ext cx="45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0" name="Google Shape;170;p30"/>
          <p:cNvCxnSpPr/>
          <p:nvPr/>
        </p:nvCxnSpPr>
        <p:spPr>
          <a:xfrm>
            <a:off x="0" y="476991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1" name="Google Shape;171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3190" y="4859506"/>
            <a:ext cx="238578" cy="2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0"/>
          <p:cNvSpPr txBox="1"/>
          <p:nvPr>
            <p:ph idx="2" type="body"/>
          </p:nvPr>
        </p:nvSpPr>
        <p:spPr>
          <a:xfrm>
            <a:off x="379853" y="2906768"/>
            <a:ext cx="19359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3" name="Google Shape;173;p30"/>
          <p:cNvSpPr txBox="1"/>
          <p:nvPr>
            <p:ph idx="3" type="body"/>
          </p:nvPr>
        </p:nvSpPr>
        <p:spPr>
          <a:xfrm>
            <a:off x="379853" y="2043463"/>
            <a:ext cx="193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30"/>
          <p:cNvSpPr txBox="1"/>
          <p:nvPr>
            <p:ph idx="4" type="body"/>
          </p:nvPr>
        </p:nvSpPr>
        <p:spPr>
          <a:xfrm>
            <a:off x="379853" y="2516342"/>
            <a:ext cx="193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30"/>
          <p:cNvSpPr txBox="1"/>
          <p:nvPr>
            <p:ph idx="5" type="body"/>
          </p:nvPr>
        </p:nvSpPr>
        <p:spPr>
          <a:xfrm>
            <a:off x="2522204" y="2906768"/>
            <a:ext cx="19359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6" name="Google Shape;176;p30"/>
          <p:cNvSpPr txBox="1"/>
          <p:nvPr>
            <p:ph idx="6" type="body"/>
          </p:nvPr>
        </p:nvSpPr>
        <p:spPr>
          <a:xfrm>
            <a:off x="2522204" y="2043463"/>
            <a:ext cx="193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7" name="Google Shape;177;p30"/>
          <p:cNvSpPr txBox="1"/>
          <p:nvPr>
            <p:ph idx="7" type="body"/>
          </p:nvPr>
        </p:nvSpPr>
        <p:spPr>
          <a:xfrm>
            <a:off x="2522204" y="2516342"/>
            <a:ext cx="193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8" name="Google Shape;178;p30"/>
          <p:cNvSpPr txBox="1"/>
          <p:nvPr>
            <p:ph idx="8" type="body"/>
          </p:nvPr>
        </p:nvSpPr>
        <p:spPr>
          <a:xfrm>
            <a:off x="4685789" y="2906768"/>
            <a:ext cx="19359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9" name="Google Shape;179;p30"/>
          <p:cNvSpPr txBox="1"/>
          <p:nvPr>
            <p:ph idx="9" type="body"/>
          </p:nvPr>
        </p:nvSpPr>
        <p:spPr>
          <a:xfrm>
            <a:off x="4685789" y="2043463"/>
            <a:ext cx="193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accent3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30"/>
          <p:cNvSpPr txBox="1"/>
          <p:nvPr>
            <p:ph idx="13" type="body"/>
          </p:nvPr>
        </p:nvSpPr>
        <p:spPr>
          <a:xfrm>
            <a:off x="4685789" y="2516342"/>
            <a:ext cx="193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3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1" name="Google Shape;181;p30"/>
          <p:cNvSpPr txBox="1"/>
          <p:nvPr>
            <p:ph idx="14" type="body"/>
          </p:nvPr>
        </p:nvSpPr>
        <p:spPr>
          <a:xfrm>
            <a:off x="6838193" y="2906768"/>
            <a:ext cx="19359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2" name="Google Shape;182;p30"/>
          <p:cNvSpPr txBox="1"/>
          <p:nvPr>
            <p:ph idx="15" type="body"/>
          </p:nvPr>
        </p:nvSpPr>
        <p:spPr>
          <a:xfrm>
            <a:off x="6838193" y="2043463"/>
            <a:ext cx="193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3" name="Google Shape;183;p30"/>
          <p:cNvSpPr txBox="1"/>
          <p:nvPr>
            <p:ph idx="16" type="body"/>
          </p:nvPr>
        </p:nvSpPr>
        <p:spPr>
          <a:xfrm>
            <a:off x="6838193" y="2516342"/>
            <a:ext cx="193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con columns">
  <p:cSld name="3 icon column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ctrTitle"/>
          </p:nvPr>
        </p:nvSpPr>
        <p:spPr>
          <a:xfrm>
            <a:off x="379560" y="373588"/>
            <a:ext cx="8385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Delicious Handrawn"/>
              <a:buNone/>
              <a:defRPr b="0" i="0" sz="4500" u="none" cap="none" strike="noStrike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31"/>
          <p:cNvSpPr txBox="1"/>
          <p:nvPr>
            <p:ph idx="1" type="subTitle"/>
          </p:nvPr>
        </p:nvSpPr>
        <p:spPr>
          <a:xfrm>
            <a:off x="379560" y="1066085"/>
            <a:ext cx="838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7" name="Google Shape;187;p31"/>
          <p:cNvSpPr txBox="1"/>
          <p:nvPr>
            <p:ph idx="12" type="sldNum"/>
          </p:nvPr>
        </p:nvSpPr>
        <p:spPr>
          <a:xfrm>
            <a:off x="8691769" y="4892041"/>
            <a:ext cx="45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8" name="Google Shape;188;p31"/>
          <p:cNvCxnSpPr/>
          <p:nvPr/>
        </p:nvCxnSpPr>
        <p:spPr>
          <a:xfrm>
            <a:off x="0" y="476991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9" name="Google Shape;18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3190" y="4859506"/>
            <a:ext cx="238578" cy="2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1"/>
          <p:cNvSpPr txBox="1"/>
          <p:nvPr>
            <p:ph idx="2" type="body"/>
          </p:nvPr>
        </p:nvSpPr>
        <p:spPr>
          <a:xfrm>
            <a:off x="379852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1" name="Google Shape;191;p31"/>
          <p:cNvSpPr txBox="1"/>
          <p:nvPr>
            <p:ph idx="3" type="body"/>
          </p:nvPr>
        </p:nvSpPr>
        <p:spPr>
          <a:xfrm>
            <a:off x="379852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2" name="Google Shape;192;p31"/>
          <p:cNvSpPr txBox="1"/>
          <p:nvPr>
            <p:ph idx="4" type="body"/>
          </p:nvPr>
        </p:nvSpPr>
        <p:spPr>
          <a:xfrm>
            <a:off x="3491283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3" name="Google Shape;193;p31"/>
          <p:cNvSpPr txBox="1"/>
          <p:nvPr>
            <p:ph idx="5" type="body"/>
          </p:nvPr>
        </p:nvSpPr>
        <p:spPr>
          <a:xfrm>
            <a:off x="3491283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4" name="Google Shape;194;p31"/>
          <p:cNvSpPr txBox="1"/>
          <p:nvPr>
            <p:ph idx="6" type="body"/>
          </p:nvPr>
        </p:nvSpPr>
        <p:spPr>
          <a:xfrm>
            <a:off x="6517182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5" name="Google Shape;195;p31"/>
          <p:cNvSpPr txBox="1"/>
          <p:nvPr>
            <p:ph idx="7" type="body"/>
          </p:nvPr>
        </p:nvSpPr>
        <p:spPr>
          <a:xfrm>
            <a:off x="6517182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3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96" name="Google Shape;19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560" y="1764197"/>
            <a:ext cx="662548" cy="66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3641" y="1764197"/>
            <a:ext cx="662548" cy="66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3459851" y="1764200"/>
            <a:ext cx="662548" cy="662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Icon columns">
  <p:cSld name="4 Icon columns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>
            <p:ph type="ctrTitle"/>
          </p:nvPr>
        </p:nvSpPr>
        <p:spPr>
          <a:xfrm>
            <a:off x="379560" y="373588"/>
            <a:ext cx="8385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Delicious Handrawn"/>
              <a:buNone/>
              <a:defRPr b="0" i="0" sz="4500" u="none" cap="none" strike="noStrike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1" name="Google Shape;201;p32"/>
          <p:cNvSpPr txBox="1"/>
          <p:nvPr>
            <p:ph idx="1" type="subTitle"/>
          </p:nvPr>
        </p:nvSpPr>
        <p:spPr>
          <a:xfrm>
            <a:off x="379560" y="1066085"/>
            <a:ext cx="838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2" name="Google Shape;202;p32"/>
          <p:cNvSpPr txBox="1"/>
          <p:nvPr>
            <p:ph idx="12" type="sldNum"/>
          </p:nvPr>
        </p:nvSpPr>
        <p:spPr>
          <a:xfrm>
            <a:off x="8691769" y="4892041"/>
            <a:ext cx="45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03" name="Google Shape;203;p32"/>
          <p:cNvCxnSpPr/>
          <p:nvPr/>
        </p:nvCxnSpPr>
        <p:spPr>
          <a:xfrm>
            <a:off x="0" y="476991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04" name="Google Shape;204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3190" y="4859506"/>
            <a:ext cx="238578" cy="2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2"/>
          <p:cNvSpPr txBox="1"/>
          <p:nvPr>
            <p:ph idx="2" type="body"/>
          </p:nvPr>
        </p:nvSpPr>
        <p:spPr>
          <a:xfrm>
            <a:off x="379853" y="2906768"/>
            <a:ext cx="19359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6" name="Google Shape;206;p32"/>
          <p:cNvSpPr txBox="1"/>
          <p:nvPr>
            <p:ph idx="3" type="body"/>
          </p:nvPr>
        </p:nvSpPr>
        <p:spPr>
          <a:xfrm>
            <a:off x="379853" y="2516342"/>
            <a:ext cx="193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7" name="Google Shape;207;p32"/>
          <p:cNvSpPr txBox="1"/>
          <p:nvPr>
            <p:ph idx="4" type="body"/>
          </p:nvPr>
        </p:nvSpPr>
        <p:spPr>
          <a:xfrm>
            <a:off x="2522204" y="2906768"/>
            <a:ext cx="19359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8" name="Google Shape;208;p32"/>
          <p:cNvSpPr txBox="1"/>
          <p:nvPr>
            <p:ph idx="5" type="body"/>
          </p:nvPr>
        </p:nvSpPr>
        <p:spPr>
          <a:xfrm>
            <a:off x="2522204" y="2516342"/>
            <a:ext cx="193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9" name="Google Shape;209;p32"/>
          <p:cNvSpPr txBox="1"/>
          <p:nvPr>
            <p:ph idx="6" type="body"/>
          </p:nvPr>
        </p:nvSpPr>
        <p:spPr>
          <a:xfrm>
            <a:off x="4685789" y="2906768"/>
            <a:ext cx="19359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0" name="Google Shape;210;p32"/>
          <p:cNvSpPr txBox="1"/>
          <p:nvPr>
            <p:ph idx="7" type="body"/>
          </p:nvPr>
        </p:nvSpPr>
        <p:spPr>
          <a:xfrm>
            <a:off x="4685789" y="2516342"/>
            <a:ext cx="193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3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1" name="Google Shape;211;p32"/>
          <p:cNvSpPr txBox="1"/>
          <p:nvPr>
            <p:ph idx="8" type="body"/>
          </p:nvPr>
        </p:nvSpPr>
        <p:spPr>
          <a:xfrm>
            <a:off x="6838193" y="2906768"/>
            <a:ext cx="19359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2" name="Google Shape;212;p32"/>
          <p:cNvSpPr txBox="1"/>
          <p:nvPr>
            <p:ph idx="9" type="body"/>
          </p:nvPr>
        </p:nvSpPr>
        <p:spPr>
          <a:xfrm>
            <a:off x="6838193" y="2516342"/>
            <a:ext cx="193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13" name="Google Shape;21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560" y="1764197"/>
            <a:ext cx="662548" cy="66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4849" y="1764197"/>
            <a:ext cx="662548" cy="66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2522207" y="1764200"/>
            <a:ext cx="662548" cy="66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0800000">
            <a:off x="6811364" y="1764200"/>
            <a:ext cx="662548" cy="662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 header 3">
    <p:bg>
      <p:bgPr>
        <a:solidFill>
          <a:schemeClr val="accent4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7"/>
          <p:cNvPicPr preferRelativeResize="0"/>
          <p:nvPr/>
        </p:nvPicPr>
        <p:blipFill rotWithShape="1">
          <a:blip r:embed="rId2">
            <a:alphaModFix/>
          </a:blip>
          <a:srcRect b="8506" l="21377" r="0" t="8257"/>
          <a:stretch/>
        </p:blipFill>
        <p:spPr>
          <a:xfrm>
            <a:off x="0" y="-1"/>
            <a:ext cx="485871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7"/>
          <p:cNvPicPr preferRelativeResize="0"/>
          <p:nvPr/>
        </p:nvPicPr>
        <p:blipFill rotWithShape="1">
          <a:blip r:embed="rId3">
            <a:alphaModFix/>
          </a:blip>
          <a:srcRect b="-340" l="-402" r="29870" t="8310"/>
          <a:stretch/>
        </p:blipFill>
        <p:spPr>
          <a:xfrm rot="5400000">
            <a:off x="4147775" y="147279"/>
            <a:ext cx="4335565" cy="5656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7"/>
          <p:cNvPicPr preferRelativeResize="0"/>
          <p:nvPr/>
        </p:nvPicPr>
        <p:blipFill rotWithShape="1">
          <a:blip r:embed="rId4">
            <a:alphaModFix/>
          </a:blip>
          <a:srcRect b="-333" l="55096" r="0" t="12506"/>
          <a:stretch/>
        </p:blipFill>
        <p:spPr>
          <a:xfrm rot="5400000">
            <a:off x="5800468" y="-1081238"/>
            <a:ext cx="2262292" cy="4424771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7"/>
          <p:cNvSpPr txBox="1"/>
          <p:nvPr>
            <p:ph idx="1" type="body"/>
          </p:nvPr>
        </p:nvSpPr>
        <p:spPr>
          <a:xfrm>
            <a:off x="2530851" y="2620280"/>
            <a:ext cx="5045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30" name="Google Shape;230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664" y="1047036"/>
            <a:ext cx="2501451" cy="265586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7"/>
          <p:cNvSpPr txBox="1"/>
          <p:nvPr>
            <p:ph idx="2" type="body"/>
          </p:nvPr>
        </p:nvSpPr>
        <p:spPr>
          <a:xfrm>
            <a:off x="2530850" y="1865458"/>
            <a:ext cx="12909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lt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con columns">
  <p:cSld name="3 icon columns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>
            <p:ph type="ctrTitle"/>
          </p:nvPr>
        </p:nvSpPr>
        <p:spPr>
          <a:xfrm>
            <a:off x="379560" y="373588"/>
            <a:ext cx="8385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Delicious Handrawn"/>
              <a:buNone/>
              <a:defRPr b="0" i="0" sz="4500" u="none" cap="none" strike="noStrike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4" name="Google Shape;234;p38"/>
          <p:cNvSpPr txBox="1"/>
          <p:nvPr>
            <p:ph idx="1" type="subTitle"/>
          </p:nvPr>
        </p:nvSpPr>
        <p:spPr>
          <a:xfrm>
            <a:off x="379560" y="1066085"/>
            <a:ext cx="838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5" name="Google Shape;235;p38"/>
          <p:cNvSpPr txBox="1"/>
          <p:nvPr>
            <p:ph idx="12" type="sldNum"/>
          </p:nvPr>
        </p:nvSpPr>
        <p:spPr>
          <a:xfrm>
            <a:off x="8691769" y="4892041"/>
            <a:ext cx="45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36" name="Google Shape;236;p38"/>
          <p:cNvCxnSpPr/>
          <p:nvPr/>
        </p:nvCxnSpPr>
        <p:spPr>
          <a:xfrm>
            <a:off x="0" y="476991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37" name="Google Shape;237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3190" y="4859506"/>
            <a:ext cx="238578" cy="2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8"/>
          <p:cNvSpPr txBox="1"/>
          <p:nvPr>
            <p:ph idx="2" type="body"/>
          </p:nvPr>
        </p:nvSpPr>
        <p:spPr>
          <a:xfrm>
            <a:off x="379852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9" name="Google Shape;239;p38"/>
          <p:cNvSpPr txBox="1"/>
          <p:nvPr>
            <p:ph idx="3" type="body"/>
          </p:nvPr>
        </p:nvSpPr>
        <p:spPr>
          <a:xfrm>
            <a:off x="379852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0" name="Google Shape;240;p38"/>
          <p:cNvSpPr txBox="1"/>
          <p:nvPr>
            <p:ph idx="4" type="body"/>
          </p:nvPr>
        </p:nvSpPr>
        <p:spPr>
          <a:xfrm>
            <a:off x="3491283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1" name="Google Shape;241;p38"/>
          <p:cNvSpPr txBox="1"/>
          <p:nvPr>
            <p:ph idx="5" type="body"/>
          </p:nvPr>
        </p:nvSpPr>
        <p:spPr>
          <a:xfrm>
            <a:off x="3491283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2" name="Google Shape;242;p38"/>
          <p:cNvSpPr txBox="1"/>
          <p:nvPr>
            <p:ph idx="6" type="body"/>
          </p:nvPr>
        </p:nvSpPr>
        <p:spPr>
          <a:xfrm>
            <a:off x="6517182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3" name="Google Shape;243;p38"/>
          <p:cNvSpPr txBox="1"/>
          <p:nvPr>
            <p:ph idx="7" type="body"/>
          </p:nvPr>
        </p:nvSpPr>
        <p:spPr>
          <a:xfrm>
            <a:off x="6517182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3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44" name="Google Shape;24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560" y="1764197"/>
            <a:ext cx="662548" cy="66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3641" y="1764197"/>
            <a:ext cx="662548" cy="66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3459851" y="1764200"/>
            <a:ext cx="662548" cy="662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Quote">
  <p:cSld name="Single Quote">
    <p:bg>
      <p:bgPr>
        <a:solidFill>
          <a:schemeClr val="accen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9"/>
          <p:cNvPicPr preferRelativeResize="0"/>
          <p:nvPr/>
        </p:nvPicPr>
        <p:blipFill rotWithShape="1">
          <a:blip r:embed="rId3">
            <a:alphaModFix/>
          </a:blip>
          <a:srcRect b="0" l="0" r="0" t="35839"/>
          <a:stretch/>
        </p:blipFill>
        <p:spPr>
          <a:xfrm>
            <a:off x="874685" y="0"/>
            <a:ext cx="7394632" cy="474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9"/>
          <p:cNvSpPr txBox="1"/>
          <p:nvPr>
            <p:ph idx="1" type="body"/>
          </p:nvPr>
        </p:nvSpPr>
        <p:spPr>
          <a:xfrm>
            <a:off x="2080649" y="1091336"/>
            <a:ext cx="5045100" cy="17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b="0" i="0" sz="41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39"/>
          <p:cNvSpPr txBox="1"/>
          <p:nvPr>
            <p:ph idx="2" type="body"/>
          </p:nvPr>
        </p:nvSpPr>
        <p:spPr>
          <a:xfrm>
            <a:off x="1538434" y="423331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2" name="Google Shape;252;p39"/>
          <p:cNvSpPr txBox="1"/>
          <p:nvPr>
            <p:ph idx="3" type="body"/>
          </p:nvPr>
        </p:nvSpPr>
        <p:spPr>
          <a:xfrm rot="10800000">
            <a:off x="6187920" y="1201375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3" name="Google Shape;253;p39"/>
          <p:cNvSpPr txBox="1"/>
          <p:nvPr>
            <p:ph idx="4" type="body"/>
          </p:nvPr>
        </p:nvSpPr>
        <p:spPr>
          <a:xfrm>
            <a:off x="2080649" y="3044123"/>
            <a:ext cx="50451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28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theme" Target="../theme/theme5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14"/>
          <p:cNvCxnSpPr/>
          <p:nvPr/>
        </p:nvCxnSpPr>
        <p:spPr>
          <a:xfrm flipH="1">
            <a:off x="0" y="4816973"/>
            <a:ext cx="8077200" cy="11700"/>
          </a:xfrm>
          <a:prstGeom prst="straightConnector1">
            <a:avLst/>
          </a:prstGeom>
          <a:noFill/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4"/>
          <p:cNvSpPr txBox="1"/>
          <p:nvPr/>
        </p:nvSpPr>
        <p:spPr>
          <a:xfrm>
            <a:off x="6280602" y="4861798"/>
            <a:ext cx="2743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0C3F6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0C3F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59;p14"/>
          <p:cNvCxnSpPr/>
          <p:nvPr/>
        </p:nvCxnSpPr>
        <p:spPr>
          <a:xfrm rot="10800000">
            <a:off x="8521800" y="4828880"/>
            <a:ext cx="622200" cy="0"/>
          </a:xfrm>
          <a:prstGeom prst="straightConnector1">
            <a:avLst/>
          </a:prstGeom>
          <a:noFill/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0" name="Google Shape;60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158723" y="4631300"/>
            <a:ext cx="363065" cy="383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9" name="Google Shape;219;p34"/>
          <p:cNvCxnSpPr/>
          <p:nvPr/>
        </p:nvCxnSpPr>
        <p:spPr>
          <a:xfrm flipH="1">
            <a:off x="0" y="4816973"/>
            <a:ext cx="8077200" cy="11700"/>
          </a:xfrm>
          <a:prstGeom prst="straightConnector1">
            <a:avLst/>
          </a:prstGeom>
          <a:noFill/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34"/>
          <p:cNvSpPr txBox="1"/>
          <p:nvPr/>
        </p:nvSpPr>
        <p:spPr>
          <a:xfrm>
            <a:off x="6280602" y="4861798"/>
            <a:ext cx="2743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0C3F6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0C3F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p34"/>
          <p:cNvCxnSpPr/>
          <p:nvPr/>
        </p:nvCxnSpPr>
        <p:spPr>
          <a:xfrm rot="10800000">
            <a:off x="8521800" y="4828880"/>
            <a:ext cx="622200" cy="0"/>
          </a:xfrm>
          <a:prstGeom prst="straightConnector1">
            <a:avLst/>
          </a:prstGeom>
          <a:noFill/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22" name="Google Shape;222;p3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58723" y="4631300"/>
            <a:ext cx="363065" cy="383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2"/>
    <p:sldLayoutId id="2147483679" r:id="rId3"/>
    <p:sldLayoutId id="2147483680" r:id="rId4"/>
    <p:sldLayoutId id="2147483681" r:id="rId5"/>
    <p:sldLayoutId id="214748368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" name="Google Shape;255;p40"/>
          <p:cNvCxnSpPr/>
          <p:nvPr/>
        </p:nvCxnSpPr>
        <p:spPr>
          <a:xfrm flipH="1">
            <a:off x="0" y="4816973"/>
            <a:ext cx="8077200" cy="11700"/>
          </a:xfrm>
          <a:prstGeom prst="straightConnector1">
            <a:avLst/>
          </a:prstGeom>
          <a:noFill/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40"/>
          <p:cNvSpPr txBox="1"/>
          <p:nvPr/>
        </p:nvSpPr>
        <p:spPr>
          <a:xfrm>
            <a:off x="6280602" y="4861798"/>
            <a:ext cx="2743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0C3F6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0C3F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7" name="Google Shape;257;p40"/>
          <p:cNvCxnSpPr/>
          <p:nvPr/>
        </p:nvCxnSpPr>
        <p:spPr>
          <a:xfrm rot="10800000">
            <a:off x="8521800" y="4828880"/>
            <a:ext cx="622200" cy="0"/>
          </a:xfrm>
          <a:prstGeom prst="straightConnector1">
            <a:avLst/>
          </a:prstGeom>
          <a:noFill/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58" name="Google Shape;258;p4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97460" y="4610201"/>
            <a:ext cx="424318" cy="43503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3" r:id="rId2"/>
    <p:sldLayoutId id="2147483684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3.jpg"/><Relationship Id="rId4" Type="http://schemas.openxmlformats.org/officeDocument/2006/relationships/image" Target="../media/image45.png"/><Relationship Id="rId5" Type="http://schemas.openxmlformats.org/officeDocument/2006/relationships/image" Target="../media/image7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4.png"/><Relationship Id="rId4" Type="http://schemas.openxmlformats.org/officeDocument/2006/relationships/image" Target="../media/image37.png"/><Relationship Id="rId5" Type="http://schemas.openxmlformats.org/officeDocument/2006/relationships/image" Target="../media/image3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1.jpg"/><Relationship Id="rId4" Type="http://schemas.openxmlformats.org/officeDocument/2006/relationships/image" Target="../media/image38.jpg"/><Relationship Id="rId5" Type="http://schemas.openxmlformats.org/officeDocument/2006/relationships/image" Target="../media/image138.png"/><Relationship Id="rId6" Type="http://schemas.openxmlformats.org/officeDocument/2006/relationships/image" Target="../media/image6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nurturing-care.org/malaysia-2023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Relationship Id="rId9" Type="http://schemas.openxmlformats.org/officeDocument/2006/relationships/image" Target="../media/image51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35.png"/><Relationship Id="rId8" Type="http://schemas.openxmlformats.org/officeDocument/2006/relationships/image" Target="../media/image4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1.xml"/><Relationship Id="rId4" Type="http://schemas.openxmlformats.org/officeDocument/2006/relationships/image" Target="../media/image64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0.png"/><Relationship Id="rId4" Type="http://schemas.openxmlformats.org/officeDocument/2006/relationships/image" Target="../media/image43.png"/><Relationship Id="rId5" Type="http://schemas.openxmlformats.org/officeDocument/2006/relationships/image" Target="../media/image4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Relationship Id="rId5" Type="http://schemas.openxmlformats.org/officeDocument/2006/relationships/image" Target="../media/image52.jpg"/><Relationship Id="rId6" Type="http://schemas.openxmlformats.org/officeDocument/2006/relationships/image" Target="../media/image1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60.png"/><Relationship Id="rId5" Type="http://schemas.openxmlformats.org/officeDocument/2006/relationships/image" Target="../media/image5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7.png"/><Relationship Id="rId4" Type="http://schemas.openxmlformats.org/officeDocument/2006/relationships/image" Target="../media/image50.png"/><Relationship Id="rId5" Type="http://schemas.openxmlformats.org/officeDocument/2006/relationships/image" Target="../media/image43.png"/><Relationship Id="rId6" Type="http://schemas.openxmlformats.org/officeDocument/2006/relationships/image" Target="../media/image66.png"/><Relationship Id="rId7" Type="http://schemas.openxmlformats.org/officeDocument/2006/relationships/image" Target="../media/image4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7.png"/><Relationship Id="rId4" Type="http://schemas.openxmlformats.org/officeDocument/2006/relationships/image" Target="../media/image50.png"/><Relationship Id="rId5" Type="http://schemas.openxmlformats.org/officeDocument/2006/relationships/image" Target="../media/image43.png"/><Relationship Id="rId6" Type="http://schemas.openxmlformats.org/officeDocument/2006/relationships/image" Target="../media/image66.png"/><Relationship Id="rId7" Type="http://schemas.openxmlformats.org/officeDocument/2006/relationships/image" Target="../media/image4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1.png"/><Relationship Id="rId6" Type="http://schemas.openxmlformats.org/officeDocument/2006/relationships/image" Target="../media/image70.png"/><Relationship Id="rId7" Type="http://schemas.openxmlformats.org/officeDocument/2006/relationships/image" Target="../media/image7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8.png"/><Relationship Id="rId4" Type="http://schemas.openxmlformats.org/officeDocument/2006/relationships/image" Target="../media/image7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8.png"/><Relationship Id="rId4" Type="http://schemas.openxmlformats.org/officeDocument/2006/relationships/image" Target="../media/image7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8.png"/><Relationship Id="rId4" Type="http://schemas.openxmlformats.org/officeDocument/2006/relationships/image" Target="../media/image7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8.png"/><Relationship Id="rId4" Type="http://schemas.openxmlformats.org/officeDocument/2006/relationships/image" Target="../media/image7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8.png"/><Relationship Id="rId4" Type="http://schemas.openxmlformats.org/officeDocument/2006/relationships/image" Target="../media/image7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docs.google.com/document/d/1of2h-9sOEUhLI2X4kjyLeGry_GidzA7mYlxwo6yWBuA/edit#heading=h.4uhrm6x340sr" TargetMode="External"/><Relationship Id="rId4" Type="http://schemas.openxmlformats.org/officeDocument/2006/relationships/hyperlink" Target="https://docs.google.com/document/d/1of2h-9sOEUhLI2X4kjyLeGry_GidzA7mYlxwo6yWBuA/edit#heading=h.2afmg28" TargetMode="External"/><Relationship Id="rId5" Type="http://schemas.openxmlformats.org/officeDocument/2006/relationships/hyperlink" Target="https://docs.google.com/document/d/1of2h-9sOEUhLI2X4kjyLeGry_GidzA7mYlxwo6yWBuA/edit#heading=h.bxndpn5da3e0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8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8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9.png"/><Relationship Id="rId4" Type="http://schemas.openxmlformats.org/officeDocument/2006/relationships/image" Target="../media/image84.jpg"/><Relationship Id="rId5" Type="http://schemas.openxmlformats.org/officeDocument/2006/relationships/image" Target="../media/image74.jpg"/><Relationship Id="rId6" Type="http://schemas.openxmlformats.org/officeDocument/2006/relationships/image" Target="../media/image72.jpg"/><Relationship Id="rId7" Type="http://schemas.openxmlformats.org/officeDocument/2006/relationships/image" Target="../media/image7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9.png"/><Relationship Id="rId4" Type="http://schemas.openxmlformats.org/officeDocument/2006/relationships/image" Target="../media/image77.png"/><Relationship Id="rId5" Type="http://schemas.openxmlformats.org/officeDocument/2006/relationships/image" Target="../media/image79.png"/><Relationship Id="rId6" Type="http://schemas.openxmlformats.org/officeDocument/2006/relationships/image" Target="../media/image78.jpg"/><Relationship Id="rId7" Type="http://schemas.openxmlformats.org/officeDocument/2006/relationships/image" Target="../media/image91.png"/><Relationship Id="rId8" Type="http://schemas.openxmlformats.org/officeDocument/2006/relationships/image" Target="../media/image85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9.png"/><Relationship Id="rId4" Type="http://schemas.openxmlformats.org/officeDocument/2006/relationships/image" Target="../media/image77.png"/><Relationship Id="rId5" Type="http://schemas.openxmlformats.org/officeDocument/2006/relationships/image" Target="../media/image85.jpg"/><Relationship Id="rId6" Type="http://schemas.openxmlformats.org/officeDocument/2006/relationships/image" Target="../media/image93.jpg"/><Relationship Id="rId7" Type="http://schemas.openxmlformats.org/officeDocument/2006/relationships/image" Target="../media/image90.jpg"/><Relationship Id="rId8" Type="http://schemas.openxmlformats.org/officeDocument/2006/relationships/image" Target="../media/image9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9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33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9.png"/><Relationship Id="rId4" Type="http://schemas.openxmlformats.org/officeDocument/2006/relationships/hyperlink" Target="http://drive.google.com/file/d/1P7TuzdbdlOyAThClX12FdEnFVrKakBQg/view" TargetMode="External"/><Relationship Id="rId5" Type="http://schemas.openxmlformats.org/officeDocument/2006/relationships/image" Target="../media/image100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96.png"/><Relationship Id="rId4" Type="http://schemas.openxmlformats.org/officeDocument/2006/relationships/image" Target="../media/image95.png"/><Relationship Id="rId5" Type="http://schemas.openxmlformats.org/officeDocument/2006/relationships/image" Target="../media/image97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9.png"/><Relationship Id="rId4" Type="http://schemas.openxmlformats.org/officeDocument/2006/relationships/hyperlink" Target="http://drive.google.com/file/d/1FQQxC5RjLoeRiL61vXZ6Uc-NAlLDLhwK/view" TargetMode="External"/><Relationship Id="rId5" Type="http://schemas.openxmlformats.org/officeDocument/2006/relationships/image" Target="../media/image98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04.png"/><Relationship Id="rId4" Type="http://schemas.openxmlformats.org/officeDocument/2006/relationships/image" Target="../media/image112.jpg"/><Relationship Id="rId5" Type="http://schemas.openxmlformats.org/officeDocument/2006/relationships/image" Target="../media/image110.jpg"/><Relationship Id="rId6" Type="http://schemas.openxmlformats.org/officeDocument/2006/relationships/image" Target="../media/image115.jpg"/><Relationship Id="rId7" Type="http://schemas.openxmlformats.org/officeDocument/2006/relationships/image" Target="../media/image116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87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3.xml"/><Relationship Id="rId3" Type="http://schemas.openxmlformats.org/officeDocument/2006/relationships/comments" Target="../comments/comment2.xml"/><Relationship Id="rId4" Type="http://schemas.openxmlformats.org/officeDocument/2006/relationships/image" Target="../media/image94.png"/><Relationship Id="rId5" Type="http://schemas.openxmlformats.org/officeDocument/2006/relationships/image" Target="../media/image101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5.xml"/><Relationship Id="rId3" Type="http://schemas.openxmlformats.org/officeDocument/2006/relationships/hyperlink" Target="http://drive.google.com/file/d/1Tw0Kt9zwFe4lECs78M8dBR7Ek9kqyc8s/view" TargetMode="External"/><Relationship Id="rId4" Type="http://schemas.openxmlformats.org/officeDocument/2006/relationships/image" Target="../media/image108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3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03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83.jpg"/><Relationship Id="rId4" Type="http://schemas.openxmlformats.org/officeDocument/2006/relationships/image" Target="../media/image45.png"/><Relationship Id="rId5" Type="http://schemas.openxmlformats.org/officeDocument/2006/relationships/image" Target="../media/image75.jp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4.png"/><Relationship Id="rId4" Type="http://schemas.openxmlformats.org/officeDocument/2006/relationships/image" Target="../media/image37.png"/><Relationship Id="rId5" Type="http://schemas.openxmlformats.org/officeDocument/2006/relationships/image" Target="../media/image33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9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6.xml"/><Relationship Id="rId3" Type="http://schemas.openxmlformats.org/officeDocument/2006/relationships/hyperlink" Target="http://drive.google.com/file/d/13g0z8TuNON2n6H77R4QvBEu35szMQUL4/view" TargetMode="External"/><Relationship Id="rId4" Type="http://schemas.openxmlformats.org/officeDocument/2006/relationships/image" Target="../media/image109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68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68.png"/><Relationship Id="rId4" Type="http://schemas.openxmlformats.org/officeDocument/2006/relationships/hyperlink" Target="http://drive.google.com/file/d/1ThgGJPYuVH7D7w8HwDVsx5VZXOYJDzb6/view" TargetMode="External"/><Relationship Id="rId5" Type="http://schemas.openxmlformats.org/officeDocument/2006/relationships/image" Target="../media/image113.jp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68.png"/><Relationship Id="rId4" Type="http://schemas.openxmlformats.org/officeDocument/2006/relationships/image" Target="../media/image121.png"/><Relationship Id="rId5" Type="http://schemas.openxmlformats.org/officeDocument/2006/relationships/image" Target="../media/image120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68.png"/><Relationship Id="rId4" Type="http://schemas.openxmlformats.org/officeDocument/2006/relationships/hyperlink" Target="http://drive.google.com/file/d/1U-3qh2yMx_g0kQwCxbYzRCeHkPZKyJol/view" TargetMode="External"/><Relationship Id="rId5" Type="http://schemas.openxmlformats.org/officeDocument/2006/relationships/image" Target="../media/image111.jp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.png"/><Relationship Id="rId4" Type="http://schemas.openxmlformats.org/officeDocument/2006/relationships/image" Target="../media/image114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68.png"/><Relationship Id="rId4" Type="http://schemas.openxmlformats.org/officeDocument/2006/relationships/hyperlink" Target="http://drive.google.com/file/d/1TlMSyH7LNeKBtMxeWP7_woIzU89bfMgW/view" TargetMode="External"/><Relationship Id="rId5" Type="http://schemas.openxmlformats.org/officeDocument/2006/relationships/image" Target="../media/image106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14.png"/><Relationship Id="rId4" Type="http://schemas.openxmlformats.org/officeDocument/2006/relationships/image" Target="../media/image117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1.png"/><Relationship Id="rId6" Type="http://schemas.openxmlformats.org/officeDocument/2006/relationships/image" Target="../media/image70.png"/><Relationship Id="rId7" Type="http://schemas.openxmlformats.org/officeDocument/2006/relationships/image" Target="../media/image73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24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24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22.png"/><Relationship Id="rId4" Type="http://schemas.openxmlformats.org/officeDocument/2006/relationships/image" Target="../media/image119.png"/><Relationship Id="rId5" Type="http://schemas.openxmlformats.org/officeDocument/2006/relationships/image" Target="../media/image118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122.png"/><Relationship Id="rId4" Type="http://schemas.openxmlformats.org/officeDocument/2006/relationships/image" Target="../media/image119.png"/><Relationship Id="rId5" Type="http://schemas.openxmlformats.org/officeDocument/2006/relationships/image" Target="../media/image118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22.png"/><Relationship Id="rId4" Type="http://schemas.openxmlformats.org/officeDocument/2006/relationships/image" Target="../media/image119.png"/><Relationship Id="rId5" Type="http://schemas.openxmlformats.org/officeDocument/2006/relationships/image" Target="../media/image118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122.png"/><Relationship Id="rId4" Type="http://schemas.openxmlformats.org/officeDocument/2006/relationships/image" Target="../media/image119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118.png"/><Relationship Id="rId4" Type="http://schemas.openxmlformats.org/officeDocument/2006/relationships/image" Target="../media/image119.png"/><Relationship Id="rId5" Type="http://schemas.openxmlformats.org/officeDocument/2006/relationships/image" Target="../media/image123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118.png"/><Relationship Id="rId4" Type="http://schemas.openxmlformats.org/officeDocument/2006/relationships/image" Target="../media/image119.png"/><Relationship Id="rId5" Type="http://schemas.openxmlformats.org/officeDocument/2006/relationships/image" Target="../media/image123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118.png"/><Relationship Id="rId4" Type="http://schemas.openxmlformats.org/officeDocument/2006/relationships/image" Target="../media/image119.png"/><Relationship Id="rId5" Type="http://schemas.openxmlformats.org/officeDocument/2006/relationships/image" Target="../media/image123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119.png"/><Relationship Id="rId4" Type="http://schemas.openxmlformats.org/officeDocument/2006/relationships/image" Target="../media/image125.png"/><Relationship Id="rId5" Type="http://schemas.openxmlformats.org/officeDocument/2006/relationships/image" Target="../media/image118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5.xml"/><Relationship Id="rId3" Type="http://schemas.openxmlformats.org/officeDocument/2006/relationships/hyperlink" Target="https://docs.google.com/forms/d/e/1FAIpQLScWvUZ35viuhsB6T2fkKXucgD0YYU3foYiwUUVGdCEx73udFw/viewform" TargetMode="Externa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130.jpg"/><Relationship Id="rId4" Type="http://schemas.openxmlformats.org/officeDocument/2006/relationships/image" Target="../media/image129.jpg"/><Relationship Id="rId5" Type="http://schemas.openxmlformats.org/officeDocument/2006/relationships/image" Target="../media/image131.jpg"/><Relationship Id="rId6" Type="http://schemas.openxmlformats.org/officeDocument/2006/relationships/image" Target="../media/image128.jpg"/><Relationship Id="rId7" Type="http://schemas.openxmlformats.org/officeDocument/2006/relationships/image" Target="../media/image127.jp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134.png"/><Relationship Id="rId4" Type="http://schemas.openxmlformats.org/officeDocument/2006/relationships/image" Target="../media/image136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134.pn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135.pn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126.png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5.xml"/><Relationship Id="rId3" Type="http://schemas.openxmlformats.org/officeDocument/2006/relationships/comments" Target="../comments/comment3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137.png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132.png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8.xml"/><Relationship Id="rId3" Type="http://schemas.openxmlformats.org/officeDocument/2006/relationships/comments" Target="../comments/comment4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41.xml"/><Relationship Id="rId3" Type="http://schemas.openxmlformats.org/officeDocument/2006/relationships/comments" Target="../comments/comment5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4.xml"/><Relationship Id="rId3" Type="http://schemas.openxmlformats.org/officeDocument/2006/relationships/image" Target="../media/image83.jpg"/><Relationship Id="rId4" Type="http://schemas.openxmlformats.org/officeDocument/2006/relationships/image" Target="../media/image45.png"/><Relationship Id="rId5" Type="http://schemas.openxmlformats.org/officeDocument/2006/relationships/image" Target="../media/image7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43"/>
          <p:cNvPicPr preferRelativeResize="0"/>
          <p:nvPr/>
        </p:nvPicPr>
        <p:blipFill rotWithShape="1">
          <a:blip r:embed="rId3">
            <a:alphaModFix/>
          </a:blip>
          <a:srcRect b="20117" l="-3802" r="-7050" t="12168"/>
          <a:stretch/>
        </p:blipFill>
        <p:spPr>
          <a:xfrm>
            <a:off x="-355425" y="-9662"/>
            <a:ext cx="10258028" cy="5162826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43"/>
          <p:cNvSpPr txBox="1"/>
          <p:nvPr/>
        </p:nvSpPr>
        <p:spPr>
          <a:xfrm>
            <a:off x="317900" y="3680350"/>
            <a:ext cx="1478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700">
                <a:solidFill>
                  <a:srgbClr val="0B4060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Taller para Facilitadores: </a:t>
            </a:r>
            <a:endParaRPr b="1" sz="1700">
              <a:solidFill>
                <a:srgbClr val="0B406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2400">
                <a:solidFill>
                  <a:srgbClr val="0B4060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DÍA 1</a:t>
            </a:r>
            <a:endParaRPr b="1" i="0" sz="2300" u="none" cap="none" strike="noStrike">
              <a:solidFill>
                <a:srgbClr val="0B406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67" name="Google Shape;26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1675" y="381006"/>
            <a:ext cx="2099637" cy="837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3"/>
          <p:cNvPicPr preferRelativeResize="0"/>
          <p:nvPr/>
        </p:nvPicPr>
        <p:blipFill rotWithShape="1">
          <a:blip r:embed="rId5">
            <a:alphaModFix/>
          </a:blip>
          <a:srcRect b="1702" l="0" r="0" t="95001"/>
          <a:stretch/>
        </p:blipFill>
        <p:spPr>
          <a:xfrm>
            <a:off x="0" y="4970350"/>
            <a:ext cx="9212252" cy="214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69B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4"/>
          <p:cNvSpPr txBox="1"/>
          <p:nvPr/>
        </p:nvSpPr>
        <p:spPr>
          <a:xfrm>
            <a:off x="363550" y="2326650"/>
            <a:ext cx="8358900" cy="14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Módulo 1: </a:t>
            </a:r>
            <a:endParaRPr b="1" sz="5000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Introducción a Crianza con Conciencia +</a:t>
            </a:r>
            <a:endParaRPr b="1" sz="5000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5"/>
          <p:cNvSpPr/>
          <p:nvPr/>
        </p:nvSpPr>
        <p:spPr>
          <a:xfrm rot="-5400000">
            <a:off x="1935147" y="-1733925"/>
            <a:ext cx="480900" cy="43512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5"/>
          <p:cNvSpPr txBox="1"/>
          <p:nvPr/>
        </p:nvSpPr>
        <p:spPr>
          <a:xfrm>
            <a:off x="286222" y="1975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Recordatorios</a:t>
            </a:r>
            <a:endParaRPr i="0" sz="14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0" name="Google Shape;280;p45"/>
          <p:cNvSpPr txBox="1"/>
          <p:nvPr/>
        </p:nvSpPr>
        <p:spPr>
          <a:xfrm>
            <a:off x="624075" y="793675"/>
            <a:ext cx="7465800" cy="1219200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pPr>
            <a:r>
              <a:t>Por favor, cambia tu nombre a - </a:t>
            </a:r>
            <a:endParaRPr sz="1800">
              <a:solidFill>
                <a:schemeClr val="lt1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>
                <a:solidFill>
                  <a:schemeClr val="lt1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pPr>
            <a:r>
              <a:t>Nombre Completo | Organización | Ciudad</a:t>
            </a:r>
            <a:endParaRPr sz="1800">
              <a:solidFill>
                <a:schemeClr val="lt1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</p:txBody>
      </p:sp>
      <p:pic>
        <p:nvPicPr>
          <p:cNvPr id="281" name="Google Shape;28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500" y="917413"/>
            <a:ext cx="971725" cy="9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5"/>
          <p:cNvSpPr txBox="1"/>
          <p:nvPr/>
        </p:nvSpPr>
        <p:spPr>
          <a:xfrm>
            <a:off x="624075" y="2173925"/>
            <a:ext cx="7465800" cy="1219200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28800" marR="303305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pPr>
            <a:r>
              <a:t>Tu audio se silencia automáticamente cuando entras al taller. Por favor, levanta la mano si quieres hablar. </a:t>
            </a:r>
            <a:endParaRPr sz="1800">
              <a:solidFill>
                <a:schemeClr val="lt1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</p:txBody>
      </p:sp>
      <p:sp>
        <p:nvSpPr>
          <p:cNvPr id="283" name="Google Shape;283;p45"/>
          <p:cNvSpPr txBox="1"/>
          <p:nvPr/>
        </p:nvSpPr>
        <p:spPr>
          <a:xfrm>
            <a:off x="624075" y="3554175"/>
            <a:ext cx="7465800" cy="1219200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pPr>
            <a:r>
              <a:t>Esta sesión se graba con el fin de documentarse. Al participar en la sesión, das permiso para que te graben. </a:t>
            </a:r>
            <a:endParaRPr sz="1800">
              <a:solidFill>
                <a:schemeClr val="lt1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</p:txBody>
      </p:sp>
      <p:pic>
        <p:nvPicPr>
          <p:cNvPr id="284" name="Google Shape;284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6471" y="2418513"/>
            <a:ext cx="853775" cy="85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6471" y="3677950"/>
            <a:ext cx="853775" cy="85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6"/>
          <p:cNvSpPr/>
          <p:nvPr/>
        </p:nvSpPr>
        <p:spPr>
          <a:xfrm rot="-5400000">
            <a:off x="1935147" y="-1733925"/>
            <a:ext cx="480900" cy="43512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6"/>
          <p:cNvSpPr txBox="1"/>
          <p:nvPr/>
        </p:nvSpPr>
        <p:spPr>
          <a:xfrm>
            <a:off x="286222" y="1975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Recordatorios</a:t>
            </a:r>
            <a:endParaRPr b="1" sz="2400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292" name="Google Shape;292;p46"/>
          <p:cNvPicPr preferRelativeResize="0"/>
          <p:nvPr/>
        </p:nvPicPr>
        <p:blipFill rotWithShape="1">
          <a:blip r:embed="rId3">
            <a:alphaModFix/>
          </a:blip>
          <a:srcRect b="9695" l="3800" r="4850" t="10501"/>
          <a:stretch/>
        </p:blipFill>
        <p:spPr>
          <a:xfrm>
            <a:off x="3110225" y="921925"/>
            <a:ext cx="2923550" cy="120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3" name="Google Shape;293;p46"/>
          <p:cNvCxnSpPr/>
          <p:nvPr/>
        </p:nvCxnSpPr>
        <p:spPr>
          <a:xfrm>
            <a:off x="4572000" y="2122900"/>
            <a:ext cx="62100" cy="25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" name="Google Shape;294;p46"/>
          <p:cNvSpPr txBox="1"/>
          <p:nvPr/>
        </p:nvSpPr>
        <p:spPr>
          <a:xfrm>
            <a:off x="558025" y="2535350"/>
            <a:ext cx="35421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latin typeface="Noto Sans"/>
                <a:ea typeface="Noto Sans"/>
                <a:cs typeface="Noto Sans"/>
                <a:sym typeface="Noto Sans"/>
              </a:defRPr>
            </a:pPr>
            <a:r>
              <a:t>Usa el </a:t>
            </a:r>
            <a:r>
              <a:rPr b="1"/>
              <a:t>Chat</a:t>
            </a:r>
            <a:r>
              <a:t>para responder a las preguntas del formador </a:t>
            </a:r>
            <a:endParaRPr sz="1800"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95" name="Google Shape;295;p46"/>
          <p:cNvCxnSpPr>
            <a:endCxn id="294" idx="0"/>
          </p:cNvCxnSpPr>
          <p:nvPr/>
        </p:nvCxnSpPr>
        <p:spPr>
          <a:xfrm flipH="1">
            <a:off x="2329075" y="2001650"/>
            <a:ext cx="958500" cy="533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6" name="Google Shape;296;p46"/>
          <p:cNvSpPr txBox="1"/>
          <p:nvPr/>
        </p:nvSpPr>
        <p:spPr>
          <a:xfrm>
            <a:off x="5105975" y="2535350"/>
            <a:ext cx="35421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latin typeface="Noto Sans"/>
                <a:ea typeface="Noto Sans"/>
                <a:cs typeface="Noto Sans"/>
                <a:sym typeface="Noto Sans"/>
              </a:defRPr>
            </a:pPr>
            <a:r>
              <a:t>En la casilla de </a:t>
            </a:r>
            <a:r>
              <a:rPr b="1"/>
              <a:t>Preguntas y Respuestas </a:t>
            </a:r>
            <a:r>
              <a:t>, escribe las preguntas que quieras hacerle al formador sobre Crianza con Conciencia +</a:t>
            </a:r>
            <a:endParaRPr sz="1800"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97" name="Google Shape;297;p46"/>
          <p:cNvCxnSpPr>
            <a:endCxn id="296" idx="0"/>
          </p:cNvCxnSpPr>
          <p:nvPr/>
        </p:nvCxnSpPr>
        <p:spPr>
          <a:xfrm>
            <a:off x="5871425" y="2025950"/>
            <a:ext cx="1005600" cy="509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7D31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47"/>
          <p:cNvPicPr preferRelativeResize="0"/>
          <p:nvPr/>
        </p:nvPicPr>
        <p:blipFill rotWithShape="1">
          <a:blip r:embed="rId3">
            <a:alphaModFix/>
          </a:blip>
          <a:srcRect b="18929" l="-15394" r="-11621" t="0"/>
          <a:stretch/>
        </p:blipFill>
        <p:spPr>
          <a:xfrm>
            <a:off x="741213" y="1074350"/>
            <a:ext cx="2031300" cy="21471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03" name="Google Shape;303;p47"/>
          <p:cNvSpPr txBox="1"/>
          <p:nvPr/>
        </p:nvSpPr>
        <p:spPr>
          <a:xfrm>
            <a:off x="8928350" y="824900"/>
            <a:ext cx="91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4" name="Google Shape;304;p47"/>
          <p:cNvSpPr txBox="1"/>
          <p:nvPr/>
        </p:nvSpPr>
        <p:spPr>
          <a:xfrm>
            <a:off x="1544911" y="218775"/>
            <a:ext cx="5843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  <a:defRPr b="1" sz="45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CONOCE AL EQUIPO</a:t>
            </a:r>
            <a:endParaRPr b="1" i="0" sz="45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305" name="Google Shape;305;p47"/>
          <p:cNvPicPr preferRelativeResize="0"/>
          <p:nvPr/>
        </p:nvPicPr>
        <p:blipFill rotWithShape="1">
          <a:blip r:embed="rId4">
            <a:alphaModFix/>
          </a:blip>
          <a:srcRect b="0" l="6657" r="6657" t="0"/>
          <a:stretch/>
        </p:blipFill>
        <p:spPr>
          <a:xfrm>
            <a:off x="3556350" y="1074350"/>
            <a:ext cx="2031300" cy="2147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06" name="Google Shape;306;p47"/>
          <p:cNvPicPr preferRelativeResize="0"/>
          <p:nvPr/>
        </p:nvPicPr>
        <p:blipFill rotWithShape="1">
          <a:blip r:embed="rId5">
            <a:alphaModFix/>
          </a:blip>
          <a:srcRect b="21734" l="41400" r="3102" t="0"/>
          <a:stretch/>
        </p:blipFill>
        <p:spPr>
          <a:xfrm>
            <a:off x="6371488" y="1074350"/>
            <a:ext cx="2031300" cy="21471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07" name="Google Shape;307;p47"/>
          <p:cNvSpPr txBox="1"/>
          <p:nvPr/>
        </p:nvSpPr>
        <p:spPr>
          <a:xfrm>
            <a:off x="265250" y="3465925"/>
            <a:ext cx="27750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Nancy Amador Buenabad</a:t>
            </a:r>
            <a:endParaRPr b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i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Entrenadora </a:t>
            </a:r>
            <a:endParaRPr i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i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Crianza con Conciencia +</a:t>
            </a:r>
            <a:endParaRPr i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8" name="Google Shape;308;p47"/>
          <p:cNvSpPr txBox="1"/>
          <p:nvPr/>
        </p:nvSpPr>
        <p:spPr>
          <a:xfrm>
            <a:off x="3079100" y="3465925"/>
            <a:ext cx="27750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Guadalupe Ramírez Martínez</a:t>
            </a:r>
            <a:endParaRPr b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i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Entrenadora </a:t>
            </a:r>
            <a:endParaRPr i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i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Crianza con Conciencia +</a:t>
            </a:r>
            <a:endParaRPr i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9" name="Google Shape;309;p47"/>
          <p:cNvSpPr txBox="1"/>
          <p:nvPr/>
        </p:nvSpPr>
        <p:spPr>
          <a:xfrm>
            <a:off x="5892950" y="3465925"/>
            <a:ext cx="27750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Ana Pro Alcántara</a:t>
            </a:r>
            <a:endParaRPr b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i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Coordinadora del programa</a:t>
            </a:r>
            <a:endParaRPr i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i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Crianza con Conciencia +</a:t>
            </a:r>
            <a:endParaRPr i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310" name="Google Shape;310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4095" y="1074350"/>
            <a:ext cx="3036728" cy="2147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027C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8"/>
          <p:cNvSpPr txBox="1"/>
          <p:nvPr/>
        </p:nvSpPr>
        <p:spPr>
          <a:xfrm>
            <a:off x="345900" y="2644275"/>
            <a:ext cx="7821300" cy="14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57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Encuesta en Zoom para Conocerse Mejor</a:t>
            </a:r>
            <a:endParaRPr b="1" sz="57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316" name="Google Shape;31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550" y="924350"/>
            <a:ext cx="1719925" cy="171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9"/>
          <p:cNvSpPr/>
          <p:nvPr/>
        </p:nvSpPr>
        <p:spPr>
          <a:xfrm rot="-5400000">
            <a:off x="2044500" y="-1871775"/>
            <a:ext cx="509400" cy="45984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9"/>
          <p:cNvSpPr txBox="1"/>
          <p:nvPr/>
        </p:nvSpPr>
        <p:spPr>
          <a:xfrm>
            <a:off x="286222" y="197506"/>
            <a:ext cx="8857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Bienvenida y Presentaciones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b="1" sz="2400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323" name="Google Shape;323;p49"/>
          <p:cNvSpPr txBox="1"/>
          <p:nvPr/>
        </p:nvSpPr>
        <p:spPr>
          <a:xfrm>
            <a:off x="1594625" y="1755900"/>
            <a:ext cx="55011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  <a:defRPr b="1" sz="5000">
                <a:solidFill>
                  <a:srgbClr val="019FE4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ESTABLEZCAMOS ALGUNAS REGLAS BÁSICAS</a:t>
            </a:r>
            <a:endParaRPr b="1" i="0" sz="5000" u="none" cap="none" strike="noStrike">
              <a:solidFill>
                <a:srgbClr val="019FE4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324" name="Google Shape;324;p49"/>
          <p:cNvSpPr/>
          <p:nvPr/>
        </p:nvSpPr>
        <p:spPr>
          <a:xfrm rot="-7214535">
            <a:off x="858228" y="1179130"/>
            <a:ext cx="522975" cy="522975"/>
          </a:xfrm>
          <a:prstGeom prst="ellipse">
            <a:avLst/>
          </a:prstGeom>
          <a:solidFill>
            <a:srgbClr val="DB36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9"/>
          <p:cNvSpPr/>
          <p:nvPr/>
        </p:nvSpPr>
        <p:spPr>
          <a:xfrm rot="-7214535">
            <a:off x="344724" y="1478837"/>
            <a:ext cx="522975" cy="522975"/>
          </a:xfrm>
          <a:prstGeom prst="ellipse">
            <a:avLst/>
          </a:prstGeom>
          <a:solidFill>
            <a:srgbClr val="0094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9"/>
          <p:cNvSpPr/>
          <p:nvPr/>
        </p:nvSpPr>
        <p:spPr>
          <a:xfrm rot="-7214535">
            <a:off x="863425" y="1757707"/>
            <a:ext cx="522975" cy="522975"/>
          </a:xfrm>
          <a:prstGeom prst="ellipse">
            <a:avLst/>
          </a:prstGeom>
          <a:solidFill>
            <a:srgbClr val="FCAD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9"/>
          <p:cNvSpPr/>
          <p:nvPr/>
        </p:nvSpPr>
        <p:spPr>
          <a:xfrm rot="3585465">
            <a:off x="7408521" y="3246432"/>
            <a:ext cx="522975" cy="522975"/>
          </a:xfrm>
          <a:prstGeom prst="ellipse">
            <a:avLst/>
          </a:prstGeom>
          <a:solidFill>
            <a:srgbClr val="DB36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49"/>
          <p:cNvSpPr/>
          <p:nvPr/>
        </p:nvSpPr>
        <p:spPr>
          <a:xfrm rot="3585465">
            <a:off x="7922025" y="2946724"/>
            <a:ext cx="522975" cy="522975"/>
          </a:xfrm>
          <a:prstGeom prst="ellipse">
            <a:avLst/>
          </a:prstGeom>
          <a:solidFill>
            <a:srgbClr val="0094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9"/>
          <p:cNvSpPr/>
          <p:nvPr/>
        </p:nvSpPr>
        <p:spPr>
          <a:xfrm rot="3585465">
            <a:off x="7403324" y="2667855"/>
            <a:ext cx="522975" cy="522975"/>
          </a:xfrm>
          <a:prstGeom prst="ellipse">
            <a:avLst/>
          </a:prstGeom>
          <a:solidFill>
            <a:srgbClr val="FCAD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/>
          <p:nvPr/>
        </p:nvSpPr>
        <p:spPr>
          <a:xfrm rot="-5400000">
            <a:off x="2040900" y="-1839675"/>
            <a:ext cx="480900" cy="4562700"/>
          </a:xfrm>
          <a:prstGeom prst="round2SameRect">
            <a:avLst>
              <a:gd fmla="val 0" name="adj1"/>
              <a:gd fmla="val 4600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50"/>
          <p:cNvSpPr txBox="1"/>
          <p:nvPr/>
        </p:nvSpPr>
        <p:spPr>
          <a:xfrm>
            <a:off x="286223" y="197500"/>
            <a:ext cx="4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Bienvenida y Presentaciones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336" name="Google Shape;336;p50"/>
          <p:cNvSpPr txBox="1"/>
          <p:nvPr/>
        </p:nvSpPr>
        <p:spPr>
          <a:xfrm>
            <a:off x="269600" y="972072"/>
            <a:ext cx="8199600" cy="3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800">
                <a:solidFill>
                  <a:srgbClr val="EF1651"/>
                </a:solidFill>
              </a:defRPr>
            </a:pPr>
            <a:r>
              <a:t>Algunas reglas generales para nuestra sesión: </a:t>
            </a:r>
            <a:endParaRPr b="1" i="0" sz="1800" u="none" cap="none" strike="noStrike">
              <a:solidFill>
                <a:srgbClr val="EF16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900" u="none" cap="none" strike="noStrike">
              <a:solidFill>
                <a:srgbClr val="DB361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●"/>
              <a:defRPr sz="1600">
                <a:solidFill>
                  <a:schemeClr val="accent5"/>
                </a:solidFill>
              </a:defRPr>
            </a:pPr>
            <a:r>
              <a:t>Préstale toda tu atención a la sesión: ¡sé un participante activo! </a:t>
            </a:r>
            <a:endParaRPr sz="1600">
              <a:solidFill>
                <a:schemeClr val="accent5"/>
              </a:solidFill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●"/>
              <a:defRPr sz="1600">
                <a:solidFill>
                  <a:schemeClr val="accent5"/>
                </a:solidFill>
              </a:defRPr>
            </a:pPr>
            <a:r>
              <a:t>Sé considerado y respetuoso con las diversas perspectivas. </a:t>
            </a:r>
            <a:endParaRPr sz="1600">
              <a:solidFill>
                <a:schemeClr val="accent5"/>
              </a:solidFill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●"/>
              <a:defRPr sz="1600">
                <a:solidFill>
                  <a:schemeClr val="accent5"/>
                </a:solidFill>
              </a:defRPr>
            </a:pPr>
            <a:r>
              <a:t>Practica la escucha activa manteniendo la cámara encendido siempre que sea posible. </a:t>
            </a:r>
            <a:endParaRPr sz="1600">
              <a:solidFill>
                <a:schemeClr val="accent5"/>
              </a:solidFill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●"/>
              <a:defRPr sz="1600">
                <a:solidFill>
                  <a:schemeClr val="accent5"/>
                </a:solidFill>
              </a:defRPr>
            </a:pPr>
            <a:r>
              <a:t>Usa las diferentes funciones como el chat o levantar la mano para contribuir en la sesión. </a:t>
            </a:r>
            <a:endParaRPr sz="1600">
              <a:solidFill>
                <a:schemeClr val="accent5"/>
              </a:solidFill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●"/>
              <a:defRPr sz="1600">
                <a:solidFill>
                  <a:schemeClr val="accent5"/>
                </a:solidFill>
              </a:defRPr>
            </a:pPr>
            <a:r>
              <a:t>Pon tu micrófono en silencio cuando estés escuchando a los demás. </a:t>
            </a:r>
            <a:endParaRPr sz="1600">
              <a:solidFill>
                <a:schemeClr val="accent5"/>
              </a:solidFill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●"/>
              <a:defRPr sz="1600">
                <a:solidFill>
                  <a:schemeClr val="accent5"/>
                </a:solidFill>
              </a:defRPr>
            </a:pPr>
            <a:r>
              <a:t>Únete al taller a tiempo. </a:t>
            </a:r>
            <a:endParaRPr sz="1600">
              <a:solidFill>
                <a:schemeClr val="accent5"/>
              </a:solidFill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●"/>
              <a:defRPr i="1" sz="1600">
                <a:solidFill>
                  <a:schemeClr val="accent5"/>
                </a:solidFill>
              </a:defRPr>
            </a:pPr>
            <a:r>
              <a:t>¿Otros? </a:t>
            </a:r>
            <a:endParaRPr b="0" i="1" sz="16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5F5B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1"/>
          <p:cNvSpPr txBox="1"/>
          <p:nvPr/>
        </p:nvSpPr>
        <p:spPr>
          <a:xfrm>
            <a:off x="345900" y="2644275"/>
            <a:ext cx="7821300" cy="14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Comparte tus experiencias</a:t>
            </a:r>
            <a:endParaRPr b="1" sz="60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5F5B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2"/>
          <p:cNvSpPr txBox="1"/>
          <p:nvPr/>
        </p:nvSpPr>
        <p:spPr>
          <a:xfrm>
            <a:off x="345900" y="2644275"/>
            <a:ext cx="7821300" cy="14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6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Comparte tus retos y desafíos</a:t>
            </a:r>
            <a:endParaRPr b="1" sz="60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b="1" sz="6000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3"/>
          <p:cNvSpPr/>
          <p:nvPr/>
        </p:nvSpPr>
        <p:spPr>
          <a:xfrm rot="-5400000">
            <a:off x="2040900" y="-1839675"/>
            <a:ext cx="480900" cy="4562700"/>
          </a:xfrm>
          <a:prstGeom prst="round2SameRect">
            <a:avLst>
              <a:gd fmla="val 0" name="adj1"/>
              <a:gd fmla="val 46007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53"/>
          <p:cNvSpPr txBox="1"/>
          <p:nvPr/>
        </p:nvSpPr>
        <p:spPr>
          <a:xfrm>
            <a:off x="286223" y="197500"/>
            <a:ext cx="4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Antecedentes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53"/>
          <p:cNvSpPr/>
          <p:nvPr/>
        </p:nvSpPr>
        <p:spPr>
          <a:xfrm>
            <a:off x="338575" y="803100"/>
            <a:ext cx="8198100" cy="3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300">
                <a:solidFill>
                  <a:srgbClr val="123D5D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En </a:t>
            </a:r>
            <a:r>
              <a:t>México, </a:t>
            </a:r>
            <a:endParaRPr b="1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23D5D"/>
              </a:buClr>
              <a:buSzPts val="1300"/>
              <a:buChar char="●"/>
              <a:defRPr sz="1300">
                <a:solidFill>
                  <a:srgbClr val="123D5D"/>
                </a:solidFill>
              </a:defRPr>
            </a:pPr>
            <a:r>
              <a:t>15% de los jóvenes en México experimentan problemas de salud mental y 31% de los adolescentes presentan al menos un síntoma de depresión</a:t>
            </a:r>
            <a:endParaRPr i="0" sz="1300" u="none" cap="none" strike="noStrike">
              <a:solidFill>
                <a:srgbClr val="123D5D"/>
              </a:solidFill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23D5D"/>
              </a:buClr>
              <a:buSzPts val="1300"/>
              <a:buChar char="●"/>
              <a:defRPr sz="1300">
                <a:solidFill>
                  <a:srgbClr val="123D5D"/>
                </a:solidFill>
              </a:defRPr>
            </a:pPr>
            <a:r>
              <a:t>El 16,7% de los adultos mexicanos presentan síntomas de depresión.</a:t>
            </a:r>
            <a:endParaRPr sz="1300">
              <a:solidFill>
                <a:srgbClr val="123D5D"/>
              </a:solidFill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23D5D"/>
              </a:buClr>
              <a:buSzPts val="1300"/>
              <a:buChar char="●"/>
              <a:defRPr sz="1300">
                <a:solidFill>
                  <a:srgbClr val="123D5D"/>
                </a:solidFill>
              </a:defRPr>
            </a:pPr>
            <a:r>
              <a:t>El acoso (bullying) y la violencia son los problemas que más se presentan en los niveles escolares de primaria, secundaria y preparatoria.</a:t>
            </a:r>
            <a:endParaRPr sz="1300">
              <a:solidFill>
                <a:srgbClr val="123D5D"/>
              </a:solidFill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23D5D"/>
              </a:buClr>
              <a:buSzPts val="1300"/>
              <a:buChar char="●"/>
              <a:defRPr sz="1300">
                <a:solidFill>
                  <a:srgbClr val="123D5D"/>
                </a:solidFill>
              </a:defRPr>
            </a:pPr>
            <a:r>
              <a:t>La enfermedad mental en niños se asocia con problemas de aprendizaje, afectaciones en el desarrollo y consumo de sustancias.</a:t>
            </a:r>
            <a:endParaRPr sz="1300">
              <a:solidFill>
                <a:srgbClr val="123D5D"/>
              </a:solidFill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23D5D"/>
              </a:buClr>
              <a:buSzPts val="1300"/>
              <a:buChar char="●"/>
              <a:defRPr sz="1300">
                <a:solidFill>
                  <a:srgbClr val="123D5D"/>
                </a:solidFill>
              </a:defRPr>
            </a:pPr>
            <a:r>
              <a:t>Las intervenciones en donde participan los padres para mejorar la salud mental de sus niños y niñas tienen una base de evidencia sólida cuando se han aplicado en otros contextos.</a:t>
            </a:r>
            <a:endParaRPr sz="1300">
              <a:solidFill>
                <a:srgbClr val="123D5D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  <a:defRPr sz="1300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Buenas noticias:</a:t>
            </a:r>
            <a:r>
              <a:t> Los programas de fortalecimiento familiar y de crianza son una estrategia eficaz.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53"/>
          <p:cNvSpPr txBox="1"/>
          <p:nvPr/>
        </p:nvSpPr>
        <p:spPr>
          <a:xfrm>
            <a:off x="5413200" y="4851000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OMS/UNICEF: INSPIRE (2016)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53"/>
          <p:cNvSpPr txBox="1"/>
          <p:nvPr/>
        </p:nvSpPr>
        <p:spPr>
          <a:xfrm>
            <a:off x="404050" y="483570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013D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u="sng"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https://nurturing-care.org/malaysia-2023</a:t>
            </a:r>
            <a:r>
              <a:t> </a:t>
            </a:r>
            <a:endParaRPr b="0" i="0" sz="900" u="none" cap="none" strike="noStrike">
              <a:solidFill>
                <a:srgbClr val="013D5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4"/>
          <p:cNvSpPr txBox="1"/>
          <p:nvPr/>
        </p:nvSpPr>
        <p:spPr>
          <a:xfrm>
            <a:off x="1377738" y="1869318"/>
            <a:ext cx="10893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optimizar el desarrollo infantil temprano</a:t>
            </a:r>
            <a:endParaRPr b="0" i="0" sz="12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54"/>
          <p:cNvSpPr txBox="1"/>
          <p:nvPr/>
        </p:nvSpPr>
        <p:spPr>
          <a:xfrm>
            <a:off x="286222" y="1975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¿Por qué apoyar a los padres, madres y cuidadores?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54"/>
          <p:cNvSpPr txBox="1"/>
          <p:nvPr/>
        </p:nvSpPr>
        <p:spPr>
          <a:xfrm>
            <a:off x="6370620" y="1869318"/>
            <a:ext cx="13107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mejorar la salud mental de padres, madres, cuidadores y sus niños, niñas o adolescentes</a:t>
            </a:r>
            <a:endParaRPr b="0" i="0" sz="12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54"/>
          <p:cNvSpPr txBox="1"/>
          <p:nvPr/>
        </p:nvSpPr>
        <p:spPr>
          <a:xfrm>
            <a:off x="3908698" y="1869318"/>
            <a:ext cx="14271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interrumpir el ciclo de violencia y abandono, incluida la perpetración de violencia a futuro</a:t>
            </a:r>
            <a:endParaRPr b="0" i="0" sz="12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54"/>
          <p:cNvSpPr txBox="1"/>
          <p:nvPr/>
        </p:nvSpPr>
        <p:spPr>
          <a:xfrm>
            <a:off x="2520235" y="3214001"/>
            <a:ext cx="13107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mejorar las interacciones positivas de los cuidadores y los adolescentes</a:t>
            </a:r>
            <a:endParaRPr b="0" i="0" sz="12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54"/>
          <p:cNvSpPr txBox="1"/>
          <p:nvPr/>
        </p:nvSpPr>
        <p:spPr>
          <a:xfrm>
            <a:off x="5290035" y="3214001"/>
            <a:ext cx="11235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aumentar el número de visitas de chequeos médicos rutinarios</a:t>
            </a:r>
            <a:endParaRPr b="0" i="0" sz="12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54"/>
          <p:cNvSpPr txBox="1"/>
          <p:nvPr/>
        </p:nvSpPr>
        <p:spPr>
          <a:xfrm>
            <a:off x="7617003" y="3214001"/>
            <a:ext cx="13107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promover normas sociales positivas sobre la protección y la crianza de niños y niñas</a:t>
            </a:r>
            <a:endParaRPr b="0" i="0" sz="12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8" name="Google Shape;368;p54"/>
          <p:cNvGrpSpPr/>
          <p:nvPr/>
        </p:nvGrpSpPr>
        <p:grpSpPr>
          <a:xfrm>
            <a:off x="109295" y="2637616"/>
            <a:ext cx="1130400" cy="1384585"/>
            <a:chOff x="109295" y="2637616"/>
            <a:chExt cx="1130400" cy="1384585"/>
          </a:xfrm>
        </p:grpSpPr>
        <p:sp>
          <p:nvSpPr>
            <p:cNvPr id="369" name="Google Shape;369;p54"/>
            <p:cNvSpPr txBox="1"/>
            <p:nvPr/>
          </p:nvSpPr>
          <p:spPr>
            <a:xfrm>
              <a:off x="109295" y="3214001"/>
              <a:ext cx="1130400" cy="8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50" spcFirstLastPara="1" rIns="68550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defRPr sz="1200">
                  <a:solidFill>
                    <a:srgbClr val="123D5D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mejorar el crecimiento y la nutrición</a:t>
              </a:r>
              <a:endParaRPr b="0" i="0" sz="1200" u="none" cap="none" strike="noStrike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0" name="Google Shape;370;p54"/>
            <p:cNvGrpSpPr/>
            <p:nvPr/>
          </p:nvGrpSpPr>
          <p:grpSpPr>
            <a:xfrm>
              <a:off x="412933" y="2637616"/>
              <a:ext cx="523200" cy="523200"/>
              <a:chOff x="5185926" y="1986615"/>
              <a:chExt cx="523200" cy="523200"/>
            </a:xfrm>
          </p:grpSpPr>
          <p:sp>
            <p:nvSpPr>
              <p:cNvPr id="371" name="Google Shape;371;p54"/>
              <p:cNvSpPr/>
              <p:nvPr/>
            </p:nvSpPr>
            <p:spPr>
              <a:xfrm>
                <a:off x="5185926" y="1986615"/>
                <a:ext cx="523200" cy="523200"/>
              </a:xfrm>
              <a:prstGeom prst="ellipse">
                <a:avLst/>
              </a:prstGeom>
              <a:solidFill>
                <a:srgbClr val="FCAD1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Apple with solid fill" id="372" name="Google Shape;372;p5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281132" y="2070668"/>
                <a:ext cx="328006" cy="32800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73" name="Google Shape;373;p54"/>
          <p:cNvGrpSpPr/>
          <p:nvPr/>
        </p:nvGrpSpPr>
        <p:grpSpPr>
          <a:xfrm>
            <a:off x="1660771" y="1314418"/>
            <a:ext cx="523200" cy="523200"/>
            <a:chOff x="8015978" y="1986615"/>
            <a:chExt cx="523200" cy="523200"/>
          </a:xfrm>
        </p:grpSpPr>
        <p:sp>
          <p:nvSpPr>
            <p:cNvPr id="374" name="Google Shape;374;p54"/>
            <p:cNvSpPr/>
            <p:nvPr/>
          </p:nvSpPr>
          <p:spPr>
            <a:xfrm>
              <a:off x="8015978" y="1986615"/>
              <a:ext cx="523200" cy="523200"/>
            </a:xfrm>
            <a:prstGeom prst="ellipse">
              <a:avLst/>
            </a:prstGeom>
            <a:solidFill>
              <a:srgbClr val="0094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uppet with solid fill" id="375" name="Google Shape;375;p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117651" y="2109298"/>
              <a:ext cx="299998" cy="2999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6" name="Google Shape;376;p54"/>
          <p:cNvGrpSpPr/>
          <p:nvPr/>
        </p:nvGrpSpPr>
        <p:grpSpPr>
          <a:xfrm>
            <a:off x="2926252" y="2637616"/>
            <a:ext cx="523200" cy="523200"/>
            <a:chOff x="2926252" y="2671469"/>
            <a:chExt cx="523200" cy="523200"/>
          </a:xfrm>
        </p:grpSpPr>
        <p:sp>
          <p:nvSpPr>
            <p:cNvPr id="377" name="Google Shape;377;p54"/>
            <p:cNvSpPr/>
            <p:nvPr/>
          </p:nvSpPr>
          <p:spPr>
            <a:xfrm>
              <a:off x="2926252" y="2671469"/>
              <a:ext cx="523200" cy="523200"/>
            </a:xfrm>
            <a:prstGeom prst="ellipse">
              <a:avLst/>
            </a:prstGeom>
            <a:solidFill>
              <a:srgbClr val="DB35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Woman with kid with solid fill" id="378" name="Google Shape;378;p5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05445" y="2739339"/>
              <a:ext cx="369380" cy="3693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9" name="Google Shape;379;p54"/>
          <p:cNvGrpSpPr/>
          <p:nvPr/>
        </p:nvGrpSpPr>
        <p:grpSpPr>
          <a:xfrm>
            <a:off x="4360694" y="1314418"/>
            <a:ext cx="523200" cy="523200"/>
            <a:chOff x="4240975" y="2951966"/>
            <a:chExt cx="523200" cy="523200"/>
          </a:xfrm>
        </p:grpSpPr>
        <p:sp>
          <p:nvSpPr>
            <p:cNvPr id="380" name="Google Shape;380;p54"/>
            <p:cNvSpPr/>
            <p:nvPr/>
          </p:nvSpPr>
          <p:spPr>
            <a:xfrm>
              <a:off x="4240975" y="2951966"/>
              <a:ext cx="523200" cy="523200"/>
            </a:xfrm>
            <a:prstGeom prst="ellipse">
              <a:avLst/>
            </a:prstGeom>
            <a:solidFill>
              <a:srgbClr val="FCAD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1" name="Google Shape;381;p5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28371" y="3039462"/>
              <a:ext cx="369030" cy="39026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2" name="Google Shape;382;p54"/>
          <p:cNvGrpSpPr/>
          <p:nvPr/>
        </p:nvGrpSpPr>
        <p:grpSpPr>
          <a:xfrm>
            <a:off x="5591656" y="2637616"/>
            <a:ext cx="523200" cy="523200"/>
            <a:chOff x="8015978" y="1034115"/>
            <a:chExt cx="523200" cy="523200"/>
          </a:xfrm>
        </p:grpSpPr>
        <p:sp>
          <p:nvSpPr>
            <p:cNvPr id="383" name="Google Shape;383;p54"/>
            <p:cNvSpPr/>
            <p:nvPr/>
          </p:nvSpPr>
          <p:spPr>
            <a:xfrm>
              <a:off x="8015978" y="1034115"/>
              <a:ext cx="523200" cy="523200"/>
            </a:xfrm>
            <a:prstGeom prst="ellipse">
              <a:avLst/>
            </a:prstGeom>
            <a:solidFill>
              <a:srgbClr val="0094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Medical with solid fill" id="384" name="Google Shape;384;p5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099804" y="1126864"/>
              <a:ext cx="352974" cy="3529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5" name="Google Shape;385;p54"/>
          <p:cNvGrpSpPr/>
          <p:nvPr/>
        </p:nvGrpSpPr>
        <p:grpSpPr>
          <a:xfrm>
            <a:off x="6788742" y="1314418"/>
            <a:ext cx="523200" cy="523200"/>
            <a:chOff x="8015978" y="2951966"/>
            <a:chExt cx="523200" cy="523200"/>
          </a:xfrm>
        </p:grpSpPr>
        <p:sp>
          <p:nvSpPr>
            <p:cNvPr id="386" name="Google Shape;386;p54"/>
            <p:cNvSpPr/>
            <p:nvPr/>
          </p:nvSpPr>
          <p:spPr>
            <a:xfrm>
              <a:off x="8015978" y="2951966"/>
              <a:ext cx="523200" cy="523200"/>
            </a:xfrm>
            <a:prstGeom prst="ellipse">
              <a:avLst/>
            </a:prstGeom>
            <a:solidFill>
              <a:srgbClr val="DB36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eft Brain with solid fill" id="387" name="Google Shape;387;p5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117651" y="3034470"/>
              <a:ext cx="358212" cy="35821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8" name="Google Shape;388;p54"/>
          <p:cNvGrpSpPr/>
          <p:nvPr/>
        </p:nvGrpSpPr>
        <p:grpSpPr>
          <a:xfrm>
            <a:off x="7995449" y="2637616"/>
            <a:ext cx="523200" cy="523200"/>
            <a:chOff x="7071027" y="1986615"/>
            <a:chExt cx="523200" cy="523200"/>
          </a:xfrm>
        </p:grpSpPr>
        <p:sp>
          <p:nvSpPr>
            <p:cNvPr id="389" name="Google Shape;389;p54"/>
            <p:cNvSpPr/>
            <p:nvPr/>
          </p:nvSpPr>
          <p:spPr>
            <a:xfrm>
              <a:off x="7071027" y="1986615"/>
              <a:ext cx="523200" cy="523200"/>
            </a:xfrm>
            <a:prstGeom prst="ellipse">
              <a:avLst/>
            </a:prstGeom>
            <a:solidFill>
              <a:srgbClr val="FCAD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ights On with solid fill" id="390" name="Google Shape;390;p5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157529" y="2073872"/>
              <a:ext cx="346985" cy="34698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54"/>
          <p:cNvSpPr/>
          <p:nvPr/>
        </p:nvSpPr>
        <p:spPr>
          <a:xfrm rot="-5400000">
            <a:off x="2040900" y="-1839675"/>
            <a:ext cx="480900" cy="4562700"/>
          </a:xfrm>
          <a:prstGeom prst="round2SameRect">
            <a:avLst>
              <a:gd fmla="val 0" name="adj1"/>
              <a:gd fmla="val 46007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54"/>
          <p:cNvSpPr txBox="1"/>
          <p:nvPr/>
        </p:nvSpPr>
        <p:spPr>
          <a:xfrm>
            <a:off x="286223" y="197500"/>
            <a:ext cx="4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¿Por qué apoyar a los padres, madres y cuidadores?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277" y="979006"/>
            <a:ext cx="4242233" cy="1917473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5"/>
          <p:cNvSpPr txBox="1"/>
          <p:nvPr/>
        </p:nvSpPr>
        <p:spPr>
          <a:xfrm>
            <a:off x="5160869" y="372897"/>
            <a:ext cx="3762600" cy="3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spAutoFit/>
          </a:bodyPr>
          <a:lstStyle/>
          <a:p>
            <a:pPr indent="0" lvl="0" marL="416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200"/>
              <a:t>Mejora el desarrollo cognitivo, lingüístico y </a:t>
            </a:r>
            <a:br>
              <a:rPr b="0" i="0" lang="en-US" sz="1200" u="none" cap="none" strike="noStrike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sz="1200"/>
              <a:t>socioemocional de los niños y niñas </a:t>
            </a:r>
            <a:br>
              <a:rPr b="0" i="0" lang="en-US" sz="1200" u="none" cap="none" strike="noStrike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sz="900"/>
              <a:t>(OMS, Paquete de Cuidado para el Desarrollo Infantil, 2021) </a:t>
            </a:r>
            <a:endParaRPr b="0" i="0" sz="9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1675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200"/>
              <a:t>Abordar el cuidado responsivo tiene buenos resultados, incluyendo las interacciones positivas entre la persona cuidadora y la niña o niño </a:t>
            </a:r>
            <a:br>
              <a:rPr b="0" i="0" lang="en-US" sz="1200" u="none" cap="none" strike="noStrike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sz="900"/>
              <a:t>(Jeong et al, 2021) </a:t>
            </a:r>
            <a:endParaRPr b="0" i="0" sz="9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1675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200"/>
              <a:t>Puede maximizar las trayectorias de desarrollo y salud mental de los adolescentes</a:t>
            </a:r>
            <a:br>
              <a:rPr b="0" i="0" lang="en-US" sz="1200" u="none" cap="none" strike="noStrike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sz="900"/>
              <a:t>(Shenderovich et al. 2019; Marcus et al, 2019)</a:t>
            </a:r>
            <a:endParaRPr b="0" i="0" sz="9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1675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200"/>
              <a:t>Es eficaz en países con ingresos bajos, medios y altos para reducir el maltrato infantil y la hostilidad en la crianza </a:t>
            </a:r>
            <a:br>
              <a:rPr b="0" i="0" lang="en-US" sz="1200" u="none" cap="none" strike="noStrike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sz="900"/>
              <a:t>(Backhaus, Gardner et al., 2023)</a:t>
            </a:r>
            <a:endParaRPr b="0" i="0" sz="9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1675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200"/>
              <a:t>La eficacia es igual para niños menores y mayores </a:t>
            </a:r>
            <a:br>
              <a:rPr b="0" i="0" lang="en-US" sz="1200" u="none" cap="none" strike="noStrike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sz="900"/>
              <a:t>(Backhaus, Gardner et al., 2023)</a:t>
            </a:r>
            <a:endParaRPr b="0" i="0" sz="9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1675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200"/>
              <a:t>Beneficia por igual a familias de bajos recursos, familias con madres solteras, familias de inmigrantes y de minorías étnicas y familias de niños con problemas de desarrollo y salud mental </a:t>
            </a:r>
            <a:br>
              <a:rPr b="0" i="0" lang="en-US" sz="1200" u="none" cap="none" strike="noStrike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sz="900"/>
              <a:t>(Backhaus, Gardner et al., 2023; Guía de Intervención mhGAP de la OMS)</a:t>
            </a:r>
            <a:endParaRPr b="0" i="0" sz="9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55"/>
          <p:cNvSpPr/>
          <p:nvPr/>
        </p:nvSpPr>
        <p:spPr>
          <a:xfrm>
            <a:off x="555233" y="3193362"/>
            <a:ext cx="39759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>
                <a:solidFill>
                  <a:srgbClr val="00587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200"/>
              <a:t>Número de </a:t>
            </a:r>
            <a:r>
              <a:rPr b="1" sz="1500"/>
              <a:t>ensayos controlados aleatorios </a:t>
            </a:r>
            <a:br>
              <a:rPr b="1" i="0" lang="en-US" sz="1200" u="sng" cap="none" strike="noStrike">
                <a:solidFill>
                  <a:srgbClr val="00587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sz="1200"/>
              <a:t>de intervenciones parentales por año de publicación</a:t>
            </a:r>
            <a:endParaRPr b="0" i="0" sz="1800" u="none" cap="none" strike="noStrike">
              <a:solidFill>
                <a:srgbClr val="00587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sz="1500">
                <a:solidFill>
                  <a:srgbClr val="00587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435 de 65 países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0" name="Google Shape;400;p55"/>
          <p:cNvGrpSpPr/>
          <p:nvPr/>
        </p:nvGrpSpPr>
        <p:grpSpPr>
          <a:xfrm>
            <a:off x="1586507" y="4063773"/>
            <a:ext cx="1506422" cy="491209"/>
            <a:chOff x="2755584" y="4127109"/>
            <a:chExt cx="2035705" cy="663796"/>
          </a:xfrm>
        </p:grpSpPr>
        <p:pic>
          <p:nvPicPr>
            <p:cNvPr descr="Logo  Description automatically generated" id="401" name="Google Shape;401;p5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693477" y="4268473"/>
              <a:ext cx="1097812" cy="4120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ogo  Description automatically generated" id="402" name="Google Shape;402;p5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5584" y="4127109"/>
              <a:ext cx="1097812" cy="6637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3" name="Google Shape;403;p55"/>
          <p:cNvSpPr/>
          <p:nvPr/>
        </p:nvSpPr>
        <p:spPr>
          <a:xfrm rot="-5400000">
            <a:off x="1959003" y="-1757778"/>
            <a:ext cx="480900" cy="43989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55"/>
          <p:cNvSpPr txBox="1"/>
          <p:nvPr/>
        </p:nvSpPr>
        <p:spPr>
          <a:xfrm>
            <a:off x="286224" y="197500"/>
            <a:ext cx="465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Pruebas de Eficacia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6"/>
          <p:cNvSpPr/>
          <p:nvPr/>
        </p:nvSpPr>
        <p:spPr>
          <a:xfrm rot="-5400000">
            <a:off x="2925294" y="-2724075"/>
            <a:ext cx="480900" cy="63315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56"/>
          <p:cNvSpPr txBox="1"/>
          <p:nvPr/>
        </p:nvSpPr>
        <p:spPr>
          <a:xfrm>
            <a:off x="286222" y="1975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Sobre Crianza con Conciencia 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56"/>
          <p:cNvSpPr txBox="1"/>
          <p:nvPr/>
        </p:nvSpPr>
        <p:spPr>
          <a:xfrm>
            <a:off x="286225" y="1122475"/>
            <a:ext cx="4768500" cy="23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>
                <a:solidFill>
                  <a:srgbClr val="DB3614"/>
                </a:solidFill>
              </a:defRPr>
            </a:pPr>
            <a:r>
              <a:rPr sz="1400">
                <a:latin typeface="Arial"/>
                <a:ea typeface="Arial"/>
                <a:cs typeface="Arial"/>
                <a:sym typeface="Arial"/>
              </a:rPr>
              <a:t>¿Para quién es </a:t>
            </a:r>
            <a:r>
              <a:t>Crianza con Conciencia</a:t>
            </a:r>
            <a:r>
              <a:rPr sz="1400">
                <a:latin typeface="Arial"/>
                <a:ea typeface="Arial"/>
                <a:cs typeface="Arial"/>
                <a:sym typeface="Arial"/>
              </a:rPr>
              <a:t> 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b="0" i="0" sz="11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D5D"/>
              </a:buClr>
              <a:buSzPts val="1400"/>
              <a:buFont typeface="Arial"/>
              <a:buChar char="●"/>
              <a:defRPr>
                <a:solidFill>
                  <a:srgbClr val="123D5D"/>
                </a:solidFill>
              </a:defRPr>
            </a:pPr>
            <a:r>
              <a:rPr sz="1400">
                <a:latin typeface="Arial"/>
                <a:ea typeface="Arial"/>
                <a:cs typeface="Arial"/>
                <a:sym typeface="Arial"/>
              </a:rPr>
              <a:t>Para padres, madres y cuidadores</a:t>
            </a:r>
            <a:r>
              <a:t> </a:t>
            </a:r>
            <a:r>
              <a:rPr sz="1400">
                <a:latin typeface="Arial"/>
                <a:ea typeface="Arial"/>
                <a:cs typeface="Arial"/>
                <a:sym typeface="Arial"/>
              </a:rPr>
              <a:t>con niños, niñas y adolescentes de 2 a </a:t>
            </a:r>
            <a:r>
              <a:t>17</a:t>
            </a:r>
            <a:r>
              <a:rPr sz="1400">
                <a:latin typeface="Arial"/>
                <a:ea typeface="Arial"/>
                <a:cs typeface="Arial"/>
                <a:sym typeface="Arial"/>
              </a:rPr>
              <a:t> años. </a:t>
            </a:r>
            <a:endParaRPr b="0" i="0" sz="14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123D5D"/>
              </a:buClr>
              <a:buSzPts val="1400"/>
              <a:buFont typeface="Arial"/>
              <a:buChar char="●"/>
              <a:defRPr sz="1400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Padres, Madres, Cuidadores </a:t>
            </a:r>
            <a:r>
              <a:t>y </a:t>
            </a:r>
            <a:r>
              <a:rPr b="1"/>
              <a:t>Crianza </a:t>
            </a:r>
            <a:r>
              <a:t>incluye a todos los cuidadores responsables del bienestar de tu niña o niño. Los cuidadores incluyen a padres no biológicos como tíos, hermanos, primos, padres adoptivos.</a:t>
            </a:r>
            <a:endParaRPr>
              <a:solidFill>
                <a:srgbClr val="123D5D"/>
              </a:solidFill>
            </a:endParaRPr>
          </a:p>
        </p:txBody>
      </p:sp>
      <p:pic>
        <p:nvPicPr>
          <p:cNvPr id="412" name="Google Shape;41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3572" y="1440775"/>
            <a:ext cx="3419776" cy="166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7"/>
          <p:cNvSpPr/>
          <p:nvPr/>
        </p:nvSpPr>
        <p:spPr>
          <a:xfrm rot="-5400000">
            <a:off x="2925294" y="-2724075"/>
            <a:ext cx="480900" cy="63315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57"/>
          <p:cNvSpPr txBox="1"/>
          <p:nvPr/>
        </p:nvSpPr>
        <p:spPr>
          <a:xfrm>
            <a:off x="286222" y="1975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Sobre Crianza con Conciencia 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57"/>
          <p:cNvSpPr txBox="1"/>
          <p:nvPr/>
        </p:nvSpPr>
        <p:spPr>
          <a:xfrm>
            <a:off x="286225" y="1122475"/>
            <a:ext cx="4768500" cy="3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>
                <a:solidFill>
                  <a:srgbClr val="DB3614"/>
                </a:solidFill>
              </a:defRPr>
            </a:pPr>
            <a:r>
              <a:t>¿Qué hace que Crianza con Conciencia + sea un programa único?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b="0" i="0" sz="11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D5D"/>
              </a:buClr>
              <a:buSzPts val="1400"/>
              <a:buFont typeface="Arial"/>
              <a:buChar char="●"/>
              <a:defRPr>
                <a:solidFill>
                  <a:srgbClr val="123D5D"/>
                </a:solidFill>
              </a:defRPr>
            </a:pPr>
            <a:r>
              <a:t>Programa híbrido e innovador que utiliza </a:t>
            </a:r>
            <a:endParaRPr>
              <a:solidFill>
                <a:srgbClr val="123D5D"/>
              </a:solidFill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D5D"/>
              </a:buClr>
              <a:buSzPts val="1400"/>
              <a:buFont typeface="Arial"/>
              <a:buChar char="○"/>
              <a:defRPr>
                <a:solidFill>
                  <a:srgbClr val="123D5D"/>
                </a:solidFill>
              </a:defRPr>
            </a:pPr>
            <a:r>
              <a:t>herramientas digitales sencillas, como WhatsApp, para apoyar a padres, madres y cuidadores. </a:t>
            </a:r>
            <a:endParaRPr>
              <a:solidFill>
                <a:srgbClr val="123D5D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D5D"/>
              </a:buClr>
              <a:buSzPts val="1400"/>
              <a:buChar char="●"/>
              <a:defRPr>
                <a:solidFill>
                  <a:srgbClr val="123D5D"/>
                </a:solidFill>
              </a:defRPr>
            </a:pPr>
            <a:r>
              <a:t>Es un esfuerzo colaborativo entre Parenting for Lifelong Health, el Instituto Nacional de Psiquiatría, la UNICEF y ¡TÚ!</a:t>
            </a:r>
            <a:endParaRPr>
              <a:solidFill>
                <a:srgbClr val="123D5D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D5D"/>
              </a:buClr>
              <a:buSzPts val="1400"/>
              <a:buChar char="●"/>
              <a:defRPr>
                <a:solidFill>
                  <a:srgbClr val="123D5D"/>
                </a:solidFill>
              </a:defRPr>
            </a:pPr>
            <a:r>
              <a:t>Está respaldado por investigación y les proporciona a los padres, madres y cuidadores, estrategias basadas en evidencia para educar a sus niños, niñas y adolescentes.</a:t>
            </a:r>
            <a:endParaRPr>
              <a:solidFill>
                <a:srgbClr val="123D5D"/>
              </a:solidFill>
            </a:endParaRPr>
          </a:p>
        </p:txBody>
      </p:sp>
      <p:pic>
        <p:nvPicPr>
          <p:cNvPr id="420" name="Google Shape;42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3572" y="1440775"/>
            <a:ext cx="3419776" cy="166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8"/>
          <p:cNvSpPr/>
          <p:nvPr/>
        </p:nvSpPr>
        <p:spPr>
          <a:xfrm rot="-5400000">
            <a:off x="2810425" y="-2578375"/>
            <a:ext cx="475200" cy="60960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58"/>
          <p:cNvSpPr txBox="1"/>
          <p:nvPr/>
        </p:nvSpPr>
        <p:spPr>
          <a:xfrm>
            <a:off x="286210" y="2286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Acerca de Crianza con Conciencia +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58"/>
          <p:cNvSpPr txBox="1"/>
          <p:nvPr/>
        </p:nvSpPr>
        <p:spPr>
          <a:xfrm>
            <a:off x="231525" y="2272875"/>
            <a:ext cx="7596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Pregunta de Referencia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58"/>
          <p:cNvSpPr/>
          <p:nvPr/>
        </p:nvSpPr>
        <p:spPr>
          <a:xfrm>
            <a:off x="702350" y="1426188"/>
            <a:ext cx="2291100" cy="2291100"/>
          </a:xfrm>
          <a:prstGeom prst="ellipse">
            <a:avLst/>
          </a:prstGeom>
          <a:solidFill>
            <a:srgbClr val="01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58"/>
          <p:cNvSpPr/>
          <p:nvPr/>
        </p:nvSpPr>
        <p:spPr>
          <a:xfrm>
            <a:off x="3464475" y="1426188"/>
            <a:ext cx="2291100" cy="2291100"/>
          </a:xfrm>
          <a:prstGeom prst="ellipse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rgbClr val="1B3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58"/>
          <p:cNvSpPr/>
          <p:nvPr/>
        </p:nvSpPr>
        <p:spPr>
          <a:xfrm>
            <a:off x="6226600" y="1426188"/>
            <a:ext cx="2291100" cy="2291100"/>
          </a:xfrm>
          <a:prstGeom prst="ellipse">
            <a:avLst/>
          </a:prstGeom>
          <a:solidFill>
            <a:srgbClr val="E402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rgbClr val="1B3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1" name="Google Shape;431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9825" y="1705675"/>
            <a:ext cx="716150" cy="71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58"/>
          <p:cNvSpPr txBox="1"/>
          <p:nvPr/>
        </p:nvSpPr>
        <p:spPr>
          <a:xfrm>
            <a:off x="1191500" y="2572450"/>
            <a:ext cx="13128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300">
                <a:solidFill>
                  <a:schemeClr val="lt1"/>
                </a:solidFill>
              </a:defRPr>
            </a:pPr>
            <a:r>
              <a:t>Sesión presencial de integración</a:t>
            </a:r>
            <a:endParaRPr b="1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3" name="Google Shape;433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1950" y="1639550"/>
            <a:ext cx="716150" cy="71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58"/>
          <p:cNvSpPr txBox="1"/>
          <p:nvPr/>
        </p:nvSpPr>
        <p:spPr>
          <a:xfrm>
            <a:off x="3890400" y="2222800"/>
            <a:ext cx="1363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>
                <a:solidFill>
                  <a:schemeClr val="lt1"/>
                </a:solidFill>
              </a:defRPr>
            </a:pPr>
            <a:r>
              <a:rPr sz="1400">
                <a:latin typeface="Arial"/>
                <a:ea typeface="Arial"/>
                <a:cs typeface="Arial"/>
                <a:sym typeface="Arial"/>
              </a:rPr>
              <a:t>Aprendiendo a través de </a:t>
            </a:r>
            <a:r>
              <a:t> Crianza con Conciencia + Chatbot en WhatsApp</a:t>
            </a:r>
            <a:endParaRPr b="1" i="0" sz="1400" u="none" cap="none" strike="noStrike">
              <a:solidFill>
                <a:srgbClr val="1B30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rgbClr val="1B3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58"/>
          <p:cNvPicPr preferRelativeResize="0"/>
          <p:nvPr/>
        </p:nvPicPr>
        <p:blipFill rotWithShape="1">
          <a:blip r:embed="rId5">
            <a:alphaModFix/>
          </a:blip>
          <a:srcRect b="2606" l="0" r="0" t="2606"/>
          <a:stretch/>
        </p:blipFill>
        <p:spPr>
          <a:xfrm>
            <a:off x="7141575" y="1764175"/>
            <a:ext cx="599150" cy="59915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58"/>
          <p:cNvSpPr txBox="1"/>
          <p:nvPr/>
        </p:nvSpPr>
        <p:spPr>
          <a:xfrm>
            <a:off x="6428500" y="2408200"/>
            <a:ext cx="1887300" cy="8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>
                <a:solidFill>
                  <a:schemeClr val="lt1"/>
                </a:solidFill>
              </a:defRPr>
            </a:pPr>
            <a:r>
              <a:t>Apoyo en un Grupo de WhatsApp </a:t>
            </a:r>
            <a:r>
              <a:rPr i="1"/>
              <a:t>separado</a:t>
            </a:r>
            <a:r>
              <a:t> y moderado por un Facilitador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9"/>
          <p:cNvSpPr/>
          <p:nvPr/>
        </p:nvSpPr>
        <p:spPr>
          <a:xfrm rot="-5400000">
            <a:off x="2400025" y="-2140975"/>
            <a:ext cx="448200" cy="5248200"/>
          </a:xfrm>
          <a:prstGeom prst="round2SameRect">
            <a:avLst>
              <a:gd fmla="val 0" name="adj1"/>
              <a:gd fmla="val 49968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59"/>
          <p:cNvSpPr txBox="1"/>
          <p:nvPr/>
        </p:nvSpPr>
        <p:spPr>
          <a:xfrm>
            <a:off x="286210" y="2286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Acerca de </a:t>
            </a:r>
            <a:r>
              <a:t>Crianza con Conciencia +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59"/>
          <p:cNvSpPr txBox="1"/>
          <p:nvPr/>
        </p:nvSpPr>
        <p:spPr>
          <a:xfrm>
            <a:off x="4094575" y="1402775"/>
            <a:ext cx="508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59"/>
          <p:cNvSpPr txBox="1"/>
          <p:nvPr/>
        </p:nvSpPr>
        <p:spPr>
          <a:xfrm>
            <a:off x="3026625" y="1239325"/>
            <a:ext cx="54012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Delicious Handrawn"/>
              <a:buChar char="●"/>
              <a:defRPr sz="19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Curso Básico: Mejorar mi relación con mi niña, niño o adolescente (5 días)</a:t>
            </a:r>
            <a:endParaRPr b="0" i="0" sz="1900" u="none" cap="none" strike="noStrike">
              <a:solidFill>
                <a:srgbClr val="00969B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Todos los días recibirás estrategias de crianza a través del chat automatizado de WhatsApp que te ayudarán a mejorar la relación con tu niño, niña o adolescente.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>
                <a:solidFill>
                  <a:srgbClr val="FF5E00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¡Solo te tomará 5 minutos al día!</a:t>
            </a:r>
            <a:endParaRPr b="0" i="0" sz="1700" u="none" cap="none" strike="noStrike">
              <a:solidFill>
                <a:srgbClr val="FF5E00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  <a:defRPr sz="1300">
                <a:solidFill>
                  <a:schemeClr val="dk1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Este curso contiene 5 </a:t>
            </a:r>
            <a:r>
              <a:t>sesiones</a:t>
            </a:r>
            <a:r>
              <a:rPr>
                <a:latin typeface="Arial"/>
                <a:ea typeface="Arial"/>
                <a:cs typeface="Arial"/>
                <a:sym typeface="Arial"/>
              </a:rPr>
              <a:t> (una por día) sobre cómo mejorar la relación con tu niño, niña o adolescente</a:t>
            </a:r>
            <a:endParaRPr b="0" i="0" sz="15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59"/>
          <p:cNvSpPr/>
          <p:nvPr/>
        </p:nvSpPr>
        <p:spPr>
          <a:xfrm>
            <a:off x="497550" y="1426188"/>
            <a:ext cx="2291100" cy="2291100"/>
          </a:xfrm>
          <a:prstGeom prst="ellipse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rgbClr val="1B3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6" name="Google Shape;44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025" y="1639550"/>
            <a:ext cx="716150" cy="71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59"/>
          <p:cNvSpPr txBox="1"/>
          <p:nvPr/>
        </p:nvSpPr>
        <p:spPr>
          <a:xfrm>
            <a:off x="930475" y="2222125"/>
            <a:ext cx="1363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>
                <a:solidFill>
                  <a:schemeClr val="lt1"/>
                </a:solidFill>
              </a:defRPr>
            </a:pPr>
            <a:r>
              <a:t>Aprendiendo a través de Crianza con Conciencia + Chatbot en WhatsApp</a:t>
            </a:r>
            <a:endParaRPr b="1">
              <a:solidFill>
                <a:srgbClr val="1B3055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rgbClr val="1B30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7762"/>
            <a:ext cx="9143999" cy="5219026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60"/>
          <p:cNvSpPr txBox="1"/>
          <p:nvPr/>
        </p:nvSpPr>
        <p:spPr>
          <a:xfrm>
            <a:off x="1145988" y="543325"/>
            <a:ext cx="685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highlight>
                  <a:srgbClr val="0E3A5A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Curso Básico: Mejorar mi relación con mi niña, niño o adolescente</a:t>
            </a:r>
            <a:endParaRPr i="0" sz="2400" u="none" cap="none" strike="noStrike">
              <a:solidFill>
                <a:schemeClr val="lt1"/>
              </a:solidFill>
              <a:highlight>
                <a:srgbClr val="0E3A5A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454" name="Google Shape;454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488" y="1367885"/>
            <a:ext cx="2538769" cy="1905014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60"/>
          <p:cNvSpPr txBox="1"/>
          <p:nvPr/>
        </p:nvSpPr>
        <p:spPr>
          <a:xfrm>
            <a:off x="466838" y="3465246"/>
            <a:ext cx="2606100" cy="76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900">
                <a:solidFill>
                  <a:srgbClr val="0B4060"/>
                </a:solidFill>
                <a:highlight>
                  <a:schemeClr val="lt1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Sesión 1: Pasar Tiempo Uno a Uno</a:t>
            </a:r>
            <a:endParaRPr b="0" i="0" sz="1900" u="none" cap="none" strike="noStrike">
              <a:solidFill>
                <a:srgbClr val="0B4060"/>
              </a:solidFill>
              <a:highlight>
                <a:schemeClr val="lt1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456" name="Google Shape;456;p60"/>
          <p:cNvPicPr preferRelativeResize="0"/>
          <p:nvPr/>
        </p:nvPicPr>
        <p:blipFill rotWithShape="1">
          <a:blip r:embed="rId5">
            <a:alphaModFix/>
          </a:blip>
          <a:srcRect b="0" l="59" r="49" t="0"/>
          <a:stretch/>
        </p:blipFill>
        <p:spPr>
          <a:xfrm>
            <a:off x="3302603" y="1367885"/>
            <a:ext cx="2538769" cy="190501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60"/>
          <p:cNvSpPr txBox="1"/>
          <p:nvPr/>
        </p:nvSpPr>
        <p:spPr>
          <a:xfrm>
            <a:off x="3268950" y="3465250"/>
            <a:ext cx="2606100" cy="47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900">
                <a:solidFill>
                  <a:srgbClr val="0B4060"/>
                </a:solidFill>
                <a:highlight>
                  <a:schemeClr val="lt1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Sesión 2: Dar Reconocimiento</a:t>
            </a:r>
            <a:endParaRPr b="0" i="0" sz="1900" u="none" cap="none" strike="noStrike">
              <a:solidFill>
                <a:srgbClr val="0B4060"/>
              </a:solidFill>
              <a:highlight>
                <a:schemeClr val="lt1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458" name="Google Shape;458;p60"/>
          <p:cNvPicPr preferRelativeResize="0"/>
          <p:nvPr/>
        </p:nvPicPr>
        <p:blipFill rotWithShape="1">
          <a:blip r:embed="rId6">
            <a:alphaModFix/>
          </a:blip>
          <a:srcRect b="0" l="59" r="49" t="0"/>
          <a:stretch/>
        </p:blipFill>
        <p:spPr>
          <a:xfrm>
            <a:off x="6104718" y="1367885"/>
            <a:ext cx="2538769" cy="1905015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60"/>
          <p:cNvSpPr txBox="1"/>
          <p:nvPr/>
        </p:nvSpPr>
        <p:spPr>
          <a:xfrm>
            <a:off x="6071068" y="3465246"/>
            <a:ext cx="2606100" cy="76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900">
                <a:solidFill>
                  <a:srgbClr val="0B4060"/>
                </a:solidFill>
                <a:highlight>
                  <a:schemeClr val="lt1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Sesión 3: Crear una Rutina para el Tiempo Uno a Uno</a:t>
            </a:r>
            <a:endParaRPr b="0" i="0" sz="1900" u="none" cap="none" strike="noStrike">
              <a:solidFill>
                <a:srgbClr val="0B4060"/>
              </a:solidFill>
              <a:highlight>
                <a:schemeClr val="lt1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460" name="Google Shape;460;p60"/>
          <p:cNvSpPr txBox="1"/>
          <p:nvPr/>
        </p:nvSpPr>
        <p:spPr>
          <a:xfrm>
            <a:off x="466838" y="4344446"/>
            <a:ext cx="2606100" cy="64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0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Crear confianza, respeto y una relación positiva entre tú y tu niño, niña o adolescente</a:t>
            </a:r>
            <a:endParaRPr sz="1000" u="none" cap="none" strike="noStrike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1" name="Google Shape;461;p60"/>
          <p:cNvSpPr txBox="1"/>
          <p:nvPr/>
        </p:nvSpPr>
        <p:spPr>
          <a:xfrm>
            <a:off x="3235263" y="4344446"/>
            <a:ext cx="26061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0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Hacer que tu niño, niña o adolescente quiera comportarse de la manera esperada con mayor frecuencia</a:t>
            </a:r>
            <a:endParaRPr sz="1000" u="none" cap="none" strike="noStrike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2" name="Google Shape;462;p60"/>
          <p:cNvSpPr txBox="1"/>
          <p:nvPr/>
        </p:nvSpPr>
        <p:spPr>
          <a:xfrm>
            <a:off x="6071038" y="4344446"/>
            <a:ext cx="26061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0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Ayudar a que tu niño, niña o adolescente sienta más seguridad, protección y ganas de cooperar</a:t>
            </a:r>
            <a:endParaRPr sz="1000" u="none" cap="none" strike="noStrike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7762"/>
            <a:ext cx="9143999" cy="5219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61"/>
          <p:cNvPicPr preferRelativeResize="0"/>
          <p:nvPr/>
        </p:nvPicPr>
        <p:blipFill rotWithShape="1">
          <a:blip r:embed="rId4">
            <a:alphaModFix/>
          </a:blip>
          <a:srcRect b="89" l="0" r="0" t="99"/>
          <a:stretch/>
        </p:blipFill>
        <p:spPr>
          <a:xfrm>
            <a:off x="1901538" y="1253685"/>
            <a:ext cx="2538769" cy="1905015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61"/>
          <p:cNvSpPr txBox="1"/>
          <p:nvPr/>
        </p:nvSpPr>
        <p:spPr>
          <a:xfrm>
            <a:off x="1867888" y="3351046"/>
            <a:ext cx="2606100" cy="76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900">
                <a:solidFill>
                  <a:srgbClr val="123D5D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Sesión 4: Identificar Emociones y Sentimientos durante el Tiempo Uno a Uno</a:t>
            </a:r>
            <a:endParaRPr b="0" i="0" sz="1900" u="none" cap="none" strike="noStrike">
              <a:solidFill>
                <a:srgbClr val="123D5D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470" name="Google Shape;470;p61"/>
          <p:cNvPicPr preferRelativeResize="0"/>
          <p:nvPr/>
        </p:nvPicPr>
        <p:blipFill rotWithShape="1">
          <a:blip r:embed="rId5">
            <a:alphaModFix/>
          </a:blip>
          <a:srcRect b="0" l="19" r="29" t="0"/>
          <a:stretch/>
        </p:blipFill>
        <p:spPr>
          <a:xfrm>
            <a:off x="4703653" y="1253685"/>
            <a:ext cx="2538769" cy="1905014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1"/>
          <p:cNvSpPr txBox="1"/>
          <p:nvPr/>
        </p:nvSpPr>
        <p:spPr>
          <a:xfrm>
            <a:off x="4670003" y="3351046"/>
            <a:ext cx="2606100" cy="76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900">
                <a:solidFill>
                  <a:srgbClr val="123D5D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Sesión 5: Mantener la Calma Cuando Haya Estrés</a:t>
            </a:r>
            <a:endParaRPr b="0" i="0" sz="1900" u="none" cap="none" strike="noStrike">
              <a:solidFill>
                <a:srgbClr val="123D5D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472" name="Google Shape;472;p61"/>
          <p:cNvSpPr txBox="1"/>
          <p:nvPr/>
        </p:nvSpPr>
        <p:spPr>
          <a:xfrm>
            <a:off x="0" y="4750175"/>
            <a:ext cx="9144000" cy="43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b="1" sz="1600">
                <a:solidFill>
                  <a:srgbClr val="00969B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¡¡Al finalizar los 5 días </a:t>
            </a:r>
            <a:r>
              <a:t>tú</a:t>
            </a:r>
            <a:r>
              <a:rPr>
                <a:latin typeface="Arial"/>
                <a:ea typeface="Arial"/>
                <a:cs typeface="Arial"/>
                <a:sym typeface="Arial"/>
              </a:rPr>
              <a:t>recibirás </a:t>
            </a:r>
            <a:r>
              <a:t>un reconocimiento de crianza positiva!!</a:t>
            </a:r>
            <a:endParaRPr b="1" i="0" sz="1600" u="none" cap="none" strike="noStrike">
              <a:solidFill>
                <a:srgbClr val="0096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61"/>
          <p:cNvSpPr txBox="1"/>
          <p:nvPr/>
        </p:nvSpPr>
        <p:spPr>
          <a:xfrm>
            <a:off x="1867863" y="4167384"/>
            <a:ext cx="26061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0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Ayudar a tu niña, niño o adolescente a aprender a expresarse</a:t>
            </a:r>
            <a:endParaRPr sz="1000" u="none" cap="none" strike="noStrike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4" name="Google Shape;474;p61"/>
          <p:cNvSpPr txBox="1"/>
          <p:nvPr/>
        </p:nvSpPr>
        <p:spPr>
          <a:xfrm>
            <a:off x="4669988" y="4167396"/>
            <a:ext cx="26061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0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Controlar tu enojo al enfrentarte a situaciones de crianza estresantes </a:t>
            </a:r>
            <a:endParaRPr sz="1000" u="none" cap="none" strike="noStrike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5" name="Google Shape;475;p61"/>
          <p:cNvSpPr txBox="1"/>
          <p:nvPr/>
        </p:nvSpPr>
        <p:spPr>
          <a:xfrm>
            <a:off x="1145988" y="451475"/>
            <a:ext cx="685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rgbClr val="FFFFFF"/>
                </a:solidFill>
                <a:highlight>
                  <a:srgbClr val="0E3A5A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Curso Básico: Mejorar mi relación con mi niña, niño o adolescente</a:t>
            </a:r>
            <a:endParaRPr i="0" sz="2400" u="none" cap="none" strike="noStrike">
              <a:solidFill>
                <a:srgbClr val="FFFFFF"/>
              </a:solidFill>
              <a:highlight>
                <a:srgbClr val="0E3A5A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2"/>
          <p:cNvSpPr/>
          <p:nvPr/>
        </p:nvSpPr>
        <p:spPr>
          <a:xfrm rot="-5400000">
            <a:off x="2400025" y="-2140975"/>
            <a:ext cx="448200" cy="5248200"/>
          </a:xfrm>
          <a:prstGeom prst="round2SameRect">
            <a:avLst>
              <a:gd fmla="val 0" name="adj1"/>
              <a:gd fmla="val 49968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62"/>
          <p:cNvSpPr txBox="1"/>
          <p:nvPr/>
        </p:nvSpPr>
        <p:spPr>
          <a:xfrm>
            <a:off x="286210" y="2286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Acerca de </a:t>
            </a:r>
            <a:r>
              <a:t>Crianza con Conciencia +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62"/>
          <p:cNvSpPr txBox="1"/>
          <p:nvPr/>
        </p:nvSpPr>
        <p:spPr>
          <a:xfrm>
            <a:off x="4094575" y="1402775"/>
            <a:ext cx="508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62"/>
          <p:cNvSpPr/>
          <p:nvPr/>
        </p:nvSpPr>
        <p:spPr>
          <a:xfrm>
            <a:off x="497550" y="1426188"/>
            <a:ext cx="2291100" cy="2291100"/>
          </a:xfrm>
          <a:prstGeom prst="ellipse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rgbClr val="1B3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4" name="Google Shape;484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025" y="1639550"/>
            <a:ext cx="716150" cy="71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62"/>
          <p:cNvSpPr txBox="1"/>
          <p:nvPr/>
        </p:nvSpPr>
        <p:spPr>
          <a:xfrm>
            <a:off x="811350" y="2269325"/>
            <a:ext cx="1663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>
                <a:solidFill>
                  <a:schemeClr val="lt1"/>
                </a:solidFill>
              </a:defRPr>
            </a:pPr>
            <a:r>
              <a:t>Aprendiendo a través de Crianza con Conciencia + Chatbot en WhatsApp</a:t>
            </a:r>
            <a:endParaRPr b="1">
              <a:solidFill>
                <a:srgbClr val="1B3055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rgbClr val="1B3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62"/>
          <p:cNvSpPr/>
          <p:nvPr/>
        </p:nvSpPr>
        <p:spPr>
          <a:xfrm>
            <a:off x="353900" y="1150350"/>
            <a:ext cx="2737500" cy="2848800"/>
          </a:xfrm>
          <a:prstGeom prst="arc">
            <a:avLst>
              <a:gd fmla="val 16114895" name="adj1"/>
              <a:gd fmla="val 5238787" name="adj2"/>
            </a:avLst>
          </a:prstGeom>
          <a:noFill/>
          <a:ln cap="flat" cmpd="sng" w="28575">
            <a:solidFill>
              <a:srgbClr val="0096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487" name="Google Shape;487;p62"/>
          <p:cNvCxnSpPr>
            <a:endCxn id="488" idx="1"/>
          </p:cNvCxnSpPr>
          <p:nvPr/>
        </p:nvCxnSpPr>
        <p:spPr>
          <a:xfrm>
            <a:off x="2474975" y="1402775"/>
            <a:ext cx="1571400" cy="0"/>
          </a:xfrm>
          <a:prstGeom prst="straightConnector1">
            <a:avLst/>
          </a:prstGeom>
          <a:noFill/>
          <a:ln cap="flat" cmpd="sng" w="28575">
            <a:solidFill>
              <a:srgbClr val="00969B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88" name="Google Shape;488;p62"/>
          <p:cNvSpPr txBox="1"/>
          <p:nvPr/>
        </p:nvSpPr>
        <p:spPr>
          <a:xfrm>
            <a:off x="4046375" y="944825"/>
            <a:ext cx="5001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900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 5 Sesiones Diarias sobre cómo mejorar tu relación con tu niña, niño o adolescente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89" name="Google Shape;489;p62"/>
          <p:cNvSpPr txBox="1"/>
          <p:nvPr/>
        </p:nvSpPr>
        <p:spPr>
          <a:xfrm>
            <a:off x="4133725" y="2115250"/>
            <a:ext cx="5001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Actividades lúdicas para hacer con tu niña, niño o adolescente al final de cada sesión</a:t>
            </a:r>
            <a:endParaRPr>
              <a:solidFill>
                <a:srgbClr val="00969B"/>
              </a:solidFill>
            </a:endParaRPr>
          </a:p>
        </p:txBody>
      </p:sp>
      <p:sp>
        <p:nvSpPr>
          <p:cNvPr id="490" name="Google Shape;490;p62"/>
          <p:cNvSpPr txBox="1"/>
          <p:nvPr/>
        </p:nvSpPr>
        <p:spPr>
          <a:xfrm>
            <a:off x="4133725" y="3285675"/>
            <a:ext cx="5001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Recursos, en caso de necesitar apoyo para cuestiones de salud mental, violencia, violencia sexual o abuso de sustancias (Escribe AYUDA)</a:t>
            </a:r>
            <a:endParaRPr>
              <a:solidFill>
                <a:srgbClr val="00969B"/>
              </a:solidFill>
            </a:endParaRPr>
          </a:p>
        </p:txBody>
      </p:sp>
      <p:cxnSp>
        <p:nvCxnSpPr>
          <p:cNvPr id="491" name="Google Shape;491;p62"/>
          <p:cNvCxnSpPr/>
          <p:nvPr/>
        </p:nvCxnSpPr>
        <p:spPr>
          <a:xfrm flipH="1" rot="10800000">
            <a:off x="3037500" y="2568900"/>
            <a:ext cx="1049700" cy="18600"/>
          </a:xfrm>
          <a:prstGeom prst="straightConnector1">
            <a:avLst/>
          </a:prstGeom>
          <a:noFill/>
          <a:ln cap="flat" cmpd="sng" w="28575">
            <a:solidFill>
              <a:srgbClr val="00969B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492" name="Google Shape;492;p62"/>
          <p:cNvCxnSpPr/>
          <p:nvPr/>
        </p:nvCxnSpPr>
        <p:spPr>
          <a:xfrm flipH="1" rot="10800000">
            <a:off x="2474850" y="3740725"/>
            <a:ext cx="1659000" cy="14100"/>
          </a:xfrm>
          <a:prstGeom prst="straightConnector1">
            <a:avLst/>
          </a:prstGeom>
          <a:noFill/>
          <a:ln cap="flat" cmpd="sng" w="28575">
            <a:solidFill>
              <a:srgbClr val="00969B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3"/>
          <p:cNvSpPr txBox="1"/>
          <p:nvPr/>
        </p:nvSpPr>
        <p:spPr>
          <a:xfrm>
            <a:off x="4094575" y="1402775"/>
            <a:ext cx="508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63"/>
          <p:cNvSpPr txBox="1"/>
          <p:nvPr/>
        </p:nvSpPr>
        <p:spPr>
          <a:xfrm>
            <a:off x="3104450" y="1232700"/>
            <a:ext cx="5745000" cy="29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chemeClr val="dk1"/>
                </a:solidFill>
              </a:defRPr>
            </a:pPr>
            <a:r>
              <a:t>Participarás en sesiones de chat de WhatsApp y aprenderás a cuidar de tu salud mental para apoyarte a ti mismo y a tus familias.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chemeClr val="dk1"/>
                </a:solidFill>
              </a:defRPr>
            </a:pPr>
            <a:r>
              <a:t>También puedes compartir tus propias experiencias relacionadas con las sesiones ofrecidas a través del chatbot Crianza con Conciencia +.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Habrá tres sesiones de chat: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sz="16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rPr>
              <a:t>Después de la sesión de integración:</a:t>
            </a:r>
            <a:r>
              <a:rPr sz="1200">
                <a:solidFill>
                  <a:srgbClr val="00969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Bienvenida y presentaciones.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sz="17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rPr>
              <a:t>Día 3:</a:t>
            </a:r>
            <a:r>
              <a:rPr sz="1700">
                <a:solidFill>
                  <a:schemeClr val="dk1"/>
                </a:solidFill>
                <a:latin typeface="Delicious Handrawn"/>
                <a:ea typeface="Delicious Handrawn"/>
                <a:cs typeface="Delicious Handrawn"/>
                <a:sym typeface="Delicious Handrawn"/>
              </a:rPr>
              <a:t> </a:t>
            </a:r>
            <a:r>
              <a:rPr sz="1200">
                <a:solidFill>
                  <a:schemeClr val="dk1"/>
                </a:solidFill>
              </a:rPr>
              <a:t> Diálogo Interno: Sesión de chat de WhatsApp sobre el diálogo Interno y el estrés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sz="17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rPr>
              <a:t>Día 5:</a:t>
            </a:r>
            <a:r>
              <a:rPr sz="1200">
                <a:solidFill>
                  <a:srgbClr val="00969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1200">
                <a:solidFill>
                  <a:schemeClr val="dk1"/>
                </a:solidFill>
              </a:rPr>
              <a:t>Despedida</a:t>
            </a: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63"/>
          <p:cNvSpPr/>
          <p:nvPr/>
        </p:nvSpPr>
        <p:spPr>
          <a:xfrm>
            <a:off x="353525" y="1426188"/>
            <a:ext cx="2291100" cy="2291100"/>
          </a:xfrm>
          <a:prstGeom prst="ellipse">
            <a:avLst/>
          </a:prstGeom>
          <a:solidFill>
            <a:srgbClr val="E402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rgbClr val="1B3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Google Shape;500;p63"/>
          <p:cNvPicPr preferRelativeResize="0"/>
          <p:nvPr/>
        </p:nvPicPr>
        <p:blipFill rotWithShape="1">
          <a:blip r:embed="rId3">
            <a:alphaModFix/>
          </a:blip>
          <a:srcRect b="2606" l="0" r="0" t="2606"/>
          <a:stretch/>
        </p:blipFill>
        <p:spPr>
          <a:xfrm>
            <a:off x="1268500" y="1764175"/>
            <a:ext cx="599150" cy="59915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63"/>
          <p:cNvSpPr txBox="1"/>
          <p:nvPr/>
        </p:nvSpPr>
        <p:spPr>
          <a:xfrm>
            <a:off x="555425" y="2408200"/>
            <a:ext cx="1887300" cy="8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>
                <a:solidFill>
                  <a:schemeClr val="lt1"/>
                </a:solidFill>
              </a:defRPr>
            </a:pPr>
            <a:r>
              <a:t>Apoyo en un Grupo de WhatsApp </a:t>
            </a:r>
            <a:r>
              <a:rPr i="1"/>
              <a:t>separado</a:t>
            </a:r>
            <a:r>
              <a:t> y moderado por un Facilitador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>
              <a:solidFill>
                <a:schemeClr val="lt1"/>
              </a:solidFill>
            </a:endParaRPr>
          </a:p>
        </p:txBody>
      </p:sp>
      <p:sp>
        <p:nvSpPr>
          <p:cNvPr id="502" name="Google Shape;502;p63"/>
          <p:cNvSpPr/>
          <p:nvPr/>
        </p:nvSpPr>
        <p:spPr>
          <a:xfrm rot="-5400000">
            <a:off x="2400025" y="-2140975"/>
            <a:ext cx="448200" cy="5248200"/>
          </a:xfrm>
          <a:prstGeom prst="round2SameRect">
            <a:avLst>
              <a:gd fmla="val 0" name="adj1"/>
              <a:gd fmla="val 49968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63"/>
          <p:cNvSpPr txBox="1"/>
          <p:nvPr/>
        </p:nvSpPr>
        <p:spPr>
          <a:xfrm>
            <a:off x="286210" y="2286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Acerca de </a:t>
            </a:r>
            <a:r>
              <a:t>Crianza con Conciencia +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4"/>
          <p:cNvSpPr/>
          <p:nvPr/>
        </p:nvSpPr>
        <p:spPr>
          <a:xfrm rot="-5400000">
            <a:off x="2712150" y="-2516600"/>
            <a:ext cx="506700" cy="59310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64"/>
          <p:cNvSpPr txBox="1"/>
          <p:nvPr/>
        </p:nvSpPr>
        <p:spPr>
          <a:xfrm>
            <a:off x="57625" y="216761"/>
            <a:ext cx="625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La Travesía de los Padres, Madres y Cuidadores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510" name="Google Shape;510;p64"/>
          <p:cNvSpPr/>
          <p:nvPr/>
        </p:nvSpPr>
        <p:spPr>
          <a:xfrm>
            <a:off x="38125" y="1461350"/>
            <a:ext cx="1803000" cy="208800"/>
          </a:xfrm>
          <a:prstGeom prst="rect">
            <a:avLst/>
          </a:prstGeom>
          <a:solidFill>
            <a:srgbClr val="113D5C"/>
          </a:solidFill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solidFill>
                  <a:schemeClr val="lt1"/>
                </a:solidFill>
              </a:defRPr>
            </a:pPr>
            <a:r>
              <a:rPr sz="1400">
                <a:latin typeface="Arial"/>
                <a:ea typeface="Arial"/>
                <a:cs typeface="Arial"/>
                <a:sym typeface="Arial"/>
              </a:rPr>
              <a:t>Día 1: </a:t>
            </a:r>
            <a:r>
              <a:t>¡Estás aquí!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64"/>
          <p:cNvSpPr/>
          <p:nvPr/>
        </p:nvSpPr>
        <p:spPr>
          <a:xfrm>
            <a:off x="1841113" y="1461350"/>
            <a:ext cx="1803000" cy="20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>
                <a:solidFill>
                  <a:srgbClr val="0C3F6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Día 2</a:t>
            </a:r>
            <a:endParaRPr b="0" i="0" sz="1400" u="none" cap="none" strike="noStrike">
              <a:solidFill>
                <a:srgbClr val="0C3F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64"/>
          <p:cNvSpPr/>
          <p:nvPr/>
        </p:nvSpPr>
        <p:spPr>
          <a:xfrm>
            <a:off x="3644113" y="1461350"/>
            <a:ext cx="1803000" cy="208800"/>
          </a:xfrm>
          <a:prstGeom prst="rect">
            <a:avLst/>
          </a:prstGeom>
          <a:solidFill>
            <a:srgbClr val="113D5C"/>
          </a:solidFill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Día 3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64"/>
          <p:cNvSpPr/>
          <p:nvPr/>
        </p:nvSpPr>
        <p:spPr>
          <a:xfrm>
            <a:off x="5447113" y="1461350"/>
            <a:ext cx="1803000" cy="20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>
                <a:solidFill>
                  <a:srgbClr val="0C3F6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Día 4</a:t>
            </a:r>
            <a:endParaRPr b="0" i="0" sz="1400" u="none" cap="none" strike="noStrike">
              <a:solidFill>
                <a:srgbClr val="0C3F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64"/>
          <p:cNvSpPr/>
          <p:nvPr/>
        </p:nvSpPr>
        <p:spPr>
          <a:xfrm>
            <a:off x="7250113" y="1461350"/>
            <a:ext cx="1803000" cy="208800"/>
          </a:xfrm>
          <a:prstGeom prst="rect">
            <a:avLst/>
          </a:prstGeom>
          <a:solidFill>
            <a:srgbClr val="113D5C"/>
          </a:solidFill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Día 5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5" name="Google Shape;515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0913" y="2642675"/>
            <a:ext cx="270175" cy="270175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64"/>
          <p:cNvSpPr txBox="1"/>
          <p:nvPr/>
        </p:nvSpPr>
        <p:spPr>
          <a:xfrm>
            <a:off x="47900" y="2974613"/>
            <a:ext cx="18030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rPr b="1"/>
              <a:t>Sesión 1: </a:t>
            </a:r>
            <a:r>
              <a:t>Pasar Tiempo Uno a Uno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(5 min)</a:t>
            </a:r>
            <a:endParaRPr i="0" sz="13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7" name="Google Shape;517;p64"/>
          <p:cNvSpPr txBox="1"/>
          <p:nvPr/>
        </p:nvSpPr>
        <p:spPr>
          <a:xfrm>
            <a:off x="1831200" y="2974613"/>
            <a:ext cx="1803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rPr b="1"/>
              <a:t>Sesión 2: </a:t>
            </a:r>
            <a:r>
              <a:t>Dar Reconocimiento 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(5 min)  </a:t>
            </a:r>
            <a:endParaRPr i="0" sz="13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8" name="Google Shape;518;p64"/>
          <p:cNvSpPr txBox="1"/>
          <p:nvPr/>
        </p:nvSpPr>
        <p:spPr>
          <a:xfrm>
            <a:off x="3757288" y="2974613"/>
            <a:ext cx="16800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rPr b="1"/>
              <a:t>Sesión 3: </a:t>
            </a:r>
            <a:r>
              <a:t>Crear una Rutina para el Tiempo Uno a Uno 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(5 min) </a:t>
            </a:r>
            <a:endParaRPr i="0" sz="1100" u="none" cap="none" strike="noStrike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9" name="Google Shape;519;p64"/>
          <p:cNvSpPr txBox="1"/>
          <p:nvPr/>
        </p:nvSpPr>
        <p:spPr>
          <a:xfrm>
            <a:off x="5437263" y="2974613"/>
            <a:ext cx="18030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rPr b="1"/>
              <a:t>Sesión 4: </a:t>
            </a:r>
            <a:r>
              <a:t>Identificar Emociones y Sentimientos durante el Tiempo Uno a Uno 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(5 min)</a:t>
            </a:r>
            <a:endParaRPr i="0" sz="13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0" name="Google Shape;520;p64"/>
          <p:cNvSpPr txBox="1"/>
          <p:nvPr/>
        </p:nvSpPr>
        <p:spPr>
          <a:xfrm>
            <a:off x="7293100" y="2974613"/>
            <a:ext cx="18030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rPr b="1"/>
              <a:t>Sesión 5: </a:t>
            </a:r>
            <a:r>
              <a:t>Mantener la Calma Cuando Haya Estrés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(5 min) 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1" name="Google Shape;521;p64"/>
          <p:cNvSpPr txBox="1"/>
          <p:nvPr/>
        </p:nvSpPr>
        <p:spPr>
          <a:xfrm>
            <a:off x="7230675" y="4211950"/>
            <a:ext cx="18030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Discusión de Cierre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(5 min)</a:t>
            </a:r>
            <a:endParaRPr i="0" sz="1100" u="none" cap="none" strike="noStrike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2" name="Google Shape;522;p64"/>
          <p:cNvSpPr txBox="1"/>
          <p:nvPr/>
        </p:nvSpPr>
        <p:spPr>
          <a:xfrm>
            <a:off x="3624575" y="4211950"/>
            <a:ext cx="18030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Discusión sobre el Diálogo Interno (15 min) </a:t>
            </a:r>
            <a:endParaRPr i="0" sz="13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3" name="Google Shape;523;p64"/>
          <p:cNvSpPr txBox="1"/>
          <p:nvPr/>
        </p:nvSpPr>
        <p:spPr>
          <a:xfrm>
            <a:off x="67525" y="2111850"/>
            <a:ext cx="17736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Sesión de Integración 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(2 horas)</a:t>
            </a:r>
            <a:endParaRPr i="0" sz="13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4" name="Google Shape;524;p64"/>
          <p:cNvSpPr txBox="1"/>
          <p:nvPr/>
        </p:nvSpPr>
        <p:spPr>
          <a:xfrm>
            <a:off x="676100" y="857444"/>
            <a:ext cx="23598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chemeClr val="accent5"/>
                </a:solidFill>
              </a:defRPr>
            </a:pPr>
            <a:r>
              <a:t>Sesión </a:t>
            </a:r>
            <a:r>
              <a:rPr>
                <a:latin typeface="Arial"/>
                <a:ea typeface="Arial"/>
                <a:cs typeface="Arial"/>
                <a:sym typeface="Arial"/>
              </a:rPr>
              <a:t>Presencial</a:t>
            </a:r>
            <a:r>
              <a:t> </a:t>
            </a:r>
            <a:endParaRPr b="0" i="0" sz="1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64"/>
          <p:cNvSpPr txBox="1"/>
          <p:nvPr/>
        </p:nvSpPr>
        <p:spPr>
          <a:xfrm>
            <a:off x="3453775" y="785444"/>
            <a:ext cx="19467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13D5C"/>
                </a:solidFill>
              </a:defRPr>
            </a:pPr>
            <a:r>
              <a:t>Sesiones en el Chatbot de Crianza con Conciencia +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526" name="Google Shape;526;p64"/>
          <p:cNvSpPr txBox="1"/>
          <p:nvPr/>
        </p:nvSpPr>
        <p:spPr>
          <a:xfrm>
            <a:off x="6371250" y="695444"/>
            <a:ext cx="19467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13D5C"/>
                </a:solidFill>
              </a:defRPr>
            </a:pPr>
            <a:r>
              <a:t>Discusión en el Grupo de Comunidad de WhatsApp moderado por el Facilitador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7" name="Google Shape;527;p64"/>
          <p:cNvGrpSpPr/>
          <p:nvPr/>
        </p:nvGrpSpPr>
        <p:grpSpPr>
          <a:xfrm>
            <a:off x="258215" y="857444"/>
            <a:ext cx="372300" cy="372300"/>
            <a:chOff x="6166865" y="140342"/>
            <a:chExt cx="372300" cy="372300"/>
          </a:xfrm>
        </p:grpSpPr>
        <p:sp>
          <p:nvSpPr>
            <p:cNvPr id="528" name="Google Shape;528;p64"/>
            <p:cNvSpPr/>
            <p:nvPr/>
          </p:nvSpPr>
          <p:spPr>
            <a:xfrm>
              <a:off x="6166865" y="140342"/>
              <a:ext cx="372300" cy="372300"/>
            </a:xfrm>
            <a:prstGeom prst="ellipse">
              <a:avLst/>
            </a:prstGeom>
            <a:solidFill>
              <a:srgbClr val="0D3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9" name="Google Shape;529;p6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53825" y="222075"/>
              <a:ext cx="2088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0" name="Google Shape;530;p64"/>
          <p:cNvGrpSpPr/>
          <p:nvPr/>
        </p:nvGrpSpPr>
        <p:grpSpPr>
          <a:xfrm>
            <a:off x="3035896" y="857444"/>
            <a:ext cx="372300" cy="372300"/>
            <a:chOff x="6172071" y="582117"/>
            <a:chExt cx="372300" cy="372300"/>
          </a:xfrm>
        </p:grpSpPr>
        <p:sp>
          <p:nvSpPr>
            <p:cNvPr id="531" name="Google Shape;531;p64"/>
            <p:cNvSpPr/>
            <p:nvPr/>
          </p:nvSpPr>
          <p:spPr>
            <a:xfrm>
              <a:off x="6172071" y="582117"/>
              <a:ext cx="372300" cy="372300"/>
            </a:xfrm>
            <a:prstGeom prst="ellipse">
              <a:avLst/>
            </a:prstGeom>
            <a:solidFill>
              <a:srgbClr val="0096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32" name="Google Shape;532;p6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23138" y="633188"/>
              <a:ext cx="270177" cy="270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3" name="Google Shape;533;p64"/>
          <p:cNvGrpSpPr/>
          <p:nvPr/>
        </p:nvGrpSpPr>
        <p:grpSpPr>
          <a:xfrm>
            <a:off x="5978865" y="857444"/>
            <a:ext cx="372300" cy="372300"/>
            <a:chOff x="6192365" y="1173617"/>
            <a:chExt cx="372300" cy="372300"/>
          </a:xfrm>
        </p:grpSpPr>
        <p:sp>
          <p:nvSpPr>
            <p:cNvPr id="534" name="Google Shape;534;p64"/>
            <p:cNvSpPr/>
            <p:nvPr/>
          </p:nvSpPr>
          <p:spPr>
            <a:xfrm>
              <a:off x="6192365" y="1173617"/>
              <a:ext cx="372300" cy="372300"/>
            </a:xfrm>
            <a:prstGeom prst="ellipse">
              <a:avLst/>
            </a:prstGeom>
            <a:solidFill>
              <a:srgbClr val="D6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35" name="Google Shape;535;p64"/>
            <p:cNvPicPr preferRelativeResize="0"/>
            <p:nvPr/>
          </p:nvPicPr>
          <p:blipFill rotWithShape="1">
            <a:blip r:embed="rId6">
              <a:alphaModFix/>
            </a:blip>
            <a:srcRect b="2606" l="0" r="0" t="2606"/>
            <a:stretch/>
          </p:blipFill>
          <p:spPr>
            <a:xfrm>
              <a:off x="6282297" y="1255387"/>
              <a:ext cx="2088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6" name="Google Shape;536;p64"/>
          <p:cNvGrpSpPr/>
          <p:nvPr/>
        </p:nvGrpSpPr>
        <p:grpSpPr>
          <a:xfrm>
            <a:off x="753603" y="1739554"/>
            <a:ext cx="372300" cy="372300"/>
            <a:chOff x="6166865" y="140342"/>
            <a:chExt cx="372300" cy="372300"/>
          </a:xfrm>
        </p:grpSpPr>
        <p:sp>
          <p:nvSpPr>
            <p:cNvPr id="537" name="Google Shape;537;p64"/>
            <p:cNvSpPr/>
            <p:nvPr/>
          </p:nvSpPr>
          <p:spPr>
            <a:xfrm>
              <a:off x="6166865" y="140342"/>
              <a:ext cx="372300" cy="372300"/>
            </a:xfrm>
            <a:prstGeom prst="ellipse">
              <a:avLst/>
            </a:prstGeom>
            <a:solidFill>
              <a:srgbClr val="0D3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38" name="Google Shape;538;p6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53825" y="222075"/>
              <a:ext cx="2088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9" name="Google Shape;539;p64"/>
          <p:cNvGrpSpPr/>
          <p:nvPr/>
        </p:nvGrpSpPr>
        <p:grpSpPr>
          <a:xfrm>
            <a:off x="2615796" y="2614398"/>
            <a:ext cx="372300" cy="372300"/>
            <a:chOff x="6172071" y="582117"/>
            <a:chExt cx="372300" cy="372300"/>
          </a:xfrm>
        </p:grpSpPr>
        <p:sp>
          <p:nvSpPr>
            <p:cNvPr id="540" name="Google Shape;540;p64"/>
            <p:cNvSpPr/>
            <p:nvPr/>
          </p:nvSpPr>
          <p:spPr>
            <a:xfrm>
              <a:off x="6172071" y="582117"/>
              <a:ext cx="372300" cy="372300"/>
            </a:xfrm>
            <a:prstGeom prst="ellipse">
              <a:avLst/>
            </a:prstGeom>
            <a:solidFill>
              <a:srgbClr val="0096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41" name="Google Shape;541;p6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23138" y="633188"/>
              <a:ext cx="270177" cy="270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2" name="Google Shape;542;p64"/>
          <p:cNvGrpSpPr/>
          <p:nvPr/>
        </p:nvGrpSpPr>
        <p:grpSpPr>
          <a:xfrm>
            <a:off x="4349734" y="2614398"/>
            <a:ext cx="372300" cy="372300"/>
            <a:chOff x="6172071" y="582117"/>
            <a:chExt cx="372300" cy="372300"/>
          </a:xfrm>
        </p:grpSpPr>
        <p:sp>
          <p:nvSpPr>
            <p:cNvPr id="543" name="Google Shape;543;p64"/>
            <p:cNvSpPr/>
            <p:nvPr/>
          </p:nvSpPr>
          <p:spPr>
            <a:xfrm>
              <a:off x="6172071" y="582117"/>
              <a:ext cx="372300" cy="372300"/>
            </a:xfrm>
            <a:prstGeom prst="ellipse">
              <a:avLst/>
            </a:prstGeom>
            <a:solidFill>
              <a:srgbClr val="0096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44" name="Google Shape;544;p6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23138" y="633188"/>
              <a:ext cx="270177" cy="270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5" name="Google Shape;545;p64"/>
          <p:cNvGrpSpPr/>
          <p:nvPr/>
        </p:nvGrpSpPr>
        <p:grpSpPr>
          <a:xfrm>
            <a:off x="6144559" y="2614398"/>
            <a:ext cx="372300" cy="372300"/>
            <a:chOff x="6172071" y="582117"/>
            <a:chExt cx="372300" cy="372300"/>
          </a:xfrm>
        </p:grpSpPr>
        <p:sp>
          <p:nvSpPr>
            <p:cNvPr id="546" name="Google Shape;546;p64"/>
            <p:cNvSpPr/>
            <p:nvPr/>
          </p:nvSpPr>
          <p:spPr>
            <a:xfrm>
              <a:off x="6172071" y="582117"/>
              <a:ext cx="372300" cy="372300"/>
            </a:xfrm>
            <a:prstGeom prst="ellipse">
              <a:avLst/>
            </a:prstGeom>
            <a:solidFill>
              <a:srgbClr val="0096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47" name="Google Shape;547;p6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23138" y="633188"/>
              <a:ext cx="270177" cy="270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8" name="Google Shape;548;p64"/>
          <p:cNvGrpSpPr/>
          <p:nvPr/>
        </p:nvGrpSpPr>
        <p:grpSpPr>
          <a:xfrm>
            <a:off x="743708" y="2614380"/>
            <a:ext cx="372300" cy="372300"/>
            <a:chOff x="6172071" y="582117"/>
            <a:chExt cx="372300" cy="372300"/>
          </a:xfrm>
        </p:grpSpPr>
        <p:sp>
          <p:nvSpPr>
            <p:cNvPr id="549" name="Google Shape;549;p64"/>
            <p:cNvSpPr/>
            <p:nvPr/>
          </p:nvSpPr>
          <p:spPr>
            <a:xfrm>
              <a:off x="6172071" y="582117"/>
              <a:ext cx="372300" cy="372300"/>
            </a:xfrm>
            <a:prstGeom prst="ellipse">
              <a:avLst/>
            </a:prstGeom>
            <a:solidFill>
              <a:srgbClr val="0096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50" name="Google Shape;550;p6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23138" y="633188"/>
              <a:ext cx="270177" cy="270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1" name="Google Shape;551;p64"/>
          <p:cNvGrpSpPr/>
          <p:nvPr/>
        </p:nvGrpSpPr>
        <p:grpSpPr>
          <a:xfrm>
            <a:off x="7955759" y="2614398"/>
            <a:ext cx="372300" cy="372300"/>
            <a:chOff x="6172071" y="582117"/>
            <a:chExt cx="372300" cy="372300"/>
          </a:xfrm>
        </p:grpSpPr>
        <p:sp>
          <p:nvSpPr>
            <p:cNvPr id="552" name="Google Shape;552;p64"/>
            <p:cNvSpPr/>
            <p:nvPr/>
          </p:nvSpPr>
          <p:spPr>
            <a:xfrm>
              <a:off x="6172071" y="582117"/>
              <a:ext cx="372300" cy="372300"/>
            </a:xfrm>
            <a:prstGeom prst="ellipse">
              <a:avLst/>
            </a:prstGeom>
            <a:solidFill>
              <a:srgbClr val="0096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53" name="Google Shape;553;p6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23138" y="633188"/>
              <a:ext cx="270177" cy="270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4" name="Google Shape;554;p64"/>
          <p:cNvGrpSpPr/>
          <p:nvPr/>
        </p:nvGrpSpPr>
        <p:grpSpPr>
          <a:xfrm>
            <a:off x="4385852" y="3885373"/>
            <a:ext cx="372300" cy="372300"/>
            <a:chOff x="6192365" y="1098867"/>
            <a:chExt cx="372300" cy="372300"/>
          </a:xfrm>
        </p:grpSpPr>
        <p:sp>
          <p:nvSpPr>
            <p:cNvPr id="555" name="Google Shape;555;p64"/>
            <p:cNvSpPr/>
            <p:nvPr/>
          </p:nvSpPr>
          <p:spPr>
            <a:xfrm>
              <a:off x="6192365" y="1098867"/>
              <a:ext cx="372300" cy="372300"/>
            </a:xfrm>
            <a:prstGeom prst="ellipse">
              <a:avLst/>
            </a:prstGeom>
            <a:solidFill>
              <a:srgbClr val="D6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56" name="Google Shape;556;p64"/>
            <p:cNvPicPr preferRelativeResize="0"/>
            <p:nvPr/>
          </p:nvPicPr>
          <p:blipFill rotWithShape="1">
            <a:blip r:embed="rId6">
              <a:alphaModFix/>
            </a:blip>
            <a:srcRect b="2606" l="0" r="0" t="2606"/>
            <a:stretch/>
          </p:blipFill>
          <p:spPr>
            <a:xfrm>
              <a:off x="6282297" y="1180612"/>
              <a:ext cx="2088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7" name="Google Shape;557;p64"/>
          <p:cNvGrpSpPr/>
          <p:nvPr/>
        </p:nvGrpSpPr>
        <p:grpSpPr>
          <a:xfrm>
            <a:off x="7991828" y="3885373"/>
            <a:ext cx="372300" cy="372300"/>
            <a:chOff x="6192365" y="1098867"/>
            <a:chExt cx="372300" cy="372300"/>
          </a:xfrm>
        </p:grpSpPr>
        <p:sp>
          <p:nvSpPr>
            <p:cNvPr id="558" name="Google Shape;558;p64"/>
            <p:cNvSpPr/>
            <p:nvPr/>
          </p:nvSpPr>
          <p:spPr>
            <a:xfrm>
              <a:off x="6192365" y="1098867"/>
              <a:ext cx="372300" cy="372300"/>
            </a:xfrm>
            <a:prstGeom prst="ellipse">
              <a:avLst/>
            </a:prstGeom>
            <a:solidFill>
              <a:srgbClr val="D6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59" name="Google Shape;559;p64"/>
            <p:cNvPicPr preferRelativeResize="0"/>
            <p:nvPr/>
          </p:nvPicPr>
          <p:blipFill rotWithShape="1">
            <a:blip r:embed="rId7">
              <a:alphaModFix/>
            </a:blip>
            <a:srcRect b="2606" l="0" r="0" t="2606"/>
            <a:stretch/>
          </p:blipFill>
          <p:spPr>
            <a:xfrm>
              <a:off x="6282297" y="1180612"/>
              <a:ext cx="2088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0" name="Google Shape;560;p64"/>
          <p:cNvGrpSpPr/>
          <p:nvPr/>
        </p:nvGrpSpPr>
        <p:grpSpPr>
          <a:xfrm>
            <a:off x="779877" y="3885373"/>
            <a:ext cx="372300" cy="372300"/>
            <a:chOff x="6192365" y="1098867"/>
            <a:chExt cx="372300" cy="372300"/>
          </a:xfrm>
        </p:grpSpPr>
        <p:sp>
          <p:nvSpPr>
            <p:cNvPr id="561" name="Google Shape;561;p64"/>
            <p:cNvSpPr/>
            <p:nvPr/>
          </p:nvSpPr>
          <p:spPr>
            <a:xfrm>
              <a:off x="6192365" y="1098867"/>
              <a:ext cx="372300" cy="372300"/>
            </a:xfrm>
            <a:prstGeom prst="ellipse">
              <a:avLst/>
            </a:prstGeom>
            <a:solidFill>
              <a:srgbClr val="D6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62" name="Google Shape;562;p64"/>
            <p:cNvPicPr preferRelativeResize="0"/>
            <p:nvPr/>
          </p:nvPicPr>
          <p:blipFill rotWithShape="1">
            <a:blip r:embed="rId6">
              <a:alphaModFix/>
            </a:blip>
            <a:srcRect b="2606" l="0" r="0" t="2606"/>
            <a:stretch/>
          </p:blipFill>
          <p:spPr>
            <a:xfrm>
              <a:off x="6282297" y="1180612"/>
              <a:ext cx="2088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3" name="Google Shape;563;p64"/>
          <p:cNvSpPr txBox="1"/>
          <p:nvPr/>
        </p:nvSpPr>
        <p:spPr>
          <a:xfrm>
            <a:off x="38075" y="4211950"/>
            <a:ext cx="18030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Bienvenida y Presentaciones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(10 min) 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564" name="Google Shape;564;p64"/>
          <p:cNvCxnSpPr/>
          <p:nvPr/>
        </p:nvCxnSpPr>
        <p:spPr>
          <a:xfrm>
            <a:off x="1841113" y="1565750"/>
            <a:ext cx="0" cy="325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" name="Google Shape;565;p64"/>
          <p:cNvCxnSpPr/>
          <p:nvPr/>
        </p:nvCxnSpPr>
        <p:spPr>
          <a:xfrm flipH="1">
            <a:off x="3637525" y="1528325"/>
            <a:ext cx="4800" cy="330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" name="Google Shape;566;p64"/>
          <p:cNvCxnSpPr/>
          <p:nvPr/>
        </p:nvCxnSpPr>
        <p:spPr>
          <a:xfrm>
            <a:off x="5443675" y="1461350"/>
            <a:ext cx="8700" cy="335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" name="Google Shape;567;p64"/>
          <p:cNvCxnSpPr/>
          <p:nvPr/>
        </p:nvCxnSpPr>
        <p:spPr>
          <a:xfrm>
            <a:off x="7262338" y="1461350"/>
            <a:ext cx="8700" cy="335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5"/>
          <p:cNvSpPr/>
          <p:nvPr/>
        </p:nvSpPr>
        <p:spPr>
          <a:xfrm rot="-5400000">
            <a:off x="2712150" y="-2516600"/>
            <a:ext cx="506700" cy="59310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65"/>
          <p:cNvSpPr txBox="1"/>
          <p:nvPr/>
        </p:nvSpPr>
        <p:spPr>
          <a:xfrm>
            <a:off x="57625" y="216761"/>
            <a:ext cx="625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La Travesía del Facilitador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574" name="Google Shape;574;p65"/>
          <p:cNvSpPr/>
          <p:nvPr/>
        </p:nvSpPr>
        <p:spPr>
          <a:xfrm>
            <a:off x="38125" y="1461350"/>
            <a:ext cx="1803000" cy="208800"/>
          </a:xfrm>
          <a:prstGeom prst="rect">
            <a:avLst/>
          </a:prstGeom>
          <a:solidFill>
            <a:srgbClr val="113D5C"/>
          </a:solidFill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solidFill>
                  <a:schemeClr val="lt1"/>
                </a:solidFill>
              </a:defRPr>
            </a:pPr>
            <a:r>
              <a:rPr sz="1400">
                <a:latin typeface="Arial"/>
                <a:ea typeface="Arial"/>
                <a:cs typeface="Arial"/>
                <a:sym typeface="Arial"/>
              </a:rPr>
              <a:t>Día 1: </a:t>
            </a:r>
            <a:r>
              <a:t>¡Estás aquí!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65"/>
          <p:cNvSpPr/>
          <p:nvPr/>
        </p:nvSpPr>
        <p:spPr>
          <a:xfrm>
            <a:off x="1841113" y="1461350"/>
            <a:ext cx="1803000" cy="20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>
                <a:solidFill>
                  <a:srgbClr val="0C3F6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Día 2</a:t>
            </a:r>
            <a:endParaRPr b="0" i="0" sz="1400" u="none" cap="none" strike="noStrike">
              <a:solidFill>
                <a:srgbClr val="0C3F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65"/>
          <p:cNvSpPr/>
          <p:nvPr/>
        </p:nvSpPr>
        <p:spPr>
          <a:xfrm>
            <a:off x="3644113" y="1461350"/>
            <a:ext cx="1803000" cy="208800"/>
          </a:xfrm>
          <a:prstGeom prst="rect">
            <a:avLst/>
          </a:prstGeom>
          <a:solidFill>
            <a:srgbClr val="113D5C"/>
          </a:solidFill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Día 3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65"/>
          <p:cNvSpPr/>
          <p:nvPr/>
        </p:nvSpPr>
        <p:spPr>
          <a:xfrm>
            <a:off x="5447113" y="1461350"/>
            <a:ext cx="1803000" cy="20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>
                <a:solidFill>
                  <a:srgbClr val="0C3F6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Día 4</a:t>
            </a:r>
            <a:endParaRPr b="0" i="0" sz="1400" u="none" cap="none" strike="noStrike">
              <a:solidFill>
                <a:srgbClr val="0C3F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65"/>
          <p:cNvSpPr/>
          <p:nvPr/>
        </p:nvSpPr>
        <p:spPr>
          <a:xfrm>
            <a:off x="7250113" y="1461350"/>
            <a:ext cx="1803000" cy="208800"/>
          </a:xfrm>
          <a:prstGeom prst="rect">
            <a:avLst/>
          </a:prstGeom>
          <a:solidFill>
            <a:srgbClr val="113D5C"/>
          </a:solidFill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Día 5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9" name="Google Shape;57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0913" y="2642675"/>
            <a:ext cx="270175" cy="270175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65"/>
          <p:cNvSpPr txBox="1"/>
          <p:nvPr/>
        </p:nvSpPr>
        <p:spPr>
          <a:xfrm>
            <a:off x="47900" y="2974613"/>
            <a:ext cx="18030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rPr b="1"/>
              <a:t>Sesión 1: </a:t>
            </a:r>
            <a:r>
              <a:t>Pasar Tiempo Uno a Uno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(5 min)</a:t>
            </a:r>
            <a:endParaRPr i="0" sz="13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1" name="Google Shape;581;p65"/>
          <p:cNvSpPr txBox="1"/>
          <p:nvPr/>
        </p:nvSpPr>
        <p:spPr>
          <a:xfrm>
            <a:off x="1831200" y="2974613"/>
            <a:ext cx="1803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rPr b="1"/>
              <a:t>Sesión 2: </a:t>
            </a:r>
            <a:r>
              <a:t>Dar Reconocimiento 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(5 min)  </a:t>
            </a:r>
            <a:endParaRPr i="0" sz="13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2" name="Google Shape;582;p65"/>
          <p:cNvSpPr txBox="1"/>
          <p:nvPr/>
        </p:nvSpPr>
        <p:spPr>
          <a:xfrm>
            <a:off x="3757288" y="2974613"/>
            <a:ext cx="16800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rPr b="1"/>
              <a:t>Sesión 3: </a:t>
            </a:r>
            <a:r>
              <a:t>Crear una Rutina para el Tiempo Uno a Uno 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(5 min) </a:t>
            </a:r>
            <a:endParaRPr i="0" sz="1100" u="none" cap="none" strike="noStrike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3" name="Google Shape;583;p65"/>
          <p:cNvSpPr txBox="1"/>
          <p:nvPr/>
        </p:nvSpPr>
        <p:spPr>
          <a:xfrm>
            <a:off x="5437263" y="2974613"/>
            <a:ext cx="18030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rPr b="1"/>
              <a:t>Sesión 4: </a:t>
            </a:r>
            <a:r>
              <a:t>Identificar Emociones y Sentimientos durante el Tiempo Uno a Uno 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(5 min)</a:t>
            </a:r>
            <a:endParaRPr i="0" sz="13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4" name="Google Shape;584;p65"/>
          <p:cNvSpPr txBox="1"/>
          <p:nvPr/>
        </p:nvSpPr>
        <p:spPr>
          <a:xfrm>
            <a:off x="7293100" y="2974613"/>
            <a:ext cx="18030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rPr b="1"/>
              <a:t>Sesión 5: </a:t>
            </a:r>
            <a:r>
              <a:t>Mantener la Calma Cuando Haya Estrés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(5 min) 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5" name="Google Shape;585;p65"/>
          <p:cNvSpPr txBox="1"/>
          <p:nvPr/>
        </p:nvSpPr>
        <p:spPr>
          <a:xfrm>
            <a:off x="7230675" y="4211950"/>
            <a:ext cx="18030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Discusión de Cierre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(5 min)</a:t>
            </a:r>
            <a:endParaRPr i="0" sz="1100" u="none" cap="none" strike="noStrike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6" name="Google Shape;586;p65"/>
          <p:cNvSpPr txBox="1"/>
          <p:nvPr/>
        </p:nvSpPr>
        <p:spPr>
          <a:xfrm>
            <a:off x="3624575" y="4211950"/>
            <a:ext cx="18030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Discusión sobre el Diálogo Interno (15 min) </a:t>
            </a:r>
            <a:endParaRPr i="0" sz="13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7" name="Google Shape;587;p65"/>
          <p:cNvSpPr txBox="1"/>
          <p:nvPr/>
        </p:nvSpPr>
        <p:spPr>
          <a:xfrm>
            <a:off x="67525" y="2111850"/>
            <a:ext cx="17736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Sesión de Integración 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(2 horas)</a:t>
            </a:r>
            <a:endParaRPr i="0" sz="13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8" name="Google Shape;588;p65"/>
          <p:cNvSpPr txBox="1"/>
          <p:nvPr/>
        </p:nvSpPr>
        <p:spPr>
          <a:xfrm>
            <a:off x="676100" y="857444"/>
            <a:ext cx="23598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chemeClr val="accent5"/>
                </a:solidFill>
              </a:defRPr>
            </a:pPr>
            <a:r>
              <a:t>Sesión </a:t>
            </a:r>
            <a:r>
              <a:rPr>
                <a:latin typeface="Arial"/>
                <a:ea typeface="Arial"/>
                <a:cs typeface="Arial"/>
                <a:sym typeface="Arial"/>
              </a:rPr>
              <a:t>Presencial</a:t>
            </a:r>
            <a:r>
              <a:t> </a:t>
            </a:r>
            <a:endParaRPr b="0" i="0" sz="1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65"/>
          <p:cNvSpPr txBox="1"/>
          <p:nvPr/>
        </p:nvSpPr>
        <p:spPr>
          <a:xfrm>
            <a:off x="3453775" y="785444"/>
            <a:ext cx="19467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13D5C"/>
                </a:solidFill>
              </a:defRPr>
            </a:pPr>
            <a:r>
              <a:t>Sesiones en el Chatbot de Crianza con Conciencia +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590" name="Google Shape;590;p65"/>
          <p:cNvSpPr txBox="1"/>
          <p:nvPr/>
        </p:nvSpPr>
        <p:spPr>
          <a:xfrm>
            <a:off x="6371250" y="695444"/>
            <a:ext cx="19467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13D5C"/>
                </a:solidFill>
              </a:defRPr>
            </a:pPr>
            <a:r>
              <a:t>Discusión en el Grupo de Comunidad de WhatsApp moderado por el Facilitador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1" name="Google Shape;591;p65"/>
          <p:cNvGrpSpPr/>
          <p:nvPr/>
        </p:nvGrpSpPr>
        <p:grpSpPr>
          <a:xfrm>
            <a:off x="258215" y="857444"/>
            <a:ext cx="372300" cy="372300"/>
            <a:chOff x="6166865" y="140342"/>
            <a:chExt cx="372300" cy="372300"/>
          </a:xfrm>
        </p:grpSpPr>
        <p:sp>
          <p:nvSpPr>
            <p:cNvPr id="592" name="Google Shape;592;p65"/>
            <p:cNvSpPr/>
            <p:nvPr/>
          </p:nvSpPr>
          <p:spPr>
            <a:xfrm>
              <a:off x="6166865" y="140342"/>
              <a:ext cx="372300" cy="372300"/>
            </a:xfrm>
            <a:prstGeom prst="ellipse">
              <a:avLst/>
            </a:prstGeom>
            <a:solidFill>
              <a:srgbClr val="0D3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3" name="Google Shape;593;p6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53825" y="222075"/>
              <a:ext cx="2088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4" name="Google Shape;594;p65"/>
          <p:cNvGrpSpPr/>
          <p:nvPr/>
        </p:nvGrpSpPr>
        <p:grpSpPr>
          <a:xfrm>
            <a:off x="3035896" y="857444"/>
            <a:ext cx="372300" cy="372300"/>
            <a:chOff x="6172071" y="582117"/>
            <a:chExt cx="372300" cy="372300"/>
          </a:xfrm>
        </p:grpSpPr>
        <p:sp>
          <p:nvSpPr>
            <p:cNvPr id="595" name="Google Shape;595;p65"/>
            <p:cNvSpPr/>
            <p:nvPr/>
          </p:nvSpPr>
          <p:spPr>
            <a:xfrm>
              <a:off x="6172071" y="582117"/>
              <a:ext cx="372300" cy="372300"/>
            </a:xfrm>
            <a:prstGeom prst="ellipse">
              <a:avLst/>
            </a:prstGeom>
            <a:solidFill>
              <a:srgbClr val="0096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6" name="Google Shape;596;p6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23138" y="633188"/>
              <a:ext cx="270177" cy="270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7" name="Google Shape;597;p65"/>
          <p:cNvGrpSpPr/>
          <p:nvPr/>
        </p:nvGrpSpPr>
        <p:grpSpPr>
          <a:xfrm>
            <a:off x="5978865" y="857444"/>
            <a:ext cx="372300" cy="372300"/>
            <a:chOff x="6192365" y="1173617"/>
            <a:chExt cx="372300" cy="372300"/>
          </a:xfrm>
        </p:grpSpPr>
        <p:sp>
          <p:nvSpPr>
            <p:cNvPr id="598" name="Google Shape;598;p65"/>
            <p:cNvSpPr/>
            <p:nvPr/>
          </p:nvSpPr>
          <p:spPr>
            <a:xfrm>
              <a:off x="6192365" y="1173617"/>
              <a:ext cx="372300" cy="372300"/>
            </a:xfrm>
            <a:prstGeom prst="ellipse">
              <a:avLst/>
            </a:prstGeom>
            <a:solidFill>
              <a:srgbClr val="D6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9" name="Google Shape;599;p65"/>
            <p:cNvPicPr preferRelativeResize="0"/>
            <p:nvPr/>
          </p:nvPicPr>
          <p:blipFill rotWithShape="1">
            <a:blip r:embed="rId6">
              <a:alphaModFix/>
            </a:blip>
            <a:srcRect b="2606" l="0" r="0" t="2606"/>
            <a:stretch/>
          </p:blipFill>
          <p:spPr>
            <a:xfrm>
              <a:off x="6282297" y="1255387"/>
              <a:ext cx="2088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0" name="Google Shape;600;p65"/>
          <p:cNvGrpSpPr/>
          <p:nvPr/>
        </p:nvGrpSpPr>
        <p:grpSpPr>
          <a:xfrm>
            <a:off x="753603" y="1739554"/>
            <a:ext cx="372300" cy="372300"/>
            <a:chOff x="6166865" y="140342"/>
            <a:chExt cx="372300" cy="372300"/>
          </a:xfrm>
        </p:grpSpPr>
        <p:sp>
          <p:nvSpPr>
            <p:cNvPr id="601" name="Google Shape;601;p65"/>
            <p:cNvSpPr/>
            <p:nvPr/>
          </p:nvSpPr>
          <p:spPr>
            <a:xfrm>
              <a:off x="6166865" y="140342"/>
              <a:ext cx="372300" cy="372300"/>
            </a:xfrm>
            <a:prstGeom prst="ellipse">
              <a:avLst/>
            </a:prstGeom>
            <a:solidFill>
              <a:srgbClr val="0D3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02" name="Google Shape;602;p6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53825" y="222075"/>
              <a:ext cx="2088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3" name="Google Shape;603;p65"/>
          <p:cNvGrpSpPr/>
          <p:nvPr/>
        </p:nvGrpSpPr>
        <p:grpSpPr>
          <a:xfrm>
            <a:off x="2615796" y="2614398"/>
            <a:ext cx="372300" cy="372300"/>
            <a:chOff x="6172071" y="582117"/>
            <a:chExt cx="372300" cy="372300"/>
          </a:xfrm>
        </p:grpSpPr>
        <p:sp>
          <p:nvSpPr>
            <p:cNvPr id="604" name="Google Shape;604;p65"/>
            <p:cNvSpPr/>
            <p:nvPr/>
          </p:nvSpPr>
          <p:spPr>
            <a:xfrm>
              <a:off x="6172071" y="582117"/>
              <a:ext cx="372300" cy="372300"/>
            </a:xfrm>
            <a:prstGeom prst="ellipse">
              <a:avLst/>
            </a:prstGeom>
            <a:solidFill>
              <a:srgbClr val="0096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05" name="Google Shape;605;p6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23138" y="633188"/>
              <a:ext cx="270177" cy="270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6" name="Google Shape;606;p65"/>
          <p:cNvGrpSpPr/>
          <p:nvPr/>
        </p:nvGrpSpPr>
        <p:grpSpPr>
          <a:xfrm>
            <a:off x="4349734" y="2614398"/>
            <a:ext cx="372300" cy="372300"/>
            <a:chOff x="6172071" y="582117"/>
            <a:chExt cx="372300" cy="372300"/>
          </a:xfrm>
        </p:grpSpPr>
        <p:sp>
          <p:nvSpPr>
            <p:cNvPr id="607" name="Google Shape;607;p65"/>
            <p:cNvSpPr/>
            <p:nvPr/>
          </p:nvSpPr>
          <p:spPr>
            <a:xfrm>
              <a:off x="6172071" y="582117"/>
              <a:ext cx="372300" cy="372300"/>
            </a:xfrm>
            <a:prstGeom prst="ellipse">
              <a:avLst/>
            </a:prstGeom>
            <a:solidFill>
              <a:srgbClr val="0096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08" name="Google Shape;608;p6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23138" y="633188"/>
              <a:ext cx="270177" cy="270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9" name="Google Shape;609;p65"/>
          <p:cNvGrpSpPr/>
          <p:nvPr/>
        </p:nvGrpSpPr>
        <p:grpSpPr>
          <a:xfrm>
            <a:off x="6144559" y="2614398"/>
            <a:ext cx="372300" cy="372300"/>
            <a:chOff x="6172071" y="582117"/>
            <a:chExt cx="372300" cy="372300"/>
          </a:xfrm>
        </p:grpSpPr>
        <p:sp>
          <p:nvSpPr>
            <p:cNvPr id="610" name="Google Shape;610;p65"/>
            <p:cNvSpPr/>
            <p:nvPr/>
          </p:nvSpPr>
          <p:spPr>
            <a:xfrm>
              <a:off x="6172071" y="582117"/>
              <a:ext cx="372300" cy="372300"/>
            </a:xfrm>
            <a:prstGeom prst="ellipse">
              <a:avLst/>
            </a:prstGeom>
            <a:solidFill>
              <a:srgbClr val="0096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11" name="Google Shape;611;p6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23138" y="633188"/>
              <a:ext cx="270177" cy="270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2" name="Google Shape;612;p65"/>
          <p:cNvGrpSpPr/>
          <p:nvPr/>
        </p:nvGrpSpPr>
        <p:grpSpPr>
          <a:xfrm>
            <a:off x="743708" y="2614380"/>
            <a:ext cx="372300" cy="372300"/>
            <a:chOff x="6172071" y="582117"/>
            <a:chExt cx="372300" cy="372300"/>
          </a:xfrm>
        </p:grpSpPr>
        <p:sp>
          <p:nvSpPr>
            <p:cNvPr id="613" name="Google Shape;613;p65"/>
            <p:cNvSpPr/>
            <p:nvPr/>
          </p:nvSpPr>
          <p:spPr>
            <a:xfrm>
              <a:off x="6172071" y="582117"/>
              <a:ext cx="372300" cy="372300"/>
            </a:xfrm>
            <a:prstGeom prst="ellipse">
              <a:avLst/>
            </a:prstGeom>
            <a:solidFill>
              <a:srgbClr val="0096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14" name="Google Shape;614;p6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23138" y="633188"/>
              <a:ext cx="270177" cy="270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5" name="Google Shape;615;p65"/>
          <p:cNvGrpSpPr/>
          <p:nvPr/>
        </p:nvGrpSpPr>
        <p:grpSpPr>
          <a:xfrm>
            <a:off x="7955759" y="2614398"/>
            <a:ext cx="372300" cy="372300"/>
            <a:chOff x="6172071" y="582117"/>
            <a:chExt cx="372300" cy="372300"/>
          </a:xfrm>
        </p:grpSpPr>
        <p:sp>
          <p:nvSpPr>
            <p:cNvPr id="616" name="Google Shape;616;p65"/>
            <p:cNvSpPr/>
            <p:nvPr/>
          </p:nvSpPr>
          <p:spPr>
            <a:xfrm>
              <a:off x="6172071" y="582117"/>
              <a:ext cx="372300" cy="372300"/>
            </a:xfrm>
            <a:prstGeom prst="ellipse">
              <a:avLst/>
            </a:prstGeom>
            <a:solidFill>
              <a:srgbClr val="0096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17" name="Google Shape;617;p6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23138" y="633188"/>
              <a:ext cx="270177" cy="270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8" name="Google Shape;618;p65"/>
          <p:cNvGrpSpPr/>
          <p:nvPr/>
        </p:nvGrpSpPr>
        <p:grpSpPr>
          <a:xfrm>
            <a:off x="4385852" y="3885373"/>
            <a:ext cx="372300" cy="372300"/>
            <a:chOff x="6192365" y="1098867"/>
            <a:chExt cx="372300" cy="372300"/>
          </a:xfrm>
        </p:grpSpPr>
        <p:sp>
          <p:nvSpPr>
            <p:cNvPr id="619" name="Google Shape;619;p65"/>
            <p:cNvSpPr/>
            <p:nvPr/>
          </p:nvSpPr>
          <p:spPr>
            <a:xfrm>
              <a:off x="6192365" y="1098867"/>
              <a:ext cx="372300" cy="372300"/>
            </a:xfrm>
            <a:prstGeom prst="ellipse">
              <a:avLst/>
            </a:prstGeom>
            <a:solidFill>
              <a:srgbClr val="D6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20" name="Google Shape;620;p65"/>
            <p:cNvPicPr preferRelativeResize="0"/>
            <p:nvPr/>
          </p:nvPicPr>
          <p:blipFill rotWithShape="1">
            <a:blip r:embed="rId6">
              <a:alphaModFix/>
            </a:blip>
            <a:srcRect b="2606" l="0" r="0" t="2606"/>
            <a:stretch/>
          </p:blipFill>
          <p:spPr>
            <a:xfrm>
              <a:off x="6282297" y="1180612"/>
              <a:ext cx="2088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1" name="Google Shape;621;p65"/>
          <p:cNvGrpSpPr/>
          <p:nvPr/>
        </p:nvGrpSpPr>
        <p:grpSpPr>
          <a:xfrm>
            <a:off x="7991828" y="3885373"/>
            <a:ext cx="372300" cy="372300"/>
            <a:chOff x="6192365" y="1098867"/>
            <a:chExt cx="372300" cy="372300"/>
          </a:xfrm>
        </p:grpSpPr>
        <p:sp>
          <p:nvSpPr>
            <p:cNvPr id="622" name="Google Shape;622;p65"/>
            <p:cNvSpPr/>
            <p:nvPr/>
          </p:nvSpPr>
          <p:spPr>
            <a:xfrm>
              <a:off x="6192365" y="1098867"/>
              <a:ext cx="372300" cy="372300"/>
            </a:xfrm>
            <a:prstGeom prst="ellipse">
              <a:avLst/>
            </a:prstGeom>
            <a:solidFill>
              <a:srgbClr val="D6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23" name="Google Shape;623;p65"/>
            <p:cNvPicPr preferRelativeResize="0"/>
            <p:nvPr/>
          </p:nvPicPr>
          <p:blipFill rotWithShape="1">
            <a:blip r:embed="rId7">
              <a:alphaModFix/>
            </a:blip>
            <a:srcRect b="2606" l="0" r="0" t="2606"/>
            <a:stretch/>
          </p:blipFill>
          <p:spPr>
            <a:xfrm>
              <a:off x="6282297" y="1180612"/>
              <a:ext cx="2088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4" name="Google Shape;624;p65"/>
          <p:cNvGrpSpPr/>
          <p:nvPr/>
        </p:nvGrpSpPr>
        <p:grpSpPr>
          <a:xfrm>
            <a:off x="779877" y="3885373"/>
            <a:ext cx="372300" cy="372300"/>
            <a:chOff x="6192365" y="1098867"/>
            <a:chExt cx="372300" cy="372300"/>
          </a:xfrm>
        </p:grpSpPr>
        <p:sp>
          <p:nvSpPr>
            <p:cNvPr id="625" name="Google Shape;625;p65"/>
            <p:cNvSpPr/>
            <p:nvPr/>
          </p:nvSpPr>
          <p:spPr>
            <a:xfrm>
              <a:off x="6192365" y="1098867"/>
              <a:ext cx="372300" cy="372300"/>
            </a:xfrm>
            <a:prstGeom prst="ellipse">
              <a:avLst/>
            </a:prstGeom>
            <a:solidFill>
              <a:srgbClr val="D6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26" name="Google Shape;626;p65"/>
            <p:cNvPicPr preferRelativeResize="0"/>
            <p:nvPr/>
          </p:nvPicPr>
          <p:blipFill rotWithShape="1">
            <a:blip r:embed="rId6">
              <a:alphaModFix/>
            </a:blip>
            <a:srcRect b="2606" l="0" r="0" t="2606"/>
            <a:stretch/>
          </p:blipFill>
          <p:spPr>
            <a:xfrm>
              <a:off x="6282297" y="1180612"/>
              <a:ext cx="2088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7" name="Google Shape;627;p65"/>
          <p:cNvSpPr txBox="1"/>
          <p:nvPr/>
        </p:nvSpPr>
        <p:spPr>
          <a:xfrm>
            <a:off x="38075" y="4211950"/>
            <a:ext cx="18030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Bienvenida y Presentaciones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(10 min) 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28" name="Google Shape;628;p65"/>
          <p:cNvCxnSpPr/>
          <p:nvPr/>
        </p:nvCxnSpPr>
        <p:spPr>
          <a:xfrm>
            <a:off x="1841113" y="1565750"/>
            <a:ext cx="0" cy="325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65"/>
          <p:cNvCxnSpPr/>
          <p:nvPr/>
        </p:nvCxnSpPr>
        <p:spPr>
          <a:xfrm flipH="1">
            <a:off x="3637525" y="1528325"/>
            <a:ext cx="4800" cy="330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" name="Google Shape;630;p65"/>
          <p:cNvCxnSpPr/>
          <p:nvPr/>
        </p:nvCxnSpPr>
        <p:spPr>
          <a:xfrm>
            <a:off x="5443675" y="1461350"/>
            <a:ext cx="8700" cy="335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65"/>
          <p:cNvCxnSpPr/>
          <p:nvPr/>
        </p:nvCxnSpPr>
        <p:spPr>
          <a:xfrm>
            <a:off x="7262338" y="1461350"/>
            <a:ext cx="8700" cy="335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2" name="Google Shape;632;p65"/>
          <p:cNvSpPr/>
          <p:nvPr/>
        </p:nvSpPr>
        <p:spPr>
          <a:xfrm>
            <a:off x="89850" y="1702613"/>
            <a:ext cx="1680000" cy="8793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3" name="Google Shape;633;p65"/>
          <p:cNvSpPr/>
          <p:nvPr/>
        </p:nvSpPr>
        <p:spPr>
          <a:xfrm>
            <a:off x="95725" y="3759725"/>
            <a:ext cx="8808000" cy="11193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634" name="Google Shape;634;p65"/>
          <p:cNvCxnSpPr>
            <a:stCxn id="632" idx="3"/>
            <a:endCxn id="635" idx="1"/>
          </p:cNvCxnSpPr>
          <p:nvPr/>
        </p:nvCxnSpPr>
        <p:spPr>
          <a:xfrm>
            <a:off x="1769850" y="2142263"/>
            <a:ext cx="333300" cy="2157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5" name="Google Shape;635;p65"/>
          <p:cNvSpPr txBox="1"/>
          <p:nvPr/>
        </p:nvSpPr>
        <p:spPr>
          <a:xfrm>
            <a:off x="2103025" y="1834463"/>
            <a:ext cx="2162100" cy="1046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Necesitarás: el Manual del Facilitador, las Diapositivas y el chatbot de Crianza con Conciencia +</a:t>
            </a:r>
          </a:p>
        </p:txBody>
      </p:sp>
      <p:cxnSp>
        <p:nvCxnSpPr>
          <p:cNvPr id="636" name="Google Shape;636;p65"/>
          <p:cNvCxnSpPr>
            <a:stCxn id="633" idx="0"/>
            <a:endCxn id="637" idx="2"/>
          </p:cNvCxnSpPr>
          <p:nvPr/>
        </p:nvCxnSpPr>
        <p:spPr>
          <a:xfrm flipH="1" rot="10800000">
            <a:off x="4499725" y="2706725"/>
            <a:ext cx="2992500" cy="10530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7" name="Google Shape;637;p65"/>
          <p:cNvSpPr txBox="1"/>
          <p:nvPr/>
        </p:nvSpPr>
        <p:spPr>
          <a:xfrm>
            <a:off x="6202025" y="1875375"/>
            <a:ext cx="2580300" cy="831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Necesitarás: La App de Formando Conciencia + y el Grupo de WhatsApp con padres, madres y cuidadores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66"/>
          <p:cNvSpPr/>
          <p:nvPr/>
        </p:nvSpPr>
        <p:spPr>
          <a:xfrm rot="-5400000">
            <a:off x="3126000" y="-2924775"/>
            <a:ext cx="480900" cy="67329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66"/>
          <p:cNvSpPr txBox="1"/>
          <p:nvPr/>
        </p:nvSpPr>
        <p:spPr>
          <a:xfrm>
            <a:off x="286222" y="1975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Resumen General del Taller de Formación de Facilitadores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66"/>
          <p:cNvSpPr txBox="1"/>
          <p:nvPr/>
        </p:nvSpPr>
        <p:spPr>
          <a:xfrm>
            <a:off x="286225" y="828900"/>
            <a:ext cx="5100600" cy="40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rgbClr val="DB3614"/>
                </a:solidFill>
              </a:defRPr>
            </a:pPr>
            <a:r>
              <a:t>Al final del taller, serás capaz de: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b="0" i="0" sz="14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4060"/>
              </a:buClr>
              <a:buSzPts val="1300"/>
              <a:buChar char="●"/>
              <a:defRPr sz="1300">
                <a:solidFill>
                  <a:srgbClr val="0B4060"/>
                </a:solidFill>
              </a:defRPr>
            </a:pPr>
            <a:r>
              <a:t>Articular el propósito de Crianza con Conciencia +. </a:t>
            </a:r>
            <a:endParaRPr sz="1300">
              <a:solidFill>
                <a:srgbClr val="0B4060"/>
              </a:solidFill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300"/>
              <a:buChar char="●"/>
              <a:defRPr sz="1300">
                <a:solidFill>
                  <a:srgbClr val="0B4060"/>
                </a:solidFill>
              </a:defRPr>
            </a:pPr>
            <a:r>
              <a:t>Usar y formar a los padres, madres y cuidadores en la tecnología del chatbot Crianza con Conciencia.</a:t>
            </a:r>
            <a:endParaRPr sz="1300">
              <a:solidFill>
                <a:srgbClr val="0B4060"/>
              </a:solidFill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300"/>
              <a:buChar char="●"/>
              <a:defRPr sz="1300">
                <a:solidFill>
                  <a:srgbClr val="0B4060"/>
                </a:solidFill>
              </a:defRPr>
            </a:pPr>
            <a:r>
              <a:t>Impartir la sesión de integración presencial.</a:t>
            </a:r>
            <a:endParaRPr sz="1300">
              <a:solidFill>
                <a:srgbClr val="0B4060"/>
              </a:solidFill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300"/>
              <a:buChar char="●"/>
              <a:defRPr sz="1300">
                <a:solidFill>
                  <a:srgbClr val="0B4060"/>
                </a:solidFill>
              </a:defRPr>
            </a:pPr>
            <a:r>
              <a:t>Usar la App Formando Conciencia + para conectar el identificador único de los padres e informar sobre su asistencia.</a:t>
            </a:r>
            <a:endParaRPr sz="1300">
              <a:solidFill>
                <a:srgbClr val="0B4060"/>
              </a:solidFill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300"/>
              <a:buChar char="●"/>
              <a:defRPr sz="1300">
                <a:solidFill>
                  <a:srgbClr val="0B4060"/>
                </a:solidFill>
              </a:defRPr>
            </a:pPr>
            <a:r>
              <a:t>Sesiones de chat para facilitadores sobre el diálogo interno y el estrés. </a:t>
            </a:r>
            <a:endParaRPr sz="1300">
              <a:solidFill>
                <a:srgbClr val="0B4060"/>
              </a:solidFill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300"/>
              <a:buChar char="●"/>
              <a:defRPr sz="1300">
                <a:solidFill>
                  <a:srgbClr val="0B4060"/>
                </a:solidFill>
              </a:defRPr>
            </a:pPr>
            <a:r>
              <a:t>Proporcionar a los padres, madres y cuidadores apoyo para la resolución de problemas y la salvaguarda de sus niños, niñas y adolescentes.</a:t>
            </a:r>
            <a:endParaRPr sz="1300">
              <a:solidFill>
                <a:srgbClr val="0B4060"/>
              </a:solidFill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300"/>
              <a:buChar char="●"/>
              <a:defRPr sz="1300">
                <a:solidFill>
                  <a:srgbClr val="0B4060"/>
                </a:solidFill>
              </a:defRPr>
            </a:pPr>
            <a:r>
              <a:t>Recibir un certificado por participar en el taller de formación</a:t>
            </a:r>
            <a:endParaRPr sz="1300">
              <a:solidFill>
                <a:srgbClr val="0B406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b="0" i="0" sz="16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5" name="Google Shape;645;p66"/>
          <p:cNvPicPr preferRelativeResize="0"/>
          <p:nvPr/>
        </p:nvPicPr>
        <p:blipFill rotWithShape="1">
          <a:blip r:embed="rId3">
            <a:alphaModFix/>
          </a:blip>
          <a:srcRect b="0" l="12502" r="12495" t="0"/>
          <a:stretch/>
        </p:blipFill>
        <p:spPr>
          <a:xfrm>
            <a:off x="5386882" y="828892"/>
            <a:ext cx="3210600" cy="3210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46" name="Google Shape;646;p66"/>
          <p:cNvSpPr/>
          <p:nvPr/>
        </p:nvSpPr>
        <p:spPr>
          <a:xfrm rot="-2420111">
            <a:off x="8172336" y="1159334"/>
            <a:ext cx="847730" cy="365651"/>
          </a:xfrm>
          <a:prstGeom prst="roundRect">
            <a:avLst>
              <a:gd fmla="val 50000" name="adj"/>
            </a:avLst>
          </a:prstGeom>
          <a:solidFill>
            <a:srgbClr val="019F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66"/>
          <p:cNvSpPr/>
          <p:nvPr/>
        </p:nvSpPr>
        <p:spPr>
          <a:xfrm rot="-5400000">
            <a:off x="7880634" y="3608491"/>
            <a:ext cx="304500" cy="358500"/>
          </a:xfrm>
          <a:prstGeom prst="rtTriangle">
            <a:avLst/>
          </a:prstGeom>
          <a:solidFill>
            <a:srgbClr val="EF16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66"/>
          <p:cNvSpPr/>
          <p:nvPr/>
        </p:nvSpPr>
        <p:spPr>
          <a:xfrm rot="-5400000">
            <a:off x="7697752" y="3453171"/>
            <a:ext cx="304500" cy="358500"/>
          </a:xfrm>
          <a:prstGeom prst="rtTriangle">
            <a:avLst/>
          </a:prstGeom>
          <a:solidFill>
            <a:srgbClr val="EF16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67"/>
          <p:cNvSpPr/>
          <p:nvPr/>
        </p:nvSpPr>
        <p:spPr>
          <a:xfrm rot="-5400000">
            <a:off x="3126000" y="-2924775"/>
            <a:ext cx="480900" cy="67329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solidFill>
                  <a:schemeClr val="lt1"/>
                </a:solidFill>
              </a:defRPr>
            </a:pPr>
            <a:r>
              <a:t>º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67"/>
          <p:cNvSpPr txBox="1"/>
          <p:nvPr/>
        </p:nvSpPr>
        <p:spPr>
          <a:xfrm>
            <a:off x="-18578" y="1975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Resumen de la Capacitación de Facilitadores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67"/>
          <p:cNvSpPr txBox="1"/>
          <p:nvPr/>
        </p:nvSpPr>
        <p:spPr>
          <a:xfrm>
            <a:off x="6923150" y="264675"/>
            <a:ext cx="2068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rgbClr val="DB3514"/>
                </a:solidFill>
              </a:defRPr>
            </a:pPr>
            <a:r>
              <a:t>Programa para el Día 1: </a:t>
            </a:r>
            <a:endParaRPr b="0" i="0" sz="1600" u="none" cap="none" strike="noStrike">
              <a:solidFill>
                <a:srgbClr val="DB351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56" name="Google Shape;656;p67"/>
          <p:cNvGraphicFramePr/>
          <p:nvPr/>
        </p:nvGraphicFramePr>
        <p:xfrm>
          <a:off x="239988" y="81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{14496B87-5704-4777-A86E-75ADE45BAD4F}</a:tableStyleId>
              </a:tblPr>
              <a:tblGrid>
                <a:gridCol w="1039300"/>
                <a:gridCol w="2759600"/>
                <a:gridCol w="4865125"/>
              </a:tblGrid>
              <a:tr h="24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300">
                          <a:solidFill>
                            <a:srgbClr val="113D5C"/>
                          </a:solidFill>
                        </a:defRPr>
                      </a:pPr>
                      <a:r>
                        <a:t>Tiempo</a:t>
                      </a:r>
                      <a:endParaRPr b="1" sz="1300">
                        <a:solidFill>
                          <a:srgbClr val="113D5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300">
                          <a:solidFill>
                            <a:srgbClr val="113D5C"/>
                          </a:solidFill>
                        </a:defRPr>
                      </a:pPr>
                      <a:r>
                        <a:t>Módulo</a:t>
                      </a:r>
                      <a:endParaRPr b="1" sz="1300">
                        <a:solidFill>
                          <a:srgbClr val="113D5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300">
                          <a:solidFill>
                            <a:srgbClr val="113D5C"/>
                          </a:solidFill>
                        </a:defRPr>
                      </a:pPr>
                      <a:r>
                        <a:t>Actividades</a:t>
                      </a:r>
                      <a:endParaRPr b="1" sz="1300">
                        <a:solidFill>
                          <a:srgbClr val="113D5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12:00-12:55</a:t>
                      </a:r>
                      <a:endParaRPr b="1" sz="1200">
                        <a:solidFill>
                          <a:srgbClr val="113D5C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Módulo 1: Introducción al Programa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Bienvenida y Presentaciones</a:t>
                      </a:r>
                      <a:endParaRPr sz="1200">
                        <a:solidFill>
                          <a:srgbClr val="113D5C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Resumen de la Capacitación de Facilitadores y del Programa Crianza con Conciencia +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Módulo 2: Aceptar, Explorar, Conectar, Practicar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Estrategia para Facilitar el Grupo y conversaciones en Chat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12:55-13:00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200"/>
                      </a:pPr>
                      <a:r>
                        <a:rPr>
                          <a:solidFill>
                            <a:srgbClr val="113D5C"/>
                          </a:solidFill>
                        </a:rPr>
                        <a:t>                                                       </a:t>
                      </a:r>
                      <a:r>
                        <a:rPr>
                          <a:solidFill>
                            <a:schemeClr val="lt1"/>
                          </a:solidFill>
                        </a:rPr>
                        <a:t>  Pausa Activa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D7D31"/>
                    </a:solidFill>
                  </a:tcPr>
                </a:tc>
                <a:tc hMerge="1"/>
              </a:tr>
              <a:tr h="381000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13:00-13:55</a:t>
                      </a:r>
                      <a:endParaRPr b="1" sz="1200">
                        <a:solidFill>
                          <a:srgbClr val="113D5C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Módulo 3: Demostración en vivo de la Sesión de Integración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Introducción a la Sesión de Integración</a:t>
                      </a:r>
                      <a:endParaRPr sz="1200">
                        <a:solidFill>
                          <a:srgbClr val="113D5C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Demostración en vivo del Programa CC+ en WA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Módulo 4: Configuración de la aplicación Formando Conciencia +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Introducción a la App Formando Conciencia +</a:t>
                      </a:r>
                      <a:endParaRPr sz="1200">
                        <a:solidFill>
                          <a:srgbClr val="113D5C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Descripción de la interfaz de la App Formando Conciencia +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13:55-14:00</a:t>
                      </a:r>
                      <a:endParaRPr b="1" sz="1200">
                        <a:solidFill>
                          <a:srgbClr val="113D5C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Despedida</a:t>
                      </a:r>
                      <a:endParaRPr b="1" sz="1200">
                        <a:solidFill>
                          <a:srgbClr val="113D5C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Reflexión</a:t>
                      </a:r>
                      <a:endParaRPr sz="1200">
                        <a:solidFill>
                          <a:srgbClr val="113D5C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Actividad para casa</a:t>
                      </a:r>
                      <a:endParaRPr sz="1200">
                        <a:solidFill>
                          <a:srgbClr val="113D5C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Preguntas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68"/>
          <p:cNvSpPr/>
          <p:nvPr/>
        </p:nvSpPr>
        <p:spPr>
          <a:xfrm rot="-5400000">
            <a:off x="3126000" y="-2924775"/>
            <a:ext cx="480900" cy="67329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68"/>
          <p:cNvSpPr txBox="1"/>
          <p:nvPr/>
        </p:nvSpPr>
        <p:spPr>
          <a:xfrm>
            <a:off x="286222" y="1975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Resumen General del Taller de Formación de Facilitadores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68"/>
          <p:cNvSpPr txBox="1"/>
          <p:nvPr/>
        </p:nvSpPr>
        <p:spPr>
          <a:xfrm>
            <a:off x="6818350" y="264675"/>
            <a:ext cx="2049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rgbClr val="DB3614"/>
                </a:solidFill>
              </a:defRPr>
            </a:pPr>
            <a:r>
              <a:t>Programa para el Día 2: </a:t>
            </a:r>
            <a:endParaRPr b="0" i="0" sz="16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4" name="Google Shape;664;p68"/>
          <p:cNvGraphicFramePr/>
          <p:nvPr/>
        </p:nvGraphicFramePr>
        <p:xfrm>
          <a:off x="239988" y="81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{14496B87-5704-4777-A86E-75ADE45BAD4F}</a:tableStyleId>
              </a:tblPr>
              <a:tblGrid>
                <a:gridCol w="1039300"/>
                <a:gridCol w="2759600"/>
                <a:gridCol w="4865125"/>
              </a:tblGrid>
              <a:tr h="24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300">
                          <a:solidFill>
                            <a:srgbClr val="113D5C"/>
                          </a:solidFill>
                        </a:defRPr>
                      </a:pPr>
                      <a:r>
                        <a:t>Tiempo</a:t>
                      </a:r>
                      <a:endParaRPr b="1" sz="1300">
                        <a:solidFill>
                          <a:srgbClr val="113D5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300">
                          <a:solidFill>
                            <a:srgbClr val="113D5C"/>
                          </a:solidFill>
                        </a:defRPr>
                      </a:pPr>
                      <a:r>
                        <a:t>Módulo</a:t>
                      </a:r>
                      <a:endParaRPr b="1" sz="1300">
                        <a:solidFill>
                          <a:srgbClr val="113D5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300">
                          <a:solidFill>
                            <a:srgbClr val="113D5C"/>
                          </a:solidFill>
                        </a:defRPr>
                      </a:pPr>
                      <a:r>
                        <a:t>Actividades</a:t>
                      </a:r>
                      <a:endParaRPr b="1" sz="1300">
                        <a:solidFill>
                          <a:srgbClr val="113D5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12:00-12:40</a:t>
                      </a:r>
                      <a:endParaRPr b="1" sz="1200">
                        <a:solidFill>
                          <a:srgbClr val="113D5C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Bienvenida y registro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Recordatorios y registro</a:t>
                      </a:r>
                      <a:endParaRPr sz="1200">
                        <a:solidFill>
                          <a:srgbClr val="113D5C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Viviendo la estrategia de Tomar una Pausa</a:t>
                      </a:r>
                      <a:endParaRPr sz="1200">
                        <a:solidFill>
                          <a:srgbClr val="113D5C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Preguntas y reflexiones del primer día</a:t>
                      </a:r>
                      <a:endParaRPr sz="1200">
                        <a:solidFill>
                          <a:srgbClr val="113D5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Módulo 5: Preparación para la sesión de Chat automatizada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Recorrido a través de la aplicación para las facilitadoras:</a:t>
                      </a:r>
                      <a:endParaRPr sz="1200">
                        <a:solidFill>
                          <a:srgbClr val="113D5C"/>
                        </a:solidFill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Formando Conciencia +</a:t>
                      </a:r>
                      <a:endParaRPr sz="1200">
                        <a:solidFill>
                          <a:srgbClr val="113D5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12:40-13:15</a:t>
                      </a:r>
                      <a:endParaRPr b="1" sz="1200">
                        <a:solidFill>
                          <a:srgbClr val="113D5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Módulo 6: Realización de una sesión de chat en WhatsApp</a:t>
                      </a:r>
                      <a:endParaRPr b="1" sz="1200">
                        <a:solidFill>
                          <a:srgbClr val="113D5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Configuración del grupo y sus reglas </a:t>
                      </a:r>
                      <a:endParaRPr sz="1200">
                        <a:solidFill>
                          <a:srgbClr val="113D5C"/>
                        </a:solidFill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Rol de la facilitadora en el chat</a:t>
                      </a:r>
                      <a:endParaRPr sz="1200">
                        <a:solidFill>
                          <a:srgbClr val="113D5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13:15-13:20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200"/>
                      </a:pPr>
                      <a:r>
                        <a:rPr>
                          <a:solidFill>
                            <a:srgbClr val="113D5C"/>
                          </a:solidFill>
                        </a:rPr>
                        <a:t>                                                       </a:t>
                      </a:r>
                      <a:r>
                        <a:rPr>
                          <a:solidFill>
                            <a:schemeClr val="lt1"/>
                          </a:solidFill>
                        </a:rPr>
                        <a:t>  Pausa Activa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D7D31"/>
                    </a:solidFill>
                  </a:tcPr>
                </a:tc>
                <a:tc hMerge="1"/>
              </a:tr>
              <a:tr h="381000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13:20-13:50</a:t>
                      </a:r>
                      <a:endParaRPr b="1" sz="1200">
                        <a:solidFill>
                          <a:srgbClr val="113D5C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Módulo 7: Salvaguarda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¿Qué es? Cómo proceder en la virtualidad y presencialidad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Módulo 8: Desafíos comunes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Abordaje de desafíos. Preguntas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13:50-14:00</a:t>
                      </a:r>
                      <a:endParaRPr b="1" sz="1200">
                        <a:solidFill>
                          <a:srgbClr val="113D5C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Clausura</a:t>
                      </a:r>
                      <a:endParaRPr b="1" sz="1200">
                        <a:solidFill>
                          <a:srgbClr val="113D5C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Actividades de cierre </a:t>
                      </a:r>
                      <a:endParaRPr sz="1200">
                        <a:solidFill>
                          <a:srgbClr val="113D5C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Próximos pasos</a:t>
                      </a:r>
                      <a:endParaRPr sz="1200">
                        <a:solidFill>
                          <a:srgbClr val="113D5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878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69"/>
          <p:cNvSpPr txBox="1"/>
          <p:nvPr/>
        </p:nvSpPr>
        <p:spPr>
          <a:xfrm>
            <a:off x="361525" y="2425675"/>
            <a:ext cx="7821300" cy="14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chemeClr val="lt1"/>
                </a:solidFill>
              </a:defRPr>
            </a:pPr>
            <a:r>
              <a:t>Módulo 2: Aceptar, Explorar, Conectar, Practicar</a:t>
            </a:r>
            <a:endParaRPr b="1"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70"/>
          <p:cNvSpPr/>
          <p:nvPr/>
        </p:nvSpPr>
        <p:spPr>
          <a:xfrm rot="-5400000">
            <a:off x="570300" y="-374750"/>
            <a:ext cx="506700" cy="16473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70"/>
          <p:cNvSpPr txBox="1"/>
          <p:nvPr/>
        </p:nvSpPr>
        <p:spPr>
          <a:xfrm>
            <a:off x="57625" y="216750"/>
            <a:ext cx="355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A-E-C-P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pic>
        <p:nvPicPr>
          <p:cNvPr id="676" name="Google Shape;676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460" y="805618"/>
            <a:ext cx="270162" cy="270162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70"/>
          <p:cNvSpPr/>
          <p:nvPr/>
        </p:nvSpPr>
        <p:spPr>
          <a:xfrm>
            <a:off x="489925" y="1701692"/>
            <a:ext cx="1908900" cy="1843200"/>
          </a:xfrm>
          <a:prstGeom prst="roundRect">
            <a:avLst>
              <a:gd fmla="val 16667" name="adj"/>
            </a:avLst>
          </a:prstGeom>
          <a:solidFill>
            <a:srgbClr val="00969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sz="1300">
              <a:solidFill>
                <a:srgbClr val="FFFFFF"/>
              </a:solidFill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FFFFFF"/>
                </a:solidFill>
              </a:defRPr>
            </a:pPr>
            <a:r>
              <a:rPr b="1"/>
              <a:t>ACEPTAR </a:t>
            </a:r>
            <a:r>
              <a:t>la participación y contribución de los padres, madres y cuidadores tanto física como verbal </a:t>
            </a:r>
            <a:endParaRPr i="0" sz="1300" u="none" cap="none" strike="noStrike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70"/>
          <p:cNvSpPr/>
          <p:nvPr/>
        </p:nvSpPr>
        <p:spPr>
          <a:xfrm>
            <a:off x="2568671" y="1696935"/>
            <a:ext cx="1908900" cy="1895700"/>
          </a:xfrm>
          <a:prstGeom prst="roundRect">
            <a:avLst>
              <a:gd fmla="val 16667" name="adj"/>
            </a:avLst>
          </a:prstGeom>
          <a:solidFill>
            <a:srgbClr val="ED7D3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500">
              <a:solidFill>
                <a:srgbClr val="FFFFFF"/>
              </a:solidFill>
            </a:endParaRPr>
          </a:p>
          <a:p>
            <a:pPr indent="0" lvl="0" marL="1333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300">
                <a:solidFill>
                  <a:srgbClr val="FFFFFF"/>
                </a:solidFill>
              </a:defRPr>
            </a:pPr>
            <a:r>
              <a:rPr b="1"/>
              <a:t>EXPLORAR </a:t>
            </a:r>
            <a:r>
              <a:t>las experiencias, actitudes, sentimientos y retos compartidos por los padres, madres y cuidadores </a:t>
            </a:r>
            <a:endParaRPr i="0" sz="1500" u="none" cap="none" strike="noStrike">
              <a:solidFill>
                <a:srgbClr val="FFFFF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70"/>
          <p:cNvSpPr/>
          <p:nvPr/>
        </p:nvSpPr>
        <p:spPr>
          <a:xfrm>
            <a:off x="4656929" y="1701693"/>
            <a:ext cx="1908900" cy="1900500"/>
          </a:xfrm>
          <a:prstGeom prst="roundRect">
            <a:avLst>
              <a:gd fmla="val 16667" name="adj"/>
            </a:avLst>
          </a:prstGeom>
          <a:solidFill>
            <a:srgbClr val="E4027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33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b="1" sz="600">
              <a:solidFill>
                <a:srgbClr val="FFFFFF"/>
              </a:solidFill>
            </a:endParaRPr>
          </a:p>
          <a:p>
            <a:pPr indent="0" lvl="0" marL="1333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300">
                <a:solidFill>
                  <a:srgbClr val="FFFFFF"/>
                </a:solidFill>
              </a:defRPr>
            </a:pPr>
            <a:r>
              <a:rPr b="1"/>
              <a:t>CONECTAR </a:t>
            </a:r>
            <a:r>
              <a:t>la experiencia de los padres, madres y cuidadores con un principio o lección sobre la crianza positiva</a:t>
            </a:r>
            <a:endParaRPr i="0" sz="1500" u="none" cap="none" strike="noStrike">
              <a:solidFill>
                <a:srgbClr val="FFFFFF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70"/>
          <p:cNvSpPr/>
          <p:nvPr/>
        </p:nvSpPr>
        <p:spPr>
          <a:xfrm>
            <a:off x="1098498" y="1179145"/>
            <a:ext cx="693600" cy="684300"/>
          </a:xfrm>
          <a:prstGeom prst="ellipse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70"/>
          <p:cNvSpPr/>
          <p:nvPr/>
        </p:nvSpPr>
        <p:spPr>
          <a:xfrm>
            <a:off x="3166060" y="1189663"/>
            <a:ext cx="665100" cy="6750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70"/>
          <p:cNvSpPr/>
          <p:nvPr/>
        </p:nvSpPr>
        <p:spPr>
          <a:xfrm>
            <a:off x="5280333" y="1239792"/>
            <a:ext cx="655800" cy="646200"/>
          </a:xfrm>
          <a:prstGeom prst="ellipse">
            <a:avLst/>
          </a:prstGeom>
          <a:solidFill>
            <a:srgbClr val="E432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70"/>
          <p:cNvSpPr/>
          <p:nvPr/>
        </p:nvSpPr>
        <p:spPr>
          <a:xfrm>
            <a:off x="6745171" y="1701693"/>
            <a:ext cx="1908900" cy="1900500"/>
          </a:xfrm>
          <a:prstGeom prst="roundRect">
            <a:avLst>
              <a:gd fmla="val 16667" name="adj"/>
            </a:avLst>
          </a:prstGeom>
          <a:solidFill>
            <a:srgbClr val="019FE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b="1" sz="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b="1"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rPr b="1"/>
              <a:t>PRACTICAR </a:t>
            </a:r>
            <a:r>
              <a:t>las nuevas habilidades de crianza positiva en casa. </a:t>
            </a:r>
            <a:endParaRPr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p70"/>
          <p:cNvSpPr/>
          <p:nvPr/>
        </p:nvSpPr>
        <p:spPr>
          <a:xfrm>
            <a:off x="7368575" y="1239792"/>
            <a:ext cx="655800" cy="646200"/>
          </a:xfrm>
          <a:prstGeom prst="ellipse">
            <a:avLst/>
          </a:prstGeom>
          <a:solidFill>
            <a:srgbClr val="019F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5" name="Google Shape;685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4324" y="1280363"/>
            <a:ext cx="500110" cy="4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7528" y="1280375"/>
            <a:ext cx="379700" cy="37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64775" y="1392088"/>
            <a:ext cx="270175" cy="27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7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64538" y="1392075"/>
            <a:ext cx="270175" cy="27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69B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1"/>
          <p:cNvSpPr txBox="1"/>
          <p:nvPr/>
        </p:nvSpPr>
        <p:spPr>
          <a:xfrm>
            <a:off x="361525" y="3583825"/>
            <a:ext cx="7821300" cy="8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chemeClr val="lt1"/>
                </a:solidFill>
              </a:defRPr>
            </a:pPr>
            <a:r>
              <a:t>ACEPTAR: Juego de Roles </a:t>
            </a:r>
            <a:endParaRPr b="1" sz="5000">
              <a:solidFill>
                <a:schemeClr val="lt1"/>
              </a:solidFill>
            </a:endParaRPr>
          </a:p>
        </p:txBody>
      </p:sp>
      <p:pic>
        <p:nvPicPr>
          <p:cNvPr id="694" name="Google Shape;694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328" y="1661158"/>
            <a:ext cx="1890625" cy="182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69B"/>
        </a:solidFill>
      </p:bgPr>
    </p:bg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72"/>
          <p:cNvSpPr txBox="1"/>
          <p:nvPr/>
        </p:nvSpPr>
        <p:spPr>
          <a:xfrm>
            <a:off x="361525" y="3583825"/>
            <a:ext cx="7821300" cy="8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chemeClr val="lt1"/>
                </a:solidFill>
              </a:defRPr>
            </a:pPr>
            <a:r>
              <a:t>ACEPTAR: Cuestionario Sorpresa </a:t>
            </a:r>
            <a:endParaRPr b="1" sz="5000">
              <a:solidFill>
                <a:schemeClr val="lt1"/>
              </a:solidFill>
            </a:endParaRPr>
          </a:p>
        </p:txBody>
      </p:sp>
      <p:pic>
        <p:nvPicPr>
          <p:cNvPr id="700" name="Google Shape;700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328" y="1661158"/>
            <a:ext cx="1890625" cy="182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73"/>
          <p:cNvSpPr/>
          <p:nvPr/>
        </p:nvSpPr>
        <p:spPr>
          <a:xfrm rot="-5400000">
            <a:off x="570300" y="-374750"/>
            <a:ext cx="506700" cy="16473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73"/>
          <p:cNvSpPr txBox="1"/>
          <p:nvPr/>
        </p:nvSpPr>
        <p:spPr>
          <a:xfrm>
            <a:off x="57625" y="216750"/>
            <a:ext cx="355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A-E-C-P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pic>
        <p:nvPicPr>
          <p:cNvPr id="707" name="Google Shape;707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460" y="805618"/>
            <a:ext cx="270162" cy="270162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73"/>
          <p:cNvSpPr/>
          <p:nvPr/>
        </p:nvSpPr>
        <p:spPr>
          <a:xfrm>
            <a:off x="160650" y="1598317"/>
            <a:ext cx="1908900" cy="1843200"/>
          </a:xfrm>
          <a:prstGeom prst="roundRect">
            <a:avLst>
              <a:gd fmla="val 16667" name="adj"/>
            </a:avLst>
          </a:prstGeom>
          <a:solidFill>
            <a:srgbClr val="00969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sz="1200">
              <a:solidFill>
                <a:srgbClr val="FFFFFF"/>
              </a:solidFill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pPr>
            <a:r>
              <a:rPr b="1"/>
              <a:t>ACEPTAR </a:t>
            </a:r>
            <a:r>
              <a:t>la participación y contribución de los padres, madres y cuidadores tanto física como verbal </a:t>
            </a:r>
            <a:endParaRPr i="0" sz="1200" u="none" cap="none" strike="noStrike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73"/>
          <p:cNvSpPr/>
          <p:nvPr/>
        </p:nvSpPr>
        <p:spPr>
          <a:xfrm>
            <a:off x="769223" y="1075770"/>
            <a:ext cx="693600" cy="684300"/>
          </a:xfrm>
          <a:prstGeom prst="ellipse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0" name="Google Shape;710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5049" y="1176988"/>
            <a:ext cx="500110" cy="4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73"/>
          <p:cNvSpPr txBox="1"/>
          <p:nvPr/>
        </p:nvSpPr>
        <p:spPr>
          <a:xfrm>
            <a:off x="2673500" y="928425"/>
            <a:ext cx="5763300" cy="3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600">
                <a:solidFill>
                  <a:srgbClr val="DB3614"/>
                </a:solidFill>
              </a:defRPr>
            </a:pPr>
            <a:r>
              <a:t>CÓMO ACEPTAR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600" u="none" cap="none" strike="noStrike">
              <a:solidFill>
                <a:srgbClr val="0D3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4060"/>
              </a:buClr>
              <a:buSzPts val="1400"/>
              <a:buChar char="●"/>
              <a:defRPr>
                <a:solidFill>
                  <a:srgbClr val="0B4060"/>
                </a:solidFill>
              </a:defRPr>
            </a:pPr>
            <a:r>
              <a:rPr b="1"/>
              <a:t>Gestos físicos:</a:t>
            </a:r>
            <a:r>
              <a:t> Asentir, sonreír, inclinarse hacia delante, mirar al participante, contacto visual, etc;</a:t>
            </a:r>
            <a:endParaRPr>
              <a:solidFill>
                <a:srgbClr val="0B4060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4060"/>
              </a:buClr>
              <a:buSzPts val="1400"/>
              <a:buChar char="●"/>
              <a:defRPr>
                <a:solidFill>
                  <a:srgbClr val="0B4060"/>
                </a:solidFill>
              </a:defRPr>
            </a:pPr>
            <a:r>
              <a:rPr b="1"/>
              <a:t>Vocalización no verbal:</a:t>
            </a:r>
            <a:r>
              <a:t> Mmmm…, Ajá, Ah…, etc;</a:t>
            </a:r>
            <a:endParaRPr>
              <a:solidFill>
                <a:srgbClr val="0B4060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400"/>
              <a:buChar char="●"/>
              <a:defRPr>
                <a:solidFill>
                  <a:srgbClr val="0B4060"/>
                </a:solidFill>
              </a:defRPr>
            </a:pPr>
            <a:r>
              <a:rPr b="1"/>
              <a:t>Intervenciones verbales:</a:t>
            </a:r>
            <a:r>
              <a:t> Usar el nombre del participante, darle las gracias, reconocer y halagr su contribución, etc.;</a:t>
            </a:r>
            <a:endParaRPr>
              <a:solidFill>
                <a:srgbClr val="0B4060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400"/>
              <a:buChar char="●"/>
              <a:defRPr>
                <a:solidFill>
                  <a:srgbClr val="0B4060"/>
                </a:solidFill>
              </a:defRPr>
            </a:pPr>
            <a:r>
              <a:rPr b="1"/>
              <a:t>Usar afirmaciones reflexivas: </a:t>
            </a:r>
            <a:r>
              <a:t>Parafrasear o repetir lo que ha dicho el participante para demostrar que realmente escuchaste lo que dijo. ¡Este es un aspecto clave de la escucha activa!</a:t>
            </a:r>
            <a:endParaRPr>
              <a:solidFill>
                <a:srgbClr val="0B406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>
              <a:solidFill>
                <a:srgbClr val="123D5D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74"/>
          <p:cNvSpPr/>
          <p:nvPr/>
        </p:nvSpPr>
        <p:spPr>
          <a:xfrm rot="-5400000">
            <a:off x="570300" y="-374750"/>
            <a:ext cx="506700" cy="16473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74"/>
          <p:cNvSpPr txBox="1"/>
          <p:nvPr/>
        </p:nvSpPr>
        <p:spPr>
          <a:xfrm>
            <a:off x="57625" y="216750"/>
            <a:ext cx="355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A-E-C-P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pic>
        <p:nvPicPr>
          <p:cNvPr id="718" name="Google Shape;718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460" y="805618"/>
            <a:ext cx="270162" cy="270162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74"/>
          <p:cNvSpPr/>
          <p:nvPr/>
        </p:nvSpPr>
        <p:spPr>
          <a:xfrm>
            <a:off x="160650" y="1598317"/>
            <a:ext cx="1908900" cy="1843200"/>
          </a:xfrm>
          <a:prstGeom prst="roundRect">
            <a:avLst>
              <a:gd fmla="val 16667" name="adj"/>
            </a:avLst>
          </a:prstGeom>
          <a:solidFill>
            <a:srgbClr val="00969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sz="1200">
              <a:solidFill>
                <a:srgbClr val="FFFFFF"/>
              </a:solidFill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pPr>
            <a:r>
              <a:rPr b="1"/>
              <a:t>ACEPTAR </a:t>
            </a:r>
            <a:r>
              <a:t>la participación y contribución de los padres, madres y cuidadores tanto física como verbal </a:t>
            </a:r>
            <a:endParaRPr i="0" sz="1200" u="none" cap="none" strike="noStrike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74"/>
          <p:cNvSpPr/>
          <p:nvPr/>
        </p:nvSpPr>
        <p:spPr>
          <a:xfrm>
            <a:off x="769223" y="1075770"/>
            <a:ext cx="693600" cy="684300"/>
          </a:xfrm>
          <a:prstGeom prst="ellipse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1" name="Google Shape;721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5049" y="1176988"/>
            <a:ext cx="500110" cy="4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74"/>
          <p:cNvSpPr txBox="1"/>
          <p:nvPr/>
        </p:nvSpPr>
        <p:spPr>
          <a:xfrm>
            <a:off x="2673500" y="928425"/>
            <a:ext cx="5763300" cy="26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600">
                <a:solidFill>
                  <a:srgbClr val="DB3614"/>
                </a:solidFill>
              </a:defRPr>
            </a:pPr>
            <a:r>
              <a:t>POR QUÉ ACEPTAR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i="0" sz="1600" u="none" cap="none" strike="noStrike">
              <a:solidFill>
                <a:srgbClr val="0D3959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4060"/>
              </a:buClr>
              <a:buSzPts val="1400"/>
              <a:buChar char="●"/>
              <a:defRPr>
                <a:solidFill>
                  <a:srgbClr val="0B4060"/>
                </a:solidFill>
              </a:defRPr>
            </a:pPr>
            <a:r>
              <a:t>Hace que los padres, madres y cuidadores se sientan bienvenidos</a:t>
            </a:r>
            <a:endParaRPr>
              <a:solidFill>
                <a:srgbClr val="0B4060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400"/>
              <a:buChar char="●"/>
              <a:defRPr>
                <a:solidFill>
                  <a:srgbClr val="0B4060"/>
                </a:solidFill>
              </a:defRPr>
            </a:pPr>
            <a:r>
              <a:t>Anima a las personas a participar más, especialmente a los que son tímidos</a:t>
            </a:r>
            <a:endParaRPr>
              <a:solidFill>
                <a:srgbClr val="0B4060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400"/>
              <a:buChar char="●"/>
              <a:defRPr>
                <a:solidFill>
                  <a:srgbClr val="0B4060"/>
                </a:solidFill>
              </a:defRPr>
            </a:pPr>
            <a:r>
              <a:t>Demuestra que respetas y valoras sus respuestas y aportaciones</a:t>
            </a:r>
            <a:endParaRPr>
              <a:solidFill>
                <a:srgbClr val="0B4060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B4060"/>
              </a:buClr>
              <a:buSzPts val="1400"/>
              <a:buChar char="●"/>
              <a:defRPr>
                <a:solidFill>
                  <a:srgbClr val="0B4060"/>
                </a:solidFill>
              </a:defRPr>
            </a:pPr>
            <a:r>
              <a:t>Crea confianza y una relación positiva entre los padres, madres, cuidadores y tú</a:t>
            </a:r>
            <a:endParaRPr sz="1500">
              <a:solidFill>
                <a:srgbClr val="123D5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7D31"/>
        </a:solidFill>
      </p:bgPr>
    </p:bg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75"/>
          <p:cNvSpPr txBox="1"/>
          <p:nvPr/>
        </p:nvSpPr>
        <p:spPr>
          <a:xfrm>
            <a:off x="361525" y="3583825"/>
            <a:ext cx="7821300" cy="8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chemeClr val="lt1"/>
                </a:solidFill>
              </a:defRPr>
            </a:pPr>
            <a:r>
              <a:t>EXPLORAR: Juego de Roles </a:t>
            </a:r>
            <a:endParaRPr b="1" sz="5000">
              <a:solidFill>
                <a:schemeClr val="lt1"/>
              </a:solidFill>
            </a:endParaRPr>
          </a:p>
        </p:txBody>
      </p:sp>
      <p:pic>
        <p:nvPicPr>
          <p:cNvPr id="728" name="Google Shape;728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315" y="1661150"/>
            <a:ext cx="1821200" cy="182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7D31"/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76"/>
          <p:cNvSpPr txBox="1"/>
          <p:nvPr/>
        </p:nvSpPr>
        <p:spPr>
          <a:xfrm>
            <a:off x="361525" y="3583825"/>
            <a:ext cx="7821300" cy="8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chemeClr val="lt1"/>
                </a:solidFill>
              </a:defRPr>
            </a:pPr>
            <a:r>
              <a:t>EXPLORAR: Cuestionario Sorpresa </a:t>
            </a:r>
            <a:endParaRPr b="1" sz="5000">
              <a:solidFill>
                <a:schemeClr val="lt1"/>
              </a:solidFill>
            </a:endParaRPr>
          </a:p>
        </p:txBody>
      </p:sp>
      <p:pic>
        <p:nvPicPr>
          <p:cNvPr id="734" name="Google Shape;73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315" y="1661150"/>
            <a:ext cx="1821200" cy="182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77"/>
          <p:cNvSpPr/>
          <p:nvPr/>
        </p:nvSpPr>
        <p:spPr>
          <a:xfrm rot="-5400000">
            <a:off x="570300" y="-374750"/>
            <a:ext cx="506700" cy="16473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77"/>
          <p:cNvSpPr txBox="1"/>
          <p:nvPr/>
        </p:nvSpPr>
        <p:spPr>
          <a:xfrm>
            <a:off x="57625" y="216750"/>
            <a:ext cx="355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A-E-C-P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pic>
        <p:nvPicPr>
          <p:cNvPr id="741" name="Google Shape;741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460" y="805618"/>
            <a:ext cx="270162" cy="270162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77"/>
          <p:cNvSpPr txBox="1"/>
          <p:nvPr/>
        </p:nvSpPr>
        <p:spPr>
          <a:xfrm>
            <a:off x="2673500" y="687075"/>
            <a:ext cx="5763300" cy="3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600">
                <a:solidFill>
                  <a:srgbClr val="DB3614"/>
                </a:solidFill>
              </a:defRPr>
            </a:pPr>
            <a:r>
              <a:t>CÓMO EXPLORAR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i="0" sz="1600" u="none" cap="none" strike="noStrike">
              <a:solidFill>
                <a:srgbClr val="0D3959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4060"/>
              </a:buClr>
              <a:buSzPts val="1400"/>
              <a:buChar char="●"/>
              <a:defRPr>
                <a:solidFill>
                  <a:srgbClr val="0B4060"/>
                </a:solidFill>
              </a:defRPr>
            </a:pPr>
            <a:r>
              <a:t>Haz preguntas abiertas: Quién, qué, cuándo, dónde, por qué y cómo;</a:t>
            </a:r>
            <a:endParaRPr>
              <a:solidFill>
                <a:srgbClr val="0B4060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400"/>
              <a:buChar char="●"/>
              <a:defRPr>
                <a:solidFill>
                  <a:srgbClr val="0B4060"/>
                </a:solidFill>
              </a:defRPr>
            </a:pPr>
            <a:r>
              <a:t>Haz preguntas que auspicien más detalles: Cuéntame más…. ¿Puedes ser más específico? ¿Qué quieres decir?</a:t>
            </a:r>
            <a:endParaRPr>
              <a:solidFill>
                <a:srgbClr val="0B4060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400"/>
              <a:buChar char="●"/>
              <a:defRPr>
                <a:solidFill>
                  <a:srgbClr val="0B4060"/>
                </a:solidFill>
              </a:defRPr>
            </a:pPr>
            <a:r>
              <a:t>Haz preguntas sobre la perspectiva de la niña, el niño o el adolescente, así como la de los padres, madres y cuidadores;</a:t>
            </a:r>
            <a:endParaRPr>
              <a:solidFill>
                <a:srgbClr val="0B4060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400"/>
              <a:buChar char="●"/>
              <a:defRPr>
                <a:solidFill>
                  <a:srgbClr val="0B4060"/>
                </a:solidFill>
              </a:defRPr>
            </a:pPr>
            <a:r>
              <a:t>Haz preguntas sobre las emociones de los padres, madres y cuidadores y los niños, niñas o adolescentes;</a:t>
            </a:r>
            <a:endParaRPr>
              <a:solidFill>
                <a:srgbClr val="0B4060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400"/>
              <a:buChar char="●"/>
              <a:defRPr>
                <a:solidFill>
                  <a:srgbClr val="0B4060"/>
                </a:solidFill>
              </a:defRPr>
            </a:pPr>
            <a:r>
              <a:t>Pregúntales sobre cualquier dificultad que experimenten en casa;</a:t>
            </a:r>
            <a:endParaRPr>
              <a:solidFill>
                <a:srgbClr val="0B406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>
              <a:solidFill>
                <a:srgbClr val="123D5D"/>
              </a:solidFill>
            </a:endParaRPr>
          </a:p>
        </p:txBody>
      </p:sp>
      <p:sp>
        <p:nvSpPr>
          <p:cNvPr id="743" name="Google Shape;743;p77"/>
          <p:cNvSpPr/>
          <p:nvPr/>
        </p:nvSpPr>
        <p:spPr>
          <a:xfrm>
            <a:off x="269821" y="1583035"/>
            <a:ext cx="1908900" cy="1895700"/>
          </a:xfrm>
          <a:prstGeom prst="roundRect">
            <a:avLst>
              <a:gd fmla="val 16667" name="adj"/>
            </a:avLst>
          </a:prstGeom>
          <a:solidFill>
            <a:srgbClr val="ED7D3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400">
              <a:solidFill>
                <a:srgbClr val="FFFFFF"/>
              </a:solidFill>
            </a:endParaRPr>
          </a:p>
          <a:p>
            <a:pPr indent="0" lvl="0" marL="1333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pPr>
            <a:r>
              <a:rPr b="1"/>
              <a:t>EXPLORAR </a:t>
            </a:r>
            <a:r>
              <a:t>las experiencias, actitudes, sentimientos y retos compartidos por los padres, madres y cuidadores </a:t>
            </a:r>
            <a:endParaRPr i="0" sz="1400" u="none" cap="none" strike="noStrike">
              <a:solidFill>
                <a:srgbClr val="FFFFF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77"/>
          <p:cNvSpPr/>
          <p:nvPr/>
        </p:nvSpPr>
        <p:spPr>
          <a:xfrm>
            <a:off x="867210" y="1075763"/>
            <a:ext cx="665100" cy="6750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5" name="Google Shape;745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8678" y="1166475"/>
            <a:ext cx="379700" cy="37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78"/>
          <p:cNvSpPr/>
          <p:nvPr/>
        </p:nvSpPr>
        <p:spPr>
          <a:xfrm rot="-5400000">
            <a:off x="570300" y="-374750"/>
            <a:ext cx="506700" cy="16473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78"/>
          <p:cNvSpPr txBox="1"/>
          <p:nvPr/>
        </p:nvSpPr>
        <p:spPr>
          <a:xfrm>
            <a:off x="57625" y="216750"/>
            <a:ext cx="355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A-E-C-P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pic>
        <p:nvPicPr>
          <p:cNvPr id="752" name="Google Shape;752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460" y="805618"/>
            <a:ext cx="270162" cy="270162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78"/>
          <p:cNvSpPr txBox="1"/>
          <p:nvPr/>
        </p:nvSpPr>
        <p:spPr>
          <a:xfrm>
            <a:off x="2673500" y="315375"/>
            <a:ext cx="5763300" cy="44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600">
                <a:solidFill>
                  <a:srgbClr val="DB3614"/>
                </a:solidFill>
              </a:defRPr>
            </a:pPr>
            <a:r>
              <a:t>POR QUÉ EXPLORAR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i="0" sz="1600" u="none" cap="none" strike="noStrike">
              <a:solidFill>
                <a:srgbClr val="0D3959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4060"/>
              </a:buClr>
              <a:buSzPts val="1400"/>
              <a:buChar char="●"/>
              <a:defRPr>
                <a:solidFill>
                  <a:srgbClr val="0B4060"/>
                </a:solidFill>
              </a:defRPr>
            </a:pPr>
            <a:r>
              <a:t>Consigue una idea más completa de lo que pasó exactamente en casa o de lo que piensan los padres, madres o cuidadores;</a:t>
            </a:r>
            <a:endParaRPr>
              <a:solidFill>
                <a:srgbClr val="0B4060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400"/>
              <a:buChar char="●"/>
              <a:defRPr>
                <a:solidFill>
                  <a:srgbClr val="0B4060"/>
                </a:solidFill>
              </a:defRPr>
            </a:pPr>
            <a:r>
              <a:t>Ayuda a los padres, madres o cuidadores a describir su experiencia y a verla desde una perspectiva diferente;</a:t>
            </a:r>
            <a:endParaRPr>
              <a:solidFill>
                <a:srgbClr val="0B4060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400"/>
              <a:buChar char="●"/>
              <a:defRPr>
                <a:solidFill>
                  <a:srgbClr val="0B4060"/>
                </a:solidFill>
              </a:defRPr>
            </a:pPr>
            <a:r>
              <a:t>Ayuda a los padres, madres o cuidadores a comprender por qué ellos o sus niños, niñas o adolescentes respondieron de esa manera en una situación concreta;</a:t>
            </a:r>
            <a:endParaRPr>
              <a:solidFill>
                <a:srgbClr val="0B4060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400"/>
              <a:buChar char="●"/>
              <a:defRPr>
                <a:solidFill>
                  <a:srgbClr val="0B4060"/>
                </a:solidFill>
              </a:defRPr>
            </a:pPr>
            <a:r>
              <a:t>Ayuda a los padres, madres o cuidadores a ser más conscientes del impacto de sus decisiones y comportamientos y a pensar críticamente sobre su crianza;</a:t>
            </a:r>
            <a:endParaRPr>
              <a:solidFill>
                <a:srgbClr val="0B4060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400"/>
              <a:buChar char="●"/>
              <a:defRPr>
                <a:solidFill>
                  <a:srgbClr val="0B4060"/>
                </a:solidFill>
              </a:defRPr>
            </a:pPr>
            <a:r>
              <a:t>Ayuda a los padres a compartir sus retos, a comprender por qué se produjo el reto y a identificar posibles soluciones para sus retos.</a:t>
            </a:r>
            <a:endParaRPr>
              <a:solidFill>
                <a:srgbClr val="0B406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>
              <a:solidFill>
                <a:srgbClr val="123D5D"/>
              </a:solidFill>
            </a:endParaRPr>
          </a:p>
        </p:txBody>
      </p:sp>
      <p:sp>
        <p:nvSpPr>
          <p:cNvPr id="754" name="Google Shape;754;p78"/>
          <p:cNvSpPr/>
          <p:nvPr/>
        </p:nvSpPr>
        <p:spPr>
          <a:xfrm>
            <a:off x="269821" y="1583035"/>
            <a:ext cx="1908900" cy="1895700"/>
          </a:xfrm>
          <a:prstGeom prst="roundRect">
            <a:avLst>
              <a:gd fmla="val 16667" name="adj"/>
            </a:avLst>
          </a:prstGeom>
          <a:solidFill>
            <a:srgbClr val="ED7D3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400">
              <a:solidFill>
                <a:srgbClr val="FFFFFF"/>
              </a:solidFill>
            </a:endParaRPr>
          </a:p>
          <a:p>
            <a:pPr indent="0" lvl="0" marL="1333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pPr>
            <a:r>
              <a:rPr b="1"/>
              <a:t>EXPLORAR </a:t>
            </a:r>
            <a:r>
              <a:t>las experiencias, actitudes, sentimientos y retos compartidos por los padres, madres y cuidadores </a:t>
            </a:r>
            <a:endParaRPr i="0" sz="1400" u="none" cap="none" strike="noStrike">
              <a:solidFill>
                <a:srgbClr val="FFFFF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78"/>
          <p:cNvSpPr/>
          <p:nvPr/>
        </p:nvSpPr>
        <p:spPr>
          <a:xfrm>
            <a:off x="867210" y="1075763"/>
            <a:ext cx="665100" cy="6750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6" name="Google Shape;756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8678" y="1166475"/>
            <a:ext cx="379700" cy="37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327D"/>
        </a:solidFill>
      </p:bgPr>
    </p:bg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79"/>
          <p:cNvSpPr txBox="1"/>
          <p:nvPr/>
        </p:nvSpPr>
        <p:spPr>
          <a:xfrm>
            <a:off x="361525" y="3583825"/>
            <a:ext cx="7821300" cy="8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chemeClr val="lt1"/>
                </a:solidFill>
              </a:defRPr>
            </a:pPr>
            <a:r>
              <a:t>CONECTAR: Juego de Roles </a:t>
            </a:r>
            <a:endParaRPr b="1" sz="5000">
              <a:solidFill>
                <a:schemeClr val="lt1"/>
              </a:solidFill>
            </a:endParaRPr>
          </a:p>
        </p:txBody>
      </p:sp>
      <p:pic>
        <p:nvPicPr>
          <p:cNvPr id="762" name="Google Shape;76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325" y="1661152"/>
            <a:ext cx="1821200" cy="182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327D"/>
        </a:solid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80"/>
          <p:cNvSpPr txBox="1"/>
          <p:nvPr/>
        </p:nvSpPr>
        <p:spPr>
          <a:xfrm>
            <a:off x="361525" y="3583825"/>
            <a:ext cx="7821300" cy="8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chemeClr val="lt1"/>
                </a:solidFill>
              </a:defRPr>
            </a:pPr>
            <a:r>
              <a:t>CONECTAR: Cuestionario Sorpresa </a:t>
            </a:r>
            <a:endParaRPr b="1" sz="5000">
              <a:solidFill>
                <a:schemeClr val="lt1"/>
              </a:solidFill>
            </a:endParaRPr>
          </a:p>
        </p:txBody>
      </p:sp>
      <p:pic>
        <p:nvPicPr>
          <p:cNvPr id="768" name="Google Shape;768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325" y="1661152"/>
            <a:ext cx="1821200" cy="182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81"/>
          <p:cNvSpPr/>
          <p:nvPr/>
        </p:nvSpPr>
        <p:spPr>
          <a:xfrm rot="-5400000">
            <a:off x="570300" y="-374750"/>
            <a:ext cx="506700" cy="16473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81"/>
          <p:cNvSpPr txBox="1"/>
          <p:nvPr/>
        </p:nvSpPr>
        <p:spPr>
          <a:xfrm>
            <a:off x="57625" y="216750"/>
            <a:ext cx="355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A-E-C-P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pic>
        <p:nvPicPr>
          <p:cNvPr id="775" name="Google Shape;775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460" y="805618"/>
            <a:ext cx="270162" cy="270162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81"/>
          <p:cNvSpPr txBox="1"/>
          <p:nvPr/>
        </p:nvSpPr>
        <p:spPr>
          <a:xfrm>
            <a:off x="2673500" y="687075"/>
            <a:ext cx="5763300" cy="3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600">
                <a:solidFill>
                  <a:srgbClr val="DB3614"/>
                </a:solidFill>
              </a:defRPr>
            </a:pPr>
            <a:r>
              <a:t>CÓMO CONECTAR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i="0" sz="1600" u="none" cap="none" strike="noStrike">
              <a:solidFill>
                <a:srgbClr val="0D3959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4060"/>
              </a:buClr>
              <a:buSzPts val="1500"/>
              <a:buChar char="●"/>
              <a:defRPr sz="1500">
                <a:solidFill>
                  <a:srgbClr val="0B4060"/>
                </a:solidFill>
              </a:defRPr>
            </a:pPr>
            <a:r>
              <a:t>Explora cómo su experiencia podría relacionarse con sus vidas o la relación con sus niños, niñas o adolescentes;</a:t>
            </a:r>
            <a:endParaRPr sz="1500">
              <a:solidFill>
                <a:srgbClr val="0B4060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500"/>
              <a:buChar char="●"/>
              <a:defRPr sz="1500">
                <a:solidFill>
                  <a:srgbClr val="0B4060"/>
                </a:solidFill>
              </a:defRPr>
            </a:pPr>
            <a:r>
              <a:t>Explora cómo su experiencia podría relacionarse con algunos de los principios o habilidades que están aprendiendo durante el programa;</a:t>
            </a:r>
            <a:endParaRPr sz="1500">
              <a:solidFill>
                <a:srgbClr val="0B4060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500"/>
              <a:buChar char="●"/>
              <a:defRPr sz="1500">
                <a:solidFill>
                  <a:srgbClr val="0B4060"/>
                </a:solidFill>
              </a:defRPr>
            </a:pPr>
            <a:r>
              <a:t>Explora por qué puede ser importante o beneficioso para ellos como padres, madres o cuidadores;</a:t>
            </a:r>
            <a:endParaRPr sz="1500">
              <a:solidFill>
                <a:srgbClr val="0B4060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500"/>
              <a:buChar char="●"/>
              <a:defRPr sz="1500">
                <a:solidFill>
                  <a:srgbClr val="0B4060"/>
                </a:solidFill>
              </a:defRPr>
            </a:pPr>
            <a:r>
              <a:t>Explora por qué puede ser importante o beneficioso para sus niños, niñas o adolescentes;</a:t>
            </a:r>
            <a:endParaRPr sz="1800">
              <a:solidFill>
                <a:srgbClr val="0B406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>
              <a:solidFill>
                <a:srgbClr val="123D5D"/>
              </a:solidFill>
            </a:endParaRPr>
          </a:p>
        </p:txBody>
      </p:sp>
      <p:sp>
        <p:nvSpPr>
          <p:cNvPr id="777" name="Google Shape;777;p81"/>
          <p:cNvSpPr/>
          <p:nvPr/>
        </p:nvSpPr>
        <p:spPr>
          <a:xfrm>
            <a:off x="269829" y="1537668"/>
            <a:ext cx="1908900" cy="1900500"/>
          </a:xfrm>
          <a:prstGeom prst="roundRect">
            <a:avLst>
              <a:gd fmla="val 16667" name="adj"/>
            </a:avLst>
          </a:prstGeom>
          <a:solidFill>
            <a:srgbClr val="E4027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33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b="1" sz="500">
              <a:solidFill>
                <a:srgbClr val="FFFFFF"/>
              </a:solidFill>
            </a:endParaRPr>
          </a:p>
          <a:p>
            <a:pPr indent="0" lvl="0" marL="1333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pPr>
            <a:r>
              <a:rPr b="1"/>
              <a:t>CONECTAR </a:t>
            </a:r>
            <a:r>
              <a:t>la experiencia de los padres, madres y cuidadores con un principio o lección sobre la crianza positiva</a:t>
            </a:r>
            <a:endParaRPr i="0" sz="1400" u="none" cap="none" strike="noStrike">
              <a:solidFill>
                <a:srgbClr val="FFFFFF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81"/>
          <p:cNvSpPr/>
          <p:nvPr/>
        </p:nvSpPr>
        <p:spPr>
          <a:xfrm>
            <a:off x="893233" y="1075767"/>
            <a:ext cx="655800" cy="646200"/>
          </a:xfrm>
          <a:prstGeom prst="ellipse">
            <a:avLst/>
          </a:prstGeom>
          <a:solidFill>
            <a:srgbClr val="E432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9" name="Google Shape;779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7675" y="1228063"/>
            <a:ext cx="270175" cy="27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82"/>
          <p:cNvSpPr/>
          <p:nvPr/>
        </p:nvSpPr>
        <p:spPr>
          <a:xfrm rot="-5400000">
            <a:off x="570300" y="-374750"/>
            <a:ext cx="506700" cy="16473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82"/>
          <p:cNvSpPr txBox="1"/>
          <p:nvPr/>
        </p:nvSpPr>
        <p:spPr>
          <a:xfrm>
            <a:off x="57625" y="216750"/>
            <a:ext cx="355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A-E-C-P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pic>
        <p:nvPicPr>
          <p:cNvPr id="786" name="Google Shape;786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460" y="805618"/>
            <a:ext cx="270162" cy="270162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82"/>
          <p:cNvSpPr txBox="1"/>
          <p:nvPr/>
        </p:nvSpPr>
        <p:spPr>
          <a:xfrm>
            <a:off x="2662675" y="1060375"/>
            <a:ext cx="5763300" cy="28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600">
                <a:solidFill>
                  <a:srgbClr val="DB3614"/>
                </a:solidFill>
              </a:defRPr>
            </a:pPr>
            <a:r>
              <a:t>POR QUÉ CONECTAR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i="0" sz="1600" u="none" cap="none" strike="noStrike">
              <a:solidFill>
                <a:srgbClr val="0D3959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4060"/>
              </a:buClr>
              <a:buSzPts val="1500"/>
              <a:buChar char="●"/>
              <a:defRPr sz="1500">
                <a:solidFill>
                  <a:srgbClr val="0B4060"/>
                </a:solidFill>
              </a:defRPr>
            </a:pPr>
            <a:r>
              <a:t>Ayuda a los padres, madres o cuidadores a comprender, en sus propias palabras, las razones por las que podrían querer usar una habilidad específica;</a:t>
            </a:r>
            <a:endParaRPr sz="1500">
              <a:solidFill>
                <a:srgbClr val="0B4060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500"/>
              <a:buChar char="●"/>
              <a:defRPr sz="1500">
                <a:solidFill>
                  <a:srgbClr val="0B4060"/>
                </a:solidFill>
              </a:defRPr>
            </a:pPr>
            <a:r>
              <a:t>Ayuda a los padres, madres o cuidadores a comprender los beneficios para ellos y para sus niños, niñas o adolescentes;</a:t>
            </a:r>
            <a:endParaRPr sz="1500">
              <a:solidFill>
                <a:srgbClr val="0B4060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500"/>
              <a:buChar char="●"/>
              <a:defRPr sz="1500">
                <a:solidFill>
                  <a:srgbClr val="0B4060"/>
                </a:solidFill>
              </a:defRPr>
            </a:pPr>
            <a:r>
              <a:t>Refuerza la aceptación de una habilidad de crianza específica.</a:t>
            </a:r>
            <a:endParaRPr sz="1500">
              <a:solidFill>
                <a:srgbClr val="0B406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>
              <a:solidFill>
                <a:srgbClr val="123D5D"/>
              </a:solidFill>
            </a:endParaRPr>
          </a:p>
        </p:txBody>
      </p:sp>
      <p:sp>
        <p:nvSpPr>
          <p:cNvPr id="788" name="Google Shape;788;p82"/>
          <p:cNvSpPr/>
          <p:nvPr/>
        </p:nvSpPr>
        <p:spPr>
          <a:xfrm>
            <a:off x="269829" y="1537668"/>
            <a:ext cx="1908900" cy="1900500"/>
          </a:xfrm>
          <a:prstGeom prst="roundRect">
            <a:avLst>
              <a:gd fmla="val 16667" name="adj"/>
            </a:avLst>
          </a:prstGeom>
          <a:solidFill>
            <a:srgbClr val="E4027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33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b="1" sz="500">
              <a:solidFill>
                <a:srgbClr val="FFFFFF"/>
              </a:solidFill>
            </a:endParaRPr>
          </a:p>
          <a:p>
            <a:pPr indent="0" lvl="0" marL="1333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pPr>
            <a:r>
              <a:rPr b="1"/>
              <a:t>CONECTAR </a:t>
            </a:r>
            <a:r>
              <a:t>la experiencia de los padres, madres y cuidadores con un principio o lección sobre la crianza positiva</a:t>
            </a:r>
            <a:endParaRPr i="0" sz="1400" u="none" cap="none" strike="noStrike">
              <a:solidFill>
                <a:srgbClr val="FFFFFF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82"/>
          <p:cNvSpPr/>
          <p:nvPr/>
        </p:nvSpPr>
        <p:spPr>
          <a:xfrm>
            <a:off x="893233" y="1075767"/>
            <a:ext cx="655800" cy="646200"/>
          </a:xfrm>
          <a:prstGeom prst="ellipse">
            <a:avLst/>
          </a:prstGeom>
          <a:solidFill>
            <a:srgbClr val="E432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0" name="Google Shape;790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7675" y="1228063"/>
            <a:ext cx="270175" cy="27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83"/>
          <p:cNvSpPr/>
          <p:nvPr/>
        </p:nvSpPr>
        <p:spPr>
          <a:xfrm rot="-5400000">
            <a:off x="570300" y="-374750"/>
            <a:ext cx="506700" cy="16473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83"/>
          <p:cNvSpPr txBox="1"/>
          <p:nvPr/>
        </p:nvSpPr>
        <p:spPr>
          <a:xfrm>
            <a:off x="57625" y="216750"/>
            <a:ext cx="355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A-E-C-P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pic>
        <p:nvPicPr>
          <p:cNvPr id="797" name="Google Shape;797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460" y="805618"/>
            <a:ext cx="270162" cy="270162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83"/>
          <p:cNvSpPr txBox="1"/>
          <p:nvPr/>
        </p:nvSpPr>
        <p:spPr>
          <a:xfrm>
            <a:off x="2662675" y="898000"/>
            <a:ext cx="5763300" cy="27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600">
                <a:solidFill>
                  <a:srgbClr val="DB3614"/>
                </a:solidFill>
              </a:defRPr>
            </a:pPr>
            <a:r>
              <a:t>PRACTICAR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i="0" sz="1600" u="none" cap="none" strike="noStrike">
              <a:solidFill>
                <a:srgbClr val="0D3959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0B4060"/>
                </a:solidFill>
              </a:defRPr>
            </a:pPr>
            <a:r>
              <a:t>Las actividades para la casa del chatbot Crianza con Conciencia + animan a los padres, madres y cuidadores a practicar las habilidades de crianza todos los días.</a:t>
            </a:r>
            <a:endParaRPr sz="1500">
              <a:solidFill>
                <a:srgbClr val="0B4060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500"/>
              <a:buChar char="●"/>
              <a:defRPr sz="1500">
                <a:solidFill>
                  <a:srgbClr val="0B4060"/>
                </a:solidFill>
              </a:defRPr>
            </a:pPr>
            <a:r>
              <a:t>Fomenta la confianza a la hora de poner en práctica habilidades nuevas;</a:t>
            </a:r>
            <a:endParaRPr sz="1500">
              <a:solidFill>
                <a:srgbClr val="0B4060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500"/>
              <a:buChar char="●"/>
              <a:defRPr sz="1500">
                <a:solidFill>
                  <a:srgbClr val="0B4060"/>
                </a:solidFill>
              </a:defRPr>
            </a:pPr>
            <a:r>
              <a:t>Les permite a los padres, madres y cuidadores ensayar habilidades nuevas con el apoyo y la orientación de las personas facilitadoras;</a:t>
            </a:r>
            <a:endParaRPr sz="1500">
              <a:solidFill>
                <a:srgbClr val="0B4060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B4060"/>
              </a:buClr>
              <a:buSzPts val="1500"/>
              <a:buChar char="●"/>
              <a:defRPr sz="1500">
                <a:solidFill>
                  <a:srgbClr val="0B4060"/>
                </a:solidFill>
              </a:defRPr>
            </a:pPr>
            <a:r>
              <a:t>Refuerza la aceptación de una habilidad de crianza específica.</a:t>
            </a:r>
            <a:endParaRPr sz="1900">
              <a:solidFill>
                <a:srgbClr val="123D5D"/>
              </a:solidFill>
            </a:endParaRPr>
          </a:p>
        </p:txBody>
      </p:sp>
      <p:sp>
        <p:nvSpPr>
          <p:cNvPr id="799" name="Google Shape;799;p83"/>
          <p:cNvSpPr/>
          <p:nvPr/>
        </p:nvSpPr>
        <p:spPr>
          <a:xfrm>
            <a:off x="258308" y="1522268"/>
            <a:ext cx="1908900" cy="1900500"/>
          </a:xfrm>
          <a:prstGeom prst="roundRect">
            <a:avLst>
              <a:gd fmla="val 16667" name="adj"/>
            </a:avLst>
          </a:prstGeom>
          <a:solidFill>
            <a:srgbClr val="019FE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b="1" sz="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b="1"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rPr b="1"/>
              <a:t>PRACTICAR </a:t>
            </a:r>
            <a:r>
              <a:t>las nuevas habilidades de crianza positiva en casa. </a:t>
            </a:r>
            <a:endParaRPr i="0" sz="9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0" name="Google Shape;800;p83"/>
          <p:cNvSpPr/>
          <p:nvPr/>
        </p:nvSpPr>
        <p:spPr>
          <a:xfrm>
            <a:off x="881712" y="1060367"/>
            <a:ext cx="655800" cy="646200"/>
          </a:xfrm>
          <a:prstGeom prst="ellipse">
            <a:avLst/>
          </a:prstGeom>
          <a:solidFill>
            <a:srgbClr val="019F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1" name="Google Shape;801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7675" y="1212650"/>
            <a:ext cx="270175" cy="270175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83"/>
          <p:cNvSpPr txBox="1"/>
          <p:nvPr/>
        </p:nvSpPr>
        <p:spPr>
          <a:xfrm>
            <a:off x="848550" y="4167175"/>
            <a:ext cx="744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i="1"/>
            </a:pPr>
            <a:r>
              <a:t>Comparte en el chat cómo vas a PRACTICAR las habilidades de facilitación para Crianza con Conciencia +</a:t>
            </a:r>
            <a:endParaRPr i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84"/>
          <p:cNvSpPr txBox="1"/>
          <p:nvPr/>
        </p:nvSpPr>
        <p:spPr>
          <a:xfrm>
            <a:off x="361525" y="3583825"/>
            <a:ext cx="7821300" cy="8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chemeClr val="lt1"/>
                </a:solidFill>
              </a:defRPr>
            </a:pPr>
            <a:r>
              <a:t>PRACTICAR: Juego de Roles </a:t>
            </a:r>
            <a:endParaRPr b="1" sz="5000">
              <a:solidFill>
                <a:schemeClr val="lt1"/>
              </a:solidFill>
            </a:endParaRPr>
          </a:p>
        </p:txBody>
      </p:sp>
      <p:pic>
        <p:nvPicPr>
          <p:cNvPr id="808" name="Google Shape;808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875" y="1842150"/>
            <a:ext cx="1594150" cy="159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85"/>
          <p:cNvSpPr txBox="1"/>
          <p:nvPr/>
        </p:nvSpPr>
        <p:spPr>
          <a:xfrm>
            <a:off x="361525" y="3583825"/>
            <a:ext cx="7821300" cy="8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chemeClr val="lt1"/>
                </a:solidFill>
              </a:defRPr>
            </a:pPr>
            <a:r>
              <a:t>¡Vamos a avanzar! </a:t>
            </a:r>
            <a:br>
              <a:rPr b="1" lang="en-US" sz="5000">
                <a:solidFill>
                  <a:schemeClr val="lt1"/>
                </a:solidFill>
              </a:rPr>
            </a:br>
            <a:endParaRPr b="1"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878"/>
        </a:solidFill>
      </p:bgPr>
    </p:bg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86"/>
          <p:cNvSpPr txBox="1"/>
          <p:nvPr/>
        </p:nvSpPr>
        <p:spPr>
          <a:xfrm>
            <a:off x="361525" y="2425675"/>
            <a:ext cx="7821300" cy="14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chemeClr val="lt1"/>
                </a:solidFill>
              </a:defRPr>
            </a:pPr>
            <a:r>
              <a:t>Módulo 3: Demostración En Vivo de la Sesión de Integración</a:t>
            </a:r>
            <a:endParaRPr b="1"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5F5B"/>
        </a:solidFill>
      </p:bgPr>
    </p:bg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3" name="Google Shape;823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0500" y="877575"/>
            <a:ext cx="2215375" cy="2215375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87"/>
          <p:cNvSpPr txBox="1"/>
          <p:nvPr/>
        </p:nvSpPr>
        <p:spPr>
          <a:xfrm>
            <a:off x="1941138" y="3392625"/>
            <a:ext cx="52617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Cambio de rol para ser padre, madre o cuidador</a:t>
            </a:r>
            <a:endParaRPr sz="4100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88"/>
          <p:cNvSpPr/>
          <p:nvPr/>
        </p:nvSpPr>
        <p:spPr>
          <a:xfrm rot="-5400000">
            <a:off x="2718900" y="-2517675"/>
            <a:ext cx="480900" cy="59187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88"/>
          <p:cNvSpPr txBox="1"/>
          <p:nvPr/>
        </p:nvSpPr>
        <p:spPr>
          <a:xfrm>
            <a:off x="286222" y="1975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Demostración en directo de la Sesión de Integración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88"/>
          <p:cNvSpPr txBox="1"/>
          <p:nvPr/>
        </p:nvSpPr>
        <p:spPr>
          <a:xfrm>
            <a:off x="434350" y="918300"/>
            <a:ext cx="7962000" cy="3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rgbClr val="DB3514"/>
                </a:solidFill>
              </a:defRPr>
            </a:pPr>
            <a:r>
              <a:t>¿Cuáles son los objetivos de la sesión de integración?</a:t>
            </a:r>
            <a:endParaRPr b="1" i="0" sz="1700" u="none" cap="none" strike="noStrike">
              <a:solidFill>
                <a:srgbClr val="DB351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13D5C"/>
              </a:buClr>
              <a:buSzPts val="1100"/>
              <a:buFont typeface="Noto Sans"/>
              <a:buChar char="●"/>
              <a:defRPr sz="15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Los padres, madres y cuidadores aprenden sobre las sesiones y la estructura de Crianza con Conciencia +. </a:t>
            </a:r>
            <a:endParaRPr sz="15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13D5C"/>
              </a:buClr>
              <a:buSzPts val="1100"/>
              <a:buFont typeface="Noto Sans"/>
              <a:buChar char="●"/>
              <a:defRPr sz="15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las personas participantes obtienen conocimientos básicos de uso del teléfono para acceder a todos los contenidos relevantes de Crianza con Conciencia + y participar en los grupos de apoyo de WhatsApp.</a:t>
            </a:r>
            <a:endParaRPr sz="15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13D5C"/>
              </a:buClr>
              <a:buSzPts val="1100"/>
              <a:buFont typeface="Noto Sans"/>
              <a:buChar char="●"/>
              <a:defRPr sz="15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las personas participantes sientan las bases para trabajar bien juntos durante los grupos de apoyo de WhatsApp. </a:t>
            </a:r>
            <a:endParaRPr sz="15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113D5C"/>
              </a:buClr>
              <a:buSzPts val="1100"/>
              <a:buFont typeface="Noto Sans"/>
              <a:buChar char="●"/>
              <a:defRPr sz="15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Los padres, madres y cuidadores se incorporan al chatbot de Crianza con Conciencia + y completan la sesión de integración junto con el flujo de bienvenida. </a:t>
            </a:r>
            <a:endParaRPr sz="1900">
              <a:solidFill>
                <a:schemeClr val="accent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6" name="Google Shape;836;p89"/>
          <p:cNvGraphicFramePr/>
          <p:nvPr/>
        </p:nvGraphicFramePr>
        <p:xfrm>
          <a:off x="143113" y="75900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{31DC0F98-B191-489F-A54A-C2740581BDAE}</a:tableStyleId>
              </a:tblPr>
              <a:tblGrid>
                <a:gridCol w="1803300"/>
                <a:gridCol w="5757950"/>
                <a:gridCol w="1296525"/>
              </a:tblGrid>
              <a:tr h="364400">
                <a:tc gridSpan="3">
                  <a:txBody>
                    <a:bodyPr/>
                    <a:lstStyle/>
                    <a:p>
                      <a:pPr indent="0" lvl="0" marL="0" marR="18675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20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defRPr>
                      </a:pPr>
                      <a:r>
                        <a:t>Programa de la sesión</a:t>
                      </a:r>
                      <a:endParaRPr b="1" sz="1200">
                        <a:solidFill>
                          <a:srgbClr val="FFFFFF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1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69A"/>
                    </a:solidFill>
                  </a:tcPr>
                </a:tc>
                <a:tc hMerge="1"/>
                <a:tc hMerge="1"/>
              </a:tr>
              <a:tr h="632550">
                <a:tc rowSpan="2">
                  <a:txBody>
                    <a:bodyPr/>
                    <a:lstStyle/>
                    <a:p>
                      <a:pPr indent="0" lvl="0" marL="0" marR="18675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200" u="sng">
                          <a:solidFill>
                            <a:srgbClr val="1155C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defRPr>
                      </a:pPr>
                      <a:r>
                        <a:t>Te damos la bienvenida a</a:t>
                      </a:r>
                      <a:endParaRPr sz="1200">
                        <a:solidFill>
                          <a:srgbClr val="113D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indent="0" lvl="0" marL="0" marR="18675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113D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63500" marB="63500" marR="63500" marL="63500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31140" lvl="0" marL="200025" marR="18675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800"/>
                        <a:buFont typeface="Noto Sans Symbols"/>
                        <a:buChar char="●"/>
                        <a:defRPr sz="1200">
                          <a:solidFill>
                            <a:srgbClr val="113D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defRPr>
                      </a:pPr>
                      <a:r>
                        <a:t>Presentaciones</a:t>
                      </a:r>
                      <a:endParaRPr sz="1200">
                        <a:solidFill>
                          <a:srgbClr val="113D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indent="-231140" lvl="0" marL="200025" marR="18675" rtl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800"/>
                        <a:buFont typeface="Noto Sans Symbols"/>
                        <a:buChar char="●"/>
                        <a:defRPr sz="1200">
                          <a:solidFill>
                            <a:srgbClr val="113D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defRPr>
                      </a:pPr>
                      <a:r>
                        <a:t>Conocerse mutuamente</a:t>
                      </a:r>
                      <a:endParaRPr sz="1200">
                        <a:solidFill>
                          <a:srgbClr val="113D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63500" marB="63500" marR="63500" marL="6350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18675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200">
                          <a:solidFill>
                            <a:srgbClr val="113D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defRPr>
                      </a:pPr>
                      <a:r>
                        <a:t>15 min</a:t>
                      </a:r>
                      <a:endParaRPr b="1" sz="1200">
                        <a:solidFill>
                          <a:srgbClr val="113D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indent="0" lvl="0" marL="19685" marR="18675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113D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525">
                <a:tc vMerge="1"/>
                <a:tc>
                  <a:txBody>
                    <a:bodyPr/>
                    <a:lstStyle/>
                    <a:p>
                      <a:pPr indent="-231140" lvl="0" marL="200025" marR="18675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800"/>
                        <a:buFont typeface="Noto Sans Symbols"/>
                        <a:buChar char="●"/>
                        <a:defRPr sz="1200">
                          <a:solidFill>
                            <a:srgbClr val="113D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defRPr>
                      </a:pPr>
                      <a:r>
                        <a:t>Resumen de Crianza con Conciencia + </a:t>
                      </a:r>
                      <a:endParaRPr sz="1200">
                        <a:solidFill>
                          <a:srgbClr val="113D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63500" marB="63500" marR="63500" marL="6350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1632925">
                <a:tc>
                  <a:txBody>
                    <a:bodyPr/>
                    <a:lstStyle/>
                    <a:p>
                      <a:pPr indent="0" lvl="0" marL="0" marR="18675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200" u="sng">
                          <a:solidFill>
                            <a:srgbClr val="1155C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defRPr>
                      </a:pPr>
                      <a:r>
                        <a:rPr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Primeros pasos para usar el chatbot de Crianza con Conciencia +</a:t>
                      </a:r>
                      <a:endParaRPr sz="1200">
                        <a:solidFill>
                          <a:srgbClr val="113D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indent="0" lvl="0" marL="0" marR="18675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113D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63500" marB="63500" marR="63500" marL="63500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31140" lvl="0" marL="200025" marR="18675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800"/>
                        <a:buFont typeface="Noto Sans Symbols"/>
                        <a:buChar char="●"/>
                        <a:defRPr sz="1200">
                          <a:solidFill>
                            <a:srgbClr val="113D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defRPr>
                      </a:pPr>
                      <a:r>
                        <a:t>Introducción al uso del teléfono </a:t>
                      </a:r>
                      <a:endParaRPr sz="1200">
                        <a:solidFill>
                          <a:srgbClr val="113D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indent="-231140" lvl="0" marL="200025" marR="18675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800"/>
                        <a:buFont typeface="Noto Sans Symbols"/>
                        <a:buChar char="●"/>
                        <a:defRPr sz="1200">
                          <a:solidFill>
                            <a:srgbClr val="113D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defRPr>
                      </a:pPr>
                      <a:r>
                        <a:t>Integración al chatbot de Crianza con Conciencia +</a:t>
                      </a:r>
                      <a:endParaRPr sz="1200">
                        <a:solidFill>
                          <a:srgbClr val="113D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indent="-231140" lvl="0" marL="200025" marR="18675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800"/>
                        <a:buFont typeface="Noto Sans Symbols"/>
                        <a:buChar char="●"/>
                        <a:defRPr sz="1200">
                          <a:solidFill>
                            <a:srgbClr val="113D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defRPr>
                      </a:pPr>
                      <a:r>
                        <a:t>Primera habilidad de crianza: autocuidado</a:t>
                      </a:r>
                      <a:endParaRPr sz="1200">
                        <a:solidFill>
                          <a:srgbClr val="113D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indent="-231140" lvl="0" marL="200025" marR="18675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800"/>
                        <a:buFont typeface="Noto Sans Symbols"/>
                        <a:buChar char="●"/>
                        <a:defRPr sz="1200">
                          <a:solidFill>
                            <a:srgbClr val="113D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defRPr>
                      </a:pPr>
                      <a:r>
                        <a:t>Revisión general de la primera sesión del chatbot de Crianza con Conciencia + </a:t>
                      </a:r>
                      <a:endParaRPr sz="1200">
                        <a:solidFill>
                          <a:srgbClr val="113D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indent="-231140" lvl="0" marL="200025" marR="18675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800"/>
                        <a:buFont typeface="Noto Sans Symbols"/>
                        <a:buChar char="●"/>
                        <a:defRPr sz="1200">
                          <a:solidFill>
                            <a:srgbClr val="113D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defRPr>
                      </a:pPr>
                      <a:r>
                        <a:t>Resolver Dificultades con el chatbot de Crianza con Conciencia +</a:t>
                      </a:r>
                      <a:endParaRPr sz="1200">
                        <a:solidFill>
                          <a:srgbClr val="113D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63500" marB="63500" marR="63500" marL="6350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8675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200">
                          <a:solidFill>
                            <a:srgbClr val="113D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defRPr>
                      </a:pPr>
                      <a:r>
                        <a:t>65 min</a:t>
                      </a:r>
                      <a:endParaRPr sz="1200">
                        <a:solidFill>
                          <a:srgbClr val="113D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32925">
                <a:tc>
                  <a:txBody>
                    <a:bodyPr/>
                    <a:lstStyle/>
                    <a:p>
                      <a:pPr indent="0" lvl="0" marL="0" marR="18675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200" u="sng">
                          <a:solidFill>
                            <a:srgbClr val="1155C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defRPr>
                      </a:pPr>
                      <a:r>
                        <a:t>Más Adelante</a:t>
                      </a:r>
                      <a:endParaRPr sz="1200">
                        <a:solidFill>
                          <a:srgbClr val="113D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indent="0" lvl="0" marL="0" marR="18675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113D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31140" lvl="0" marL="200025" marR="18675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800"/>
                        <a:buFont typeface="Noto Sans Symbols"/>
                        <a:buChar char="●"/>
                        <a:defRPr sz="1200">
                          <a:solidFill>
                            <a:srgbClr val="113D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defRPr>
                      </a:pPr>
                      <a:r>
                        <a:t>Establecer Reglas Generales </a:t>
                      </a:r>
                      <a:endParaRPr sz="1200">
                        <a:solidFill>
                          <a:srgbClr val="113D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indent="-231140" lvl="0" marL="200025" marR="18675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800"/>
                        <a:buFont typeface="Noto Sans Symbols"/>
                        <a:buChar char="●"/>
                        <a:defRPr sz="1200">
                          <a:solidFill>
                            <a:srgbClr val="113D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defRPr>
                      </a:pPr>
                      <a:r>
                        <a:t>Rol del Facilitador </a:t>
                      </a:r>
                      <a:endParaRPr sz="1200">
                        <a:solidFill>
                          <a:srgbClr val="113D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indent="-231140" lvl="0" marL="200025" marR="18675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800"/>
                        <a:buFont typeface="Noto Sans Symbols"/>
                        <a:buChar char="●"/>
                        <a:defRPr sz="1200">
                          <a:solidFill>
                            <a:srgbClr val="113D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defRPr>
                      </a:pPr>
                      <a:r>
                        <a:t>Preguntas </a:t>
                      </a:r>
                      <a:endParaRPr sz="1200">
                        <a:solidFill>
                          <a:srgbClr val="113D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indent="-231140" lvl="0" marL="200025" marR="18675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800"/>
                        <a:buFont typeface="Noto Sans Symbols"/>
                        <a:buChar char="●"/>
                        <a:defRPr sz="1200">
                          <a:solidFill>
                            <a:srgbClr val="113D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defRPr>
                      </a:pPr>
                      <a:r>
                        <a:t>Conectar Formando Conciencia + y el Número de Identificación del Participante</a:t>
                      </a:r>
                      <a:endParaRPr sz="1200">
                        <a:solidFill>
                          <a:srgbClr val="113D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indent="-231140" lvl="0" marL="200025" marR="18675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800"/>
                        <a:buFont typeface="Noto Sans Symbols"/>
                        <a:buChar char="●"/>
                        <a:defRPr sz="1200">
                          <a:solidFill>
                            <a:srgbClr val="113D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defRPr>
                      </a:pPr>
                      <a:r>
                        <a:t>Actividad de Cierre </a:t>
                      </a:r>
                      <a:endParaRPr sz="1200">
                        <a:solidFill>
                          <a:srgbClr val="113D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8675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200">
                          <a:solidFill>
                            <a:srgbClr val="113D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defRPr>
                      </a:pPr>
                      <a:r>
                        <a:t>40 min</a:t>
                      </a:r>
                      <a:endParaRPr sz="1200">
                        <a:solidFill>
                          <a:srgbClr val="113D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90"/>
          <p:cNvSpPr/>
          <p:nvPr/>
        </p:nvSpPr>
        <p:spPr>
          <a:xfrm rot="-5400000">
            <a:off x="4235100" y="-4033875"/>
            <a:ext cx="519900" cy="89901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90"/>
          <p:cNvSpPr txBox="1"/>
          <p:nvPr/>
        </p:nvSpPr>
        <p:spPr>
          <a:xfrm>
            <a:off x="286225" y="197499"/>
            <a:ext cx="88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Cómo usar el chat automatizado de WhatsApp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90"/>
          <p:cNvSpPr txBox="1"/>
          <p:nvPr/>
        </p:nvSpPr>
        <p:spPr>
          <a:xfrm>
            <a:off x="269600" y="972071"/>
            <a:ext cx="8199600" cy="3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800">
                <a:solidFill>
                  <a:srgbClr val="00969B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Uso del teléfono</a:t>
            </a:r>
            <a:endParaRPr b="0" i="0" sz="1800" u="none" cap="none" strike="noStrike">
              <a:solidFill>
                <a:srgbClr val="0096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800" u="none" cap="none" strike="noStrike">
              <a:solidFill>
                <a:srgbClr val="0D3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5E00"/>
              </a:buClr>
              <a:buSzPts val="1700"/>
              <a:buFont typeface="Arial"/>
              <a:buChar char="●"/>
              <a:defRPr sz="1700">
                <a:solidFill>
                  <a:srgbClr val="123D5D"/>
                </a:solidFill>
              </a:defRPr>
            </a:pPr>
            <a:r>
              <a:t>Prender y apagar el teléfono </a:t>
            </a:r>
            <a:endParaRPr sz="1700">
              <a:solidFill>
                <a:srgbClr val="123D5D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5E00"/>
              </a:buClr>
              <a:buSzPts val="1700"/>
              <a:buFont typeface="Arial"/>
              <a:buChar char="●"/>
              <a:defRPr sz="1700">
                <a:solidFill>
                  <a:srgbClr val="123D5D"/>
                </a:solidFill>
              </a:defRPr>
            </a:pPr>
            <a:r>
              <a:t>Ajustes del teléfono </a:t>
            </a:r>
            <a:endParaRPr sz="1700">
              <a:solidFill>
                <a:srgbClr val="123D5D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5E00"/>
              </a:buClr>
              <a:buSzPts val="1700"/>
              <a:buFont typeface="Arial"/>
              <a:buChar char="●"/>
              <a:defRPr sz="1700">
                <a:solidFill>
                  <a:srgbClr val="123D5D"/>
                </a:solidFill>
              </a:defRPr>
            </a:pPr>
            <a:r>
              <a:t>Ajustes de WhatsApp </a:t>
            </a:r>
            <a:endParaRPr sz="1700">
              <a:solidFill>
                <a:srgbClr val="123D5D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5E00"/>
              </a:buClr>
              <a:buSzPts val="1700"/>
              <a:buFont typeface="Arial"/>
              <a:buChar char="●"/>
              <a:defRPr sz="1700">
                <a:solidFill>
                  <a:srgbClr val="123D5D"/>
                </a:solidFill>
              </a:defRPr>
            </a:pPr>
            <a:r>
              <a:t>Carga del teléfono </a:t>
            </a:r>
            <a:endParaRPr sz="1700">
              <a:solidFill>
                <a:srgbClr val="123D5D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5E00"/>
              </a:buClr>
              <a:buSzPts val="1700"/>
              <a:buFont typeface="Arial"/>
              <a:buChar char="●"/>
              <a:defRPr sz="1700">
                <a:solidFill>
                  <a:srgbClr val="123D5D"/>
                </a:solidFill>
              </a:defRPr>
            </a:pPr>
            <a:r>
              <a:t>Paquete de datos</a:t>
            </a:r>
            <a:endParaRPr sz="1700">
              <a:solidFill>
                <a:srgbClr val="123D5D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5E00"/>
              </a:buClr>
              <a:buSzPts val="1700"/>
              <a:buFont typeface="Arial"/>
              <a:buChar char="●"/>
              <a:defRPr sz="1700">
                <a:solidFill>
                  <a:srgbClr val="123D5D"/>
                </a:solidFill>
              </a:defRPr>
            </a:pPr>
            <a:r>
              <a:t>Almacenamiento interno del teléfono </a:t>
            </a:r>
            <a:endParaRPr sz="1700">
              <a:solidFill>
                <a:srgbClr val="123D5D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5E00"/>
              </a:buClr>
              <a:buSzPts val="1700"/>
              <a:buFont typeface="Arial"/>
              <a:buChar char="●"/>
              <a:defRPr sz="1700">
                <a:solidFill>
                  <a:srgbClr val="123D5D"/>
                </a:solidFill>
              </a:defRPr>
            </a:pPr>
            <a:r>
              <a:t>Conciencia digital </a:t>
            </a:r>
            <a:endParaRPr sz="1700">
              <a:solidFill>
                <a:srgbClr val="123D5D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FF5E00"/>
              </a:buClr>
              <a:buSzPts val="1700"/>
              <a:buFont typeface="Arial"/>
              <a:buChar char="●"/>
              <a:defRPr sz="1700">
                <a:solidFill>
                  <a:srgbClr val="123D5D"/>
                </a:solidFill>
              </a:defRPr>
            </a:pPr>
            <a:r>
              <a:t>Evita daños al teléfono</a:t>
            </a:r>
            <a:endParaRPr sz="1700">
              <a:solidFill>
                <a:srgbClr val="123D5D"/>
              </a:solidFill>
            </a:endParaRPr>
          </a:p>
        </p:txBody>
      </p:sp>
      <p:pic>
        <p:nvPicPr>
          <p:cNvPr id="844" name="Google Shape;844;p90"/>
          <p:cNvPicPr preferRelativeResize="0"/>
          <p:nvPr/>
        </p:nvPicPr>
        <p:blipFill rotWithShape="1">
          <a:blip r:embed="rId3">
            <a:alphaModFix/>
          </a:blip>
          <a:srcRect b="2812" l="0" r="29223" t="2821"/>
          <a:stretch/>
        </p:blipFill>
        <p:spPr>
          <a:xfrm>
            <a:off x="5828000" y="1164350"/>
            <a:ext cx="3074700" cy="3074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91"/>
          <p:cNvSpPr/>
          <p:nvPr/>
        </p:nvSpPr>
        <p:spPr>
          <a:xfrm rot="-5400000">
            <a:off x="4236300" y="-4094600"/>
            <a:ext cx="480900" cy="89535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91"/>
          <p:cNvSpPr txBox="1"/>
          <p:nvPr/>
        </p:nvSpPr>
        <p:spPr>
          <a:xfrm>
            <a:off x="286222" y="197506"/>
            <a:ext cx="885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800">
                <a:solidFill>
                  <a:schemeClr val="lt1"/>
                </a:solidFill>
              </a:defRPr>
            </a:pPr>
            <a:r>
              <a:t>Aspectos básicos del Uso del Teléfono 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1" name="Google Shape;851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375" y="691225"/>
            <a:ext cx="7186099" cy="404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92"/>
          <p:cNvSpPr/>
          <p:nvPr/>
        </p:nvSpPr>
        <p:spPr>
          <a:xfrm rot="-5400000">
            <a:off x="4236300" y="-4035075"/>
            <a:ext cx="480900" cy="89535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92"/>
          <p:cNvSpPr txBox="1"/>
          <p:nvPr/>
        </p:nvSpPr>
        <p:spPr>
          <a:xfrm>
            <a:off x="286222" y="197506"/>
            <a:ext cx="885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800">
                <a:solidFill>
                  <a:schemeClr val="lt1"/>
                </a:solidFill>
              </a:defRPr>
            </a:pPr>
            <a:r>
              <a:t>Aspectos básicos del Uso del Teléfono 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8" name="Google Shape;858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675" y="721450"/>
            <a:ext cx="7193349" cy="404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93"/>
          <p:cNvSpPr/>
          <p:nvPr/>
        </p:nvSpPr>
        <p:spPr>
          <a:xfrm rot="-5400000">
            <a:off x="4236300" y="-4035075"/>
            <a:ext cx="480900" cy="89535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93"/>
          <p:cNvSpPr txBox="1"/>
          <p:nvPr/>
        </p:nvSpPr>
        <p:spPr>
          <a:xfrm>
            <a:off x="286222" y="197506"/>
            <a:ext cx="885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800">
                <a:solidFill>
                  <a:schemeClr val="lt1"/>
                </a:solidFill>
              </a:defRPr>
            </a:pPr>
            <a:r>
              <a:t>Aspectos básicos del Uso del Teléfono 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5" name="Google Shape;865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987" y="743150"/>
            <a:ext cx="7115525" cy="4002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94"/>
          <p:cNvSpPr txBox="1"/>
          <p:nvPr>
            <p:ph idx="1" type="body"/>
          </p:nvPr>
        </p:nvSpPr>
        <p:spPr>
          <a:xfrm>
            <a:off x="2579050" y="273675"/>
            <a:ext cx="5605200" cy="13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elicious Handrawn"/>
              <a:buNone/>
            </a:pPr>
            <a:r>
              <a:t>Primeros pasos al usar Crianza con Conciencia + Chatbot</a:t>
            </a:r>
          </a:p>
        </p:txBody>
      </p:sp>
      <p:sp>
        <p:nvSpPr>
          <p:cNvPr id="871" name="Google Shape;871;p94"/>
          <p:cNvSpPr txBox="1"/>
          <p:nvPr>
            <p:ph idx="2" type="body"/>
          </p:nvPr>
        </p:nvSpPr>
        <p:spPr>
          <a:xfrm>
            <a:off x="2579050" y="1675800"/>
            <a:ext cx="6173100" cy="3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700"/>
              <a:buFont typeface="Delicious Handrawn"/>
              <a:buAutoNum type="arabicPeriod"/>
              <a:defRPr sz="2800"/>
            </a:pPr>
            <a:r>
              <a:t>Guarda el teléfono de Crianza con Conciencia + como contacto:</a:t>
            </a:r>
            <a:endParaRPr sz="28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endParaRPr sz="28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6700">
                <a:latin typeface="Noto Sans"/>
                <a:ea typeface="Noto Sans"/>
                <a:cs typeface="Noto Sans"/>
                <a:sym typeface="Noto Sans"/>
              </a:defRPr>
            </a:pPr>
            <a:r>
              <a:t>56 5100 6984</a:t>
            </a: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Noto Sans Thin"/>
              <a:buNone/>
            </a:p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6" name="Google Shape;876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7762"/>
            <a:ext cx="9143999" cy="5219026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95"/>
          <p:cNvSpPr txBox="1"/>
          <p:nvPr/>
        </p:nvSpPr>
        <p:spPr>
          <a:xfrm>
            <a:off x="1315625" y="98075"/>
            <a:ext cx="32721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sz="5400">
                <a:solidFill>
                  <a:srgbClr val="FEFFFF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Pasos:</a:t>
            </a:r>
            <a:endParaRPr b="0" i="0" sz="5400" u="none" cap="none" strike="noStrike">
              <a:solidFill>
                <a:srgbClr val="FEFFFF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878" name="Google Shape;878;p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2874" y="1322625"/>
            <a:ext cx="1601051" cy="3673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15499" y="1322625"/>
            <a:ext cx="1696892" cy="3673924"/>
          </a:xfrm>
          <a:prstGeom prst="rect">
            <a:avLst/>
          </a:prstGeom>
          <a:noFill/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0" name="Google Shape;880;p9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87674" y="1322615"/>
            <a:ext cx="1696899" cy="3673944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95"/>
          <p:cNvSpPr/>
          <p:nvPr/>
        </p:nvSpPr>
        <p:spPr>
          <a:xfrm>
            <a:off x="2074700" y="938375"/>
            <a:ext cx="557400" cy="553800"/>
          </a:xfrm>
          <a:prstGeom prst="ellipse">
            <a:avLst/>
          </a:prstGeom>
          <a:solidFill>
            <a:srgbClr val="D60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1</a:t>
            </a:r>
            <a:endParaRPr b="0" i="0" sz="30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882" name="Google Shape;882;p95"/>
          <p:cNvSpPr/>
          <p:nvPr/>
        </p:nvSpPr>
        <p:spPr>
          <a:xfrm>
            <a:off x="4485250" y="938375"/>
            <a:ext cx="557400" cy="553800"/>
          </a:xfrm>
          <a:prstGeom prst="ellipse">
            <a:avLst/>
          </a:prstGeom>
          <a:solidFill>
            <a:srgbClr val="FF5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2</a:t>
            </a:r>
            <a:endParaRPr b="0" i="0" sz="30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883" name="Google Shape;883;p95"/>
          <p:cNvSpPr/>
          <p:nvPr/>
        </p:nvSpPr>
        <p:spPr>
          <a:xfrm>
            <a:off x="6757425" y="938375"/>
            <a:ext cx="557400" cy="553800"/>
          </a:xfrm>
          <a:prstGeom prst="ellipse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3</a:t>
            </a:r>
            <a:endParaRPr b="0" i="0" sz="30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884" name="Google Shape;884;p9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67900" y="2074119"/>
            <a:ext cx="431350" cy="609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9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96625" y="2182519"/>
            <a:ext cx="431350" cy="609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9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90125" y="1568369"/>
            <a:ext cx="431350" cy="609231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95"/>
          <p:cNvSpPr/>
          <p:nvPr/>
        </p:nvSpPr>
        <p:spPr>
          <a:xfrm>
            <a:off x="2001575" y="1843550"/>
            <a:ext cx="73200" cy="12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95"/>
          <p:cNvSpPr txBox="1"/>
          <p:nvPr/>
        </p:nvSpPr>
        <p:spPr>
          <a:xfrm>
            <a:off x="1910225" y="1723138"/>
            <a:ext cx="2559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  <a:defRPr sz="11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6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95"/>
          <p:cNvSpPr/>
          <p:nvPr/>
        </p:nvSpPr>
        <p:spPr>
          <a:xfrm>
            <a:off x="4389400" y="1839150"/>
            <a:ext cx="73200" cy="123000"/>
          </a:xfrm>
          <a:prstGeom prst="rect">
            <a:avLst/>
          </a:prstGeom>
          <a:solidFill>
            <a:srgbClr val="EEEEEC"/>
          </a:solidFill>
          <a:ln cap="flat" cmpd="sng" w="9525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95"/>
          <p:cNvSpPr txBox="1"/>
          <p:nvPr/>
        </p:nvSpPr>
        <p:spPr>
          <a:xfrm>
            <a:off x="4298050" y="1723138"/>
            <a:ext cx="2559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  <a:defRPr sz="11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6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96"/>
          <p:cNvSpPr txBox="1"/>
          <p:nvPr>
            <p:ph idx="1" type="body"/>
          </p:nvPr>
        </p:nvSpPr>
        <p:spPr>
          <a:xfrm>
            <a:off x="3161276" y="1290304"/>
            <a:ext cx="5045100" cy="25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elicious Handrawn"/>
              <a:buNone/>
            </a:pPr>
            <a:r>
              <a:t>Después de guardar el número, abre WhatsApp y busca "Crianza con Conciencia +"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Google Shape;900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7762"/>
            <a:ext cx="9143999" cy="5219026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97"/>
          <p:cNvSpPr txBox="1"/>
          <p:nvPr/>
        </p:nvSpPr>
        <p:spPr>
          <a:xfrm>
            <a:off x="1315625" y="98075"/>
            <a:ext cx="32721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sz="5400">
                <a:solidFill>
                  <a:srgbClr val="FEFFFF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Pasos:</a:t>
            </a:r>
            <a:endParaRPr b="0" i="0" sz="5400" u="none" cap="none" strike="noStrike">
              <a:solidFill>
                <a:srgbClr val="FEFFFF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902" name="Google Shape;902;p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83300" y="1642900"/>
            <a:ext cx="201275" cy="28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2100" y="2055300"/>
            <a:ext cx="201275" cy="28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97"/>
          <p:cNvPicPr preferRelativeResize="0"/>
          <p:nvPr/>
        </p:nvPicPr>
        <p:blipFill rotWithShape="1">
          <a:blip r:embed="rId5">
            <a:alphaModFix/>
          </a:blip>
          <a:srcRect b="7037" l="28782" r="49104" t="7029"/>
          <a:stretch/>
        </p:blipFill>
        <p:spPr>
          <a:xfrm>
            <a:off x="3966200" y="1322625"/>
            <a:ext cx="1649589" cy="3606074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97"/>
          <p:cNvSpPr/>
          <p:nvPr/>
        </p:nvSpPr>
        <p:spPr>
          <a:xfrm>
            <a:off x="4485250" y="938375"/>
            <a:ext cx="557400" cy="553800"/>
          </a:xfrm>
          <a:prstGeom prst="ellipse">
            <a:avLst/>
          </a:prstGeom>
          <a:solidFill>
            <a:srgbClr val="FF5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2</a:t>
            </a:r>
            <a:endParaRPr b="0" i="0" sz="30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906" name="Google Shape;906;p97"/>
          <p:cNvSpPr/>
          <p:nvPr/>
        </p:nvSpPr>
        <p:spPr>
          <a:xfrm>
            <a:off x="4069575" y="1927175"/>
            <a:ext cx="1074000" cy="265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7" name="Google Shape;907;p9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53750" y="1339913"/>
            <a:ext cx="1649599" cy="3571512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97"/>
          <p:cNvSpPr/>
          <p:nvPr/>
        </p:nvSpPr>
        <p:spPr>
          <a:xfrm>
            <a:off x="6757425" y="938375"/>
            <a:ext cx="557400" cy="553800"/>
          </a:xfrm>
          <a:prstGeom prst="ellipse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3</a:t>
            </a:r>
            <a:endParaRPr b="0" i="0" sz="30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909" name="Google Shape;909;p97"/>
          <p:cNvSpPr txBox="1"/>
          <p:nvPr/>
        </p:nvSpPr>
        <p:spPr>
          <a:xfrm>
            <a:off x="7884575" y="1547075"/>
            <a:ext cx="972300" cy="142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>
                <a:solidFill>
                  <a:srgbClr val="0C406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Busca el contacto que guardaste y cuando aparezca, presiónalo</a:t>
            </a:r>
            <a:endParaRPr b="0" i="0" sz="1400" u="none" cap="none" strike="noStrike">
              <a:solidFill>
                <a:srgbClr val="0C406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910" name="Google Shape;910;p9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4141818">
            <a:off x="7161665" y="1523742"/>
            <a:ext cx="737994" cy="737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9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28599" y="1339900"/>
            <a:ext cx="1649599" cy="3571536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97"/>
          <p:cNvSpPr/>
          <p:nvPr/>
        </p:nvSpPr>
        <p:spPr>
          <a:xfrm>
            <a:off x="2074700" y="938375"/>
            <a:ext cx="557400" cy="553800"/>
          </a:xfrm>
          <a:prstGeom prst="ellipse">
            <a:avLst/>
          </a:prstGeom>
          <a:solidFill>
            <a:srgbClr val="D60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1</a:t>
            </a:r>
            <a:endParaRPr b="0" i="0" sz="30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913" name="Google Shape;913;p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0750" y="3793619"/>
            <a:ext cx="431350" cy="609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1913" y="1547069"/>
            <a:ext cx="431350" cy="609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51950" y="2156294"/>
            <a:ext cx="431350" cy="609231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97"/>
          <p:cNvSpPr/>
          <p:nvPr/>
        </p:nvSpPr>
        <p:spPr>
          <a:xfrm>
            <a:off x="6153750" y="2826100"/>
            <a:ext cx="1526100" cy="2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97"/>
          <p:cNvSpPr/>
          <p:nvPr/>
        </p:nvSpPr>
        <p:spPr>
          <a:xfrm>
            <a:off x="6215500" y="3227200"/>
            <a:ext cx="1526100" cy="28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" name="Google Shape;922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7762"/>
            <a:ext cx="9143999" cy="5219026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98"/>
          <p:cNvSpPr txBox="1"/>
          <p:nvPr/>
        </p:nvSpPr>
        <p:spPr>
          <a:xfrm>
            <a:off x="1315625" y="98075"/>
            <a:ext cx="32721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sz="5400">
                <a:solidFill>
                  <a:srgbClr val="FEFFFF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Pasos:</a:t>
            </a:r>
            <a:endParaRPr b="0" i="0" sz="5400" u="none" cap="none" strike="noStrike">
              <a:solidFill>
                <a:srgbClr val="FEFFFF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924" name="Google Shape;924;p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2100" y="2055300"/>
            <a:ext cx="201275" cy="28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8599" y="1339900"/>
            <a:ext cx="1649599" cy="3571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0750" y="3793619"/>
            <a:ext cx="431350" cy="609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9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28599" y="1339890"/>
            <a:ext cx="1649599" cy="3571536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98"/>
          <p:cNvSpPr/>
          <p:nvPr/>
        </p:nvSpPr>
        <p:spPr>
          <a:xfrm>
            <a:off x="2074700" y="938375"/>
            <a:ext cx="557400" cy="553800"/>
          </a:xfrm>
          <a:prstGeom prst="ellipse">
            <a:avLst/>
          </a:prstGeom>
          <a:solidFill>
            <a:srgbClr val="D60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4</a:t>
            </a:r>
            <a:endParaRPr b="0" i="0" sz="30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929" name="Google Shape;929;p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4688" y="3355769"/>
            <a:ext cx="431350" cy="609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98"/>
          <p:cNvPicPr preferRelativeResize="0"/>
          <p:nvPr/>
        </p:nvPicPr>
        <p:blipFill rotWithShape="1">
          <a:blip r:embed="rId7">
            <a:alphaModFix/>
          </a:blip>
          <a:srcRect b="31299" l="0" r="0" t="0"/>
          <a:stretch/>
        </p:blipFill>
        <p:spPr>
          <a:xfrm>
            <a:off x="3970600" y="1339900"/>
            <a:ext cx="1649599" cy="2453724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98"/>
          <p:cNvSpPr/>
          <p:nvPr/>
        </p:nvSpPr>
        <p:spPr>
          <a:xfrm>
            <a:off x="4485250" y="938375"/>
            <a:ext cx="557400" cy="553800"/>
          </a:xfrm>
          <a:prstGeom prst="ellipse">
            <a:avLst/>
          </a:prstGeom>
          <a:solidFill>
            <a:srgbClr val="FF5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5</a:t>
            </a:r>
            <a:endParaRPr b="0" i="0" sz="30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932" name="Google Shape;932;p98"/>
          <p:cNvSpPr/>
          <p:nvPr/>
        </p:nvSpPr>
        <p:spPr>
          <a:xfrm>
            <a:off x="4907450" y="1766950"/>
            <a:ext cx="338100" cy="82800"/>
          </a:xfrm>
          <a:prstGeom prst="rect">
            <a:avLst/>
          </a:prstGeom>
          <a:solidFill>
            <a:srgbClr val="E1FF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sz="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Comienza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98"/>
          <p:cNvSpPr/>
          <p:nvPr/>
        </p:nvSpPr>
        <p:spPr>
          <a:xfrm>
            <a:off x="4052125" y="1927175"/>
            <a:ext cx="600000" cy="12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sz="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Tu número de identificación es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98"/>
          <p:cNvSpPr txBox="1"/>
          <p:nvPr/>
        </p:nvSpPr>
        <p:spPr>
          <a:xfrm>
            <a:off x="5405550" y="1892788"/>
            <a:ext cx="2257500" cy="60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>
                <a:solidFill>
                  <a:srgbClr val="0C406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El número de identificación (NID) que padres, madres y cuidadores compartirán contigo</a:t>
            </a:r>
            <a:endParaRPr b="0" i="0" u="none" cap="none" strike="noStrike">
              <a:solidFill>
                <a:srgbClr val="0C406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935" name="Google Shape;935;p9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3338200">
            <a:off x="5112508" y="1812035"/>
            <a:ext cx="358380" cy="358380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98"/>
          <p:cNvSpPr txBox="1"/>
          <p:nvPr/>
        </p:nvSpPr>
        <p:spPr>
          <a:xfrm>
            <a:off x="6066000" y="3426075"/>
            <a:ext cx="1474500" cy="49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600">
                <a:solidFill>
                  <a:srgbClr val="0C406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Mensajes de bienvenida</a:t>
            </a:r>
            <a:endParaRPr b="0" i="0" sz="1600" u="none" cap="none" strike="noStrike">
              <a:solidFill>
                <a:srgbClr val="0C406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937" name="Google Shape;937;p9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3338203">
            <a:off x="5254505" y="3246862"/>
            <a:ext cx="679107" cy="67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9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3338199">
            <a:off x="7429682" y="4219234"/>
            <a:ext cx="483357" cy="483357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98"/>
          <p:cNvSpPr/>
          <p:nvPr/>
        </p:nvSpPr>
        <p:spPr>
          <a:xfrm>
            <a:off x="1742550" y="3405950"/>
            <a:ext cx="236100" cy="8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300"/>
            </a:pPr>
            <a:r>
              <a:t>ENTRENAR</a:t>
            </a:r>
            <a:endParaRPr sz="3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99"/>
          <p:cNvSpPr txBox="1"/>
          <p:nvPr/>
        </p:nvSpPr>
        <p:spPr>
          <a:xfrm>
            <a:off x="337425" y="731350"/>
            <a:ext cx="85026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600">
                <a:solidFill>
                  <a:srgbClr val="00969B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Empecemos con </a:t>
            </a:r>
            <a:r>
              <a:t> el chatbot de Crianza con Conciencia +</a:t>
            </a:r>
            <a:endParaRPr b="0" i="0" sz="1600" u="none" cap="none" strike="noStrike">
              <a:solidFill>
                <a:srgbClr val="0096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300" u="none" cap="none" strike="noStrike">
              <a:solidFill>
                <a:srgbClr val="0096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>
                <a:solidFill>
                  <a:srgbClr val="123D5D"/>
                </a:solidFill>
              </a:defRPr>
            </a:pPr>
            <a:r>
              <a:t>Prepárate</a:t>
            </a:r>
            <a:r>
              <a:rPr>
                <a:latin typeface="Arial"/>
                <a:ea typeface="Arial"/>
                <a:cs typeface="Arial"/>
                <a:sym typeface="Arial"/>
              </a:rPr>
              <a:t> para proporcionar los siguientes datos a medida que el chat automatizado los vaya solicitando: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Delicious Handrawn"/>
              <a:buAutoNum type="arabicPeriod"/>
              <a:defRPr sz="1300">
                <a:solidFill>
                  <a:srgbClr val="123D5D"/>
                </a:solidFill>
              </a:defRPr>
            </a:pPr>
            <a:r>
              <a:t>Escribe tu nombre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Delicious Handrawn"/>
              <a:buAutoNum type="arabicPeriod"/>
              <a:defRPr sz="1300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Escribe tu apellido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Delicious Handrawn"/>
              <a:buAutoNum type="arabicPeriod"/>
              <a:defRPr sz="1300">
                <a:solidFill>
                  <a:srgbClr val="123D5D"/>
                </a:solidFill>
              </a:defRPr>
            </a:pPr>
            <a:r>
              <a:t>Elige tu género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Delicious Handrawn"/>
              <a:buAutoNum type="arabicPeriod"/>
              <a:defRPr sz="1300">
                <a:solidFill>
                  <a:srgbClr val="123D5D"/>
                </a:solidFill>
              </a:defRPr>
            </a:pPr>
            <a:r>
              <a:t>Elige el estado en el que resides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Delicious Handrawn"/>
              <a:buAutoNum type="arabicPeriod"/>
              <a:defRPr sz="1300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Elige tu estado civil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99"/>
          <p:cNvSpPr/>
          <p:nvPr/>
        </p:nvSpPr>
        <p:spPr>
          <a:xfrm rot="-5400000">
            <a:off x="4254600" y="-4053375"/>
            <a:ext cx="480900" cy="89901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99"/>
          <p:cNvSpPr txBox="1"/>
          <p:nvPr/>
        </p:nvSpPr>
        <p:spPr>
          <a:xfrm>
            <a:off x="286222" y="197506"/>
            <a:ext cx="88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300">
                <a:solidFill>
                  <a:schemeClr val="lt1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Primeros pasos en </a:t>
            </a:r>
            <a:r>
              <a:t>Crianza con Conciencia + Chatbot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7" name="Google Shape;947;p99"/>
          <p:cNvPicPr preferRelativeResize="0"/>
          <p:nvPr/>
        </p:nvPicPr>
        <p:blipFill rotWithShape="1">
          <a:blip r:embed="rId3">
            <a:alphaModFix/>
          </a:blip>
          <a:srcRect b="5420" l="0" r="44134" t="5429"/>
          <a:stretch/>
        </p:blipFill>
        <p:spPr>
          <a:xfrm>
            <a:off x="5742476" y="1665399"/>
            <a:ext cx="2645400" cy="2645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100"/>
          <p:cNvSpPr txBox="1"/>
          <p:nvPr/>
        </p:nvSpPr>
        <p:spPr>
          <a:xfrm>
            <a:off x="337425" y="731350"/>
            <a:ext cx="8502600" cy="19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600">
                <a:solidFill>
                  <a:srgbClr val="00969B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Empecemos con </a:t>
            </a:r>
            <a:r>
              <a:t> el chatbot de Crianza con Conciencia +</a:t>
            </a:r>
            <a:endParaRPr b="0" i="0" sz="1600" u="none" cap="none" strike="noStrike">
              <a:solidFill>
                <a:srgbClr val="0096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300" u="none" cap="none" strike="noStrike">
              <a:solidFill>
                <a:srgbClr val="0096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>
                <a:solidFill>
                  <a:srgbClr val="123D5D"/>
                </a:solidFill>
              </a:defRPr>
            </a:pPr>
            <a:r>
              <a:t>Prepárate</a:t>
            </a:r>
            <a:r>
              <a:rPr>
                <a:latin typeface="Arial"/>
                <a:ea typeface="Arial"/>
                <a:cs typeface="Arial"/>
                <a:sym typeface="Arial"/>
              </a:rPr>
              <a:t> para proporcionar los siguientes datos a medida que el chat automatizado los vaya solicitando: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Delicious Handrawn"/>
              <a:buAutoNum type="arabicPeriod" startAt="6"/>
              <a:defRPr sz="1300">
                <a:solidFill>
                  <a:srgbClr val="123D5D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Escribe el </a:t>
            </a:r>
            <a:r>
              <a:rPr b="1"/>
              <a:t>NOMBRE O APODO </a:t>
            </a:r>
            <a:r>
              <a:rPr>
                <a:latin typeface="Arial"/>
                <a:ea typeface="Arial"/>
                <a:cs typeface="Arial"/>
                <a:sym typeface="Arial"/>
              </a:rPr>
              <a:t>de tu niña, niño o </a:t>
            </a:r>
            <a:r>
              <a:t>adolescente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Delicious Handrawn"/>
              <a:buAutoNum type="arabicPeriod" startAt="6"/>
              <a:defRPr sz="1300">
                <a:solidFill>
                  <a:srgbClr val="123D5D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Elige el sexo de tu niña, niño o </a:t>
            </a:r>
            <a:r>
              <a:t>adolescente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Delicious Handrawn"/>
              <a:buAutoNum type="arabicPeriod" startAt="6"/>
              <a:defRPr sz="1300">
                <a:solidFill>
                  <a:srgbClr val="123D5D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Indica la fecha de nacimiento de tu niña, niño o </a:t>
            </a:r>
            <a:r>
              <a:t>adolescente</a:t>
            </a:r>
            <a:r>
              <a:rPr>
                <a:latin typeface="Arial"/>
                <a:ea typeface="Arial"/>
                <a:cs typeface="Arial"/>
                <a:sym typeface="Arial"/>
              </a:rPr>
              <a:t> (dd/mm/aaaa)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100"/>
          <p:cNvSpPr/>
          <p:nvPr/>
        </p:nvSpPr>
        <p:spPr>
          <a:xfrm rot="-5400000">
            <a:off x="4254600" y="-4053375"/>
            <a:ext cx="480900" cy="89901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100"/>
          <p:cNvSpPr txBox="1"/>
          <p:nvPr/>
        </p:nvSpPr>
        <p:spPr>
          <a:xfrm>
            <a:off x="286222" y="197506"/>
            <a:ext cx="88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300">
                <a:solidFill>
                  <a:schemeClr val="lt1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Primeros pasos en </a:t>
            </a:r>
            <a:r>
              <a:t>Crianza con Conciencia + Chatbot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100"/>
          <p:cNvSpPr/>
          <p:nvPr/>
        </p:nvSpPr>
        <p:spPr>
          <a:xfrm>
            <a:off x="424675" y="2937475"/>
            <a:ext cx="7904100" cy="1038000"/>
          </a:xfrm>
          <a:prstGeom prst="roundRect">
            <a:avLst>
              <a:gd fmla="val 16667" name="adj"/>
            </a:avLst>
          </a:prstGeom>
          <a:solidFill>
            <a:srgbClr val="D60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i="1">
                <a:solidFill>
                  <a:schemeClr val="lt1"/>
                </a:solidFill>
              </a:defRPr>
            </a:pPr>
            <a:r>
              <a:t>Pero, ¿cuál niña, niño o adolescente debo de escoger? ¡Tengo más de uno!</a:t>
            </a:r>
            <a:endParaRPr i="1">
              <a:solidFill>
                <a:schemeClr val="lt1"/>
              </a:solidFill>
            </a:endParaRPr>
          </a:p>
        </p:txBody>
      </p:sp>
      <p:pic>
        <p:nvPicPr>
          <p:cNvPr id="956" name="Google Shape;956;p100"/>
          <p:cNvPicPr preferRelativeResize="0"/>
          <p:nvPr/>
        </p:nvPicPr>
        <p:blipFill rotWithShape="1">
          <a:blip r:embed="rId3">
            <a:alphaModFix/>
          </a:blip>
          <a:srcRect b="27677" l="0" r="44320" t="0"/>
          <a:stretch/>
        </p:blipFill>
        <p:spPr>
          <a:xfrm>
            <a:off x="125650" y="3350350"/>
            <a:ext cx="1186500" cy="1155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01"/>
          <p:cNvSpPr txBox="1"/>
          <p:nvPr/>
        </p:nvSpPr>
        <p:spPr>
          <a:xfrm>
            <a:off x="854050" y="1970050"/>
            <a:ext cx="7904100" cy="26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Entendemos que cada persona es única e irrepetible y que cada situación es compleja.</a:t>
            </a:r>
            <a:endParaRPr sz="1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5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Sacarás el máximo provecho de Crianza con Conciencia + si te centras en un solo niño, niña o adolescente.</a:t>
            </a:r>
            <a:endParaRPr sz="1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Al inscribirte, elige al niño, niña o adolescente que presente más problemas de conducta. Recuerda que la niña, el niño o adolescente tiene que tener entre </a:t>
            </a:r>
            <a:r>
              <a:rPr b="1"/>
              <a:t>2 y 17 años. </a:t>
            </a:r>
            <a:endParaRPr b="1" sz="1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Si te centras en un solo niño, niña o adolescente, comprenderás mejor sus necesidades.</a:t>
            </a:r>
            <a:endParaRPr sz="1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Lo que aprenderás en Crianza con Conciencia + puede aplicarse para apoyar el crecimiento de todos tus niños, niñas o adolescentes.</a:t>
            </a:r>
            <a:endParaRPr b="1" sz="1500">
              <a:solidFill>
                <a:srgbClr val="00969B"/>
              </a:solidFill>
            </a:endParaRPr>
          </a:p>
        </p:txBody>
      </p:sp>
      <p:sp>
        <p:nvSpPr>
          <p:cNvPr id="962" name="Google Shape;962;p101"/>
          <p:cNvSpPr/>
          <p:nvPr/>
        </p:nvSpPr>
        <p:spPr>
          <a:xfrm rot="-5400000">
            <a:off x="4254600" y="-4053375"/>
            <a:ext cx="480900" cy="89901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101"/>
          <p:cNvSpPr txBox="1"/>
          <p:nvPr/>
        </p:nvSpPr>
        <p:spPr>
          <a:xfrm>
            <a:off x="286222" y="197506"/>
            <a:ext cx="88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300">
                <a:solidFill>
                  <a:schemeClr val="lt1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Primeros pasos en </a:t>
            </a:r>
            <a:r>
              <a:t>Crianza con Conciencia + Chatbot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101"/>
          <p:cNvSpPr/>
          <p:nvPr/>
        </p:nvSpPr>
        <p:spPr>
          <a:xfrm>
            <a:off x="698425" y="908400"/>
            <a:ext cx="7904100" cy="884700"/>
          </a:xfrm>
          <a:prstGeom prst="roundRect">
            <a:avLst>
              <a:gd fmla="val 16667" name="adj"/>
            </a:avLst>
          </a:prstGeom>
          <a:solidFill>
            <a:srgbClr val="D60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i="1">
                <a:solidFill>
                  <a:schemeClr val="lt1"/>
                </a:solidFill>
              </a:defRPr>
            </a:pPr>
            <a:r>
              <a:t>Pero, ¿cuál niña, niño o adolescente debo de escoger? ¡Tengo más de uno!</a:t>
            </a:r>
            <a:endParaRPr i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9" name="Google Shape;969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775"/>
            <a:ext cx="9143999" cy="5219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p102" title="onboarding_yc.mp4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1700" y="692825"/>
            <a:ext cx="6680602" cy="3757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103"/>
          <p:cNvSpPr txBox="1"/>
          <p:nvPr/>
        </p:nvSpPr>
        <p:spPr>
          <a:xfrm>
            <a:off x="286225" y="855984"/>
            <a:ext cx="8199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>
                <a:solidFill>
                  <a:srgbClr val="123D5D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Elige </a:t>
            </a:r>
            <a:r>
              <a:rPr b="1"/>
              <a:t>CUALQUIER OPCIÓN </a:t>
            </a:r>
            <a:r>
              <a:t>para</a:t>
            </a:r>
            <a:r>
              <a:rPr>
                <a:latin typeface="Arial"/>
                <a:ea typeface="Arial"/>
                <a:cs typeface="Arial"/>
                <a:sym typeface="Arial"/>
              </a:rPr>
              <a:t> establecer cómo quieres recibir los mensajes</a:t>
            </a:r>
            <a:endParaRPr b="0" i="0" sz="15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103"/>
          <p:cNvSpPr/>
          <p:nvPr/>
        </p:nvSpPr>
        <p:spPr>
          <a:xfrm rot="-5400000">
            <a:off x="4254600" y="-4053375"/>
            <a:ext cx="480900" cy="89901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103"/>
          <p:cNvSpPr txBox="1"/>
          <p:nvPr/>
        </p:nvSpPr>
        <p:spPr>
          <a:xfrm>
            <a:off x="286222" y="197506"/>
            <a:ext cx="88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300">
                <a:solidFill>
                  <a:schemeClr val="lt1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Primeros pasos en </a:t>
            </a:r>
            <a:r>
              <a:t>Crianza con Conciencia + Chatbot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8" name="Google Shape;978;p103"/>
          <p:cNvGrpSpPr/>
          <p:nvPr/>
        </p:nvGrpSpPr>
        <p:grpSpPr>
          <a:xfrm>
            <a:off x="1445012" y="1352951"/>
            <a:ext cx="569100" cy="576600"/>
            <a:chOff x="1680299" y="3458426"/>
            <a:chExt cx="569100" cy="576600"/>
          </a:xfrm>
        </p:grpSpPr>
        <p:sp>
          <p:nvSpPr>
            <p:cNvPr id="979" name="Google Shape;979;p103"/>
            <p:cNvSpPr/>
            <p:nvPr/>
          </p:nvSpPr>
          <p:spPr>
            <a:xfrm>
              <a:off x="1680299" y="3458426"/>
              <a:ext cx="569100" cy="576600"/>
            </a:xfrm>
            <a:prstGeom prst="ellipse">
              <a:avLst/>
            </a:prstGeom>
            <a:solidFill>
              <a:srgbClr val="FF5E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80" name="Google Shape;980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99914" y="3581840"/>
              <a:ext cx="329807" cy="3298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1" name="Google Shape;981;p103"/>
          <p:cNvSpPr/>
          <p:nvPr/>
        </p:nvSpPr>
        <p:spPr>
          <a:xfrm>
            <a:off x="677463" y="2118001"/>
            <a:ext cx="2104200" cy="2303100"/>
          </a:xfrm>
          <a:prstGeom prst="roundRect">
            <a:avLst>
              <a:gd fmla="val 16667" name="adj"/>
            </a:avLst>
          </a:prstGeom>
          <a:solidFill>
            <a:srgbClr val="FF5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pPr>
            <a:r>
              <a:t>Texto, Imágenes y Video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pPr>
            <a:r>
              <a:t>Selecciona esta opción si: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pPr>
            <a:r>
              <a:t>Leer representa un reto para ti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pPr>
            <a:r>
              <a:rPr b="1"/>
              <a:t>NO </a:t>
            </a:r>
            <a:r>
              <a:t>necesitas cuidar tus datos móviles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82" name="Google Shape;982;p103"/>
          <p:cNvSpPr/>
          <p:nvPr/>
        </p:nvSpPr>
        <p:spPr>
          <a:xfrm>
            <a:off x="4168137" y="1352951"/>
            <a:ext cx="569100" cy="576600"/>
          </a:xfrm>
          <a:prstGeom prst="ellipse">
            <a:avLst/>
          </a:prstGeom>
          <a:solidFill>
            <a:srgbClr val="D600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103"/>
          <p:cNvSpPr/>
          <p:nvPr/>
        </p:nvSpPr>
        <p:spPr>
          <a:xfrm>
            <a:off x="3400588" y="2118001"/>
            <a:ext cx="2104200" cy="2303100"/>
          </a:xfrm>
          <a:prstGeom prst="roundRect">
            <a:avLst>
              <a:gd fmla="val 16667" name="adj"/>
            </a:avLst>
          </a:prstGeom>
          <a:solidFill>
            <a:srgbClr val="E402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pPr>
            <a:r>
              <a:t>Texto, Imágenes y Audio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pPr>
            <a:r>
              <a:t>Selecciona esta opción si: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pPr>
            <a:r>
              <a:t>Leer representa un reto para ti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pPr>
            <a:r>
              <a:rPr b="1"/>
              <a:t>SÍ </a:t>
            </a:r>
            <a:r>
              <a:t>necesitas cuidar tus datos móviles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84" name="Google Shape;984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1138" y="1479700"/>
            <a:ext cx="323100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p103"/>
          <p:cNvSpPr/>
          <p:nvPr/>
        </p:nvSpPr>
        <p:spPr>
          <a:xfrm>
            <a:off x="7129887" y="1352951"/>
            <a:ext cx="569100" cy="576600"/>
          </a:xfrm>
          <a:prstGeom prst="ellipse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103"/>
          <p:cNvSpPr/>
          <p:nvPr/>
        </p:nvSpPr>
        <p:spPr>
          <a:xfrm>
            <a:off x="6362338" y="2118001"/>
            <a:ext cx="2104200" cy="2303100"/>
          </a:xfrm>
          <a:prstGeom prst="roundRect">
            <a:avLst>
              <a:gd fmla="val 16667" name="adj"/>
            </a:avLst>
          </a:prstGeom>
          <a:solidFill>
            <a:srgbClr val="0096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pPr>
            <a:r>
              <a:t>Solo Texto e Imágenes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pPr>
            <a:r>
              <a:t>Selecciona esta opción si: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pPr>
            <a:r>
              <a:t>Leer </a:t>
            </a:r>
            <a:r>
              <a:rPr b="1"/>
              <a:t>NO </a:t>
            </a:r>
            <a:r>
              <a:t> representa un reto para ti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pPr>
            <a:r>
              <a:rPr b="1"/>
              <a:t>SÍ </a:t>
            </a:r>
            <a:r>
              <a:t>necesitas cuidar tus datos móviles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87" name="Google Shape;987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52888" y="1479700"/>
            <a:ext cx="323100" cy="3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104"/>
          <p:cNvSpPr txBox="1"/>
          <p:nvPr>
            <p:ph idx="1" type="body"/>
          </p:nvPr>
        </p:nvSpPr>
        <p:spPr>
          <a:xfrm>
            <a:off x="2655100" y="2081900"/>
            <a:ext cx="5817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elicious Handrawn"/>
              <a:buNone/>
            </a:pPr>
            <a:r>
              <a:t>Ahora sí, ¡estamos listos para empezar!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7D31"/>
        </a:solidFill>
      </p:bgPr>
    </p:bg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05"/>
          <p:cNvSpPr txBox="1"/>
          <p:nvPr/>
        </p:nvSpPr>
        <p:spPr>
          <a:xfrm>
            <a:off x="320050" y="2994650"/>
            <a:ext cx="7821300" cy="9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chemeClr val="lt1"/>
                </a:solidFill>
              </a:defRPr>
            </a:pPr>
            <a:r>
              <a:t>Encuesta Zoom: ¿Cómo fue tu experiencia?</a:t>
            </a:r>
            <a:endParaRPr b="1"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2" name="Google Shape;1002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775"/>
            <a:ext cx="9143999" cy="5219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106" title="take_a_pause.mp4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2063" y="633226"/>
            <a:ext cx="6639874" cy="373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07"/>
          <p:cNvSpPr txBox="1"/>
          <p:nvPr>
            <p:ph idx="1" type="body"/>
          </p:nvPr>
        </p:nvSpPr>
        <p:spPr>
          <a:xfrm>
            <a:off x="4724200" y="2277575"/>
            <a:ext cx="4144200" cy="21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elicious Handrawn"/>
              <a:buNone/>
              <a:defRPr sz="3600"/>
            </a:pPr>
            <a:r>
              <a:t>¡Exploremos la primera sesión juntos! </a:t>
            </a:r>
            <a:endParaRPr sz="36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4500"/>
              <a:buFont typeface="Delicious Handrawn"/>
              <a:buNone/>
              <a:defRPr sz="3600"/>
            </a:pPr>
            <a:br>
              <a:rPr lang="en-US" sz="3600"/>
            </a:br>
            <a:r>
              <a:t>Selecciona/Escribe SIGUIENTE</a:t>
            </a:r>
            <a:endParaRPr sz="36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108"/>
          <p:cNvSpPr/>
          <p:nvPr/>
        </p:nvSpPr>
        <p:spPr>
          <a:xfrm rot="-5400000">
            <a:off x="4254600" y="-4053375"/>
            <a:ext cx="480900" cy="89901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108"/>
          <p:cNvSpPr txBox="1"/>
          <p:nvPr/>
        </p:nvSpPr>
        <p:spPr>
          <a:xfrm>
            <a:off x="286222" y="197506"/>
            <a:ext cx="88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300">
                <a:solidFill>
                  <a:schemeClr val="lt1"/>
                </a:solidFill>
              </a:defRPr>
            </a:pPr>
            <a:r>
              <a:t>¿En qué consiste una sesión de Crianza con Conciencia +?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5" name="Google Shape;1015;p108"/>
          <p:cNvPicPr preferRelativeResize="0"/>
          <p:nvPr/>
        </p:nvPicPr>
        <p:blipFill rotWithShape="1">
          <a:blip r:embed="rId3">
            <a:alphaModFix/>
          </a:blip>
          <a:srcRect b="0" l="0" r="0" t="54067"/>
          <a:stretch/>
        </p:blipFill>
        <p:spPr>
          <a:xfrm>
            <a:off x="784088" y="806731"/>
            <a:ext cx="1704534" cy="1694971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16" name="Google Shape;1016;p108"/>
          <p:cNvSpPr txBox="1"/>
          <p:nvPr/>
        </p:nvSpPr>
        <p:spPr>
          <a:xfrm>
            <a:off x="784088" y="2668031"/>
            <a:ext cx="1736100" cy="117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Cuestionarios</a:t>
            </a:r>
            <a:br>
              <a:rPr lang="en-US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</a:br>
            <a:br>
              <a:rPr lang="en-US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i="1"/>
              <a:t>Recuerda, contesta usando lo que ya sabes. ¡Estamos aquí para aprender! </a:t>
            </a:r>
            <a:endParaRPr i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017" name="Google Shape;1017;p108"/>
          <p:cNvPicPr preferRelativeResize="0"/>
          <p:nvPr/>
        </p:nvPicPr>
        <p:blipFill rotWithShape="1">
          <a:blip r:embed="rId4">
            <a:alphaModFix/>
          </a:blip>
          <a:srcRect b="46600" l="0" r="0" t="11199"/>
          <a:stretch/>
        </p:blipFill>
        <p:spPr>
          <a:xfrm>
            <a:off x="2655370" y="775725"/>
            <a:ext cx="1889190" cy="1725978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18" name="Google Shape;1018;p108"/>
          <p:cNvPicPr preferRelativeResize="0"/>
          <p:nvPr/>
        </p:nvPicPr>
        <p:blipFill rotWithShape="1">
          <a:blip r:embed="rId3">
            <a:alphaModFix/>
          </a:blip>
          <a:srcRect b="0" l="0" r="0" t="54067"/>
          <a:stretch/>
        </p:blipFill>
        <p:spPr>
          <a:xfrm>
            <a:off x="784088" y="806731"/>
            <a:ext cx="1704534" cy="1694971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108"/>
          <p:cNvSpPr txBox="1"/>
          <p:nvPr/>
        </p:nvSpPr>
        <p:spPr>
          <a:xfrm>
            <a:off x="2655375" y="2674575"/>
            <a:ext cx="1889100" cy="322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historietas</a:t>
            </a:r>
            <a:endParaRPr i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020" name="Google Shape;1020;p108"/>
          <p:cNvPicPr preferRelativeResize="0"/>
          <p:nvPr/>
        </p:nvPicPr>
        <p:blipFill rotWithShape="1">
          <a:blip r:embed="rId5">
            <a:alphaModFix/>
          </a:blip>
          <a:srcRect b="38031" l="0" r="0" t="11361"/>
          <a:stretch/>
        </p:blipFill>
        <p:spPr>
          <a:xfrm>
            <a:off x="4748135" y="1185197"/>
            <a:ext cx="1410597" cy="1545452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1" name="Google Shape;1021;p108"/>
          <p:cNvSpPr txBox="1"/>
          <p:nvPr/>
        </p:nvSpPr>
        <p:spPr>
          <a:xfrm>
            <a:off x="4711314" y="776324"/>
            <a:ext cx="3648600" cy="322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Tips</a:t>
            </a:r>
            <a:endParaRPr i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2" name="Google Shape;1022;p108"/>
          <p:cNvSpPr txBox="1"/>
          <p:nvPr/>
        </p:nvSpPr>
        <p:spPr>
          <a:xfrm>
            <a:off x="4748125" y="2817275"/>
            <a:ext cx="1464300" cy="322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Video</a:t>
            </a:r>
            <a:endParaRPr i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023" name="Google Shape;1023;p108"/>
          <p:cNvPicPr preferRelativeResize="0"/>
          <p:nvPr/>
        </p:nvPicPr>
        <p:blipFill rotWithShape="1">
          <a:blip r:embed="rId6">
            <a:alphaModFix/>
          </a:blip>
          <a:srcRect b="20658" l="0" r="0" t="11002"/>
          <a:stretch/>
        </p:blipFill>
        <p:spPr>
          <a:xfrm>
            <a:off x="6467760" y="1185196"/>
            <a:ext cx="1794820" cy="2655519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24" name="Google Shape;1024;p108"/>
          <p:cNvPicPr preferRelativeResize="0"/>
          <p:nvPr/>
        </p:nvPicPr>
        <p:blipFill rotWithShape="1">
          <a:blip r:embed="rId7">
            <a:alphaModFix/>
          </a:blip>
          <a:srcRect b="53668" l="0" r="0" t="10871"/>
          <a:stretch/>
        </p:blipFill>
        <p:spPr>
          <a:xfrm>
            <a:off x="4748134" y="3226119"/>
            <a:ext cx="1464297" cy="1124163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5" name="Google Shape;1025;p108"/>
          <p:cNvSpPr txBox="1"/>
          <p:nvPr/>
        </p:nvSpPr>
        <p:spPr>
          <a:xfrm>
            <a:off x="4711325" y="4436925"/>
            <a:ext cx="1527900" cy="322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Audio</a:t>
            </a:r>
            <a:endParaRPr i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6" name="Google Shape;1026;p108"/>
          <p:cNvSpPr txBox="1"/>
          <p:nvPr/>
        </p:nvSpPr>
        <p:spPr>
          <a:xfrm>
            <a:off x="6467749" y="3927400"/>
            <a:ext cx="1889100" cy="322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Texto</a:t>
            </a:r>
            <a:endParaRPr i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7" name="Google Shape;1027;p108"/>
          <p:cNvSpPr txBox="1"/>
          <p:nvPr/>
        </p:nvSpPr>
        <p:spPr>
          <a:xfrm>
            <a:off x="2697550" y="3179750"/>
            <a:ext cx="1794900" cy="12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i="1" sz="13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Las sesiones serán un poco diferentes para cada persona. ¡Están personalizadas!</a:t>
            </a:r>
            <a:endParaRPr i="1" sz="13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109"/>
          <p:cNvSpPr/>
          <p:nvPr/>
        </p:nvSpPr>
        <p:spPr>
          <a:xfrm>
            <a:off x="13" y="1061289"/>
            <a:ext cx="9144000" cy="4800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3" name="Google Shape;1033;p109"/>
          <p:cNvSpPr/>
          <p:nvPr/>
        </p:nvSpPr>
        <p:spPr>
          <a:xfrm>
            <a:off x="25" y="2871426"/>
            <a:ext cx="9144000" cy="4800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4" name="Google Shape;1034;p109"/>
          <p:cNvSpPr/>
          <p:nvPr/>
        </p:nvSpPr>
        <p:spPr>
          <a:xfrm>
            <a:off x="4556476" y="1061300"/>
            <a:ext cx="17700" cy="4082100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035" name="Google Shape;1035;p109"/>
          <p:cNvGrpSpPr/>
          <p:nvPr/>
        </p:nvGrpSpPr>
        <p:grpSpPr>
          <a:xfrm>
            <a:off x="521350" y="1294012"/>
            <a:ext cx="3448196" cy="931514"/>
            <a:chOff x="0" y="-57150"/>
            <a:chExt cx="5523300" cy="2484038"/>
          </a:xfrm>
        </p:grpSpPr>
        <p:sp>
          <p:nvSpPr>
            <p:cNvPr id="1036" name="Google Shape;1036;p109"/>
            <p:cNvSpPr txBox="1"/>
            <p:nvPr/>
          </p:nvSpPr>
          <p:spPr>
            <a:xfrm>
              <a:off x="0" y="-57150"/>
              <a:ext cx="55233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>
                  <a:latin typeface="Delicious Handrawn"/>
                  <a:ea typeface="Delicious Handrawn"/>
                  <a:cs typeface="Delicious Handrawn"/>
                  <a:sym typeface="Delicious Handrawn"/>
                </a:defRPr>
              </a:pPr>
              <a:r>
                <a:rPr>
                  <a:solidFill>
                    <a:schemeClr val="dk1"/>
                  </a:solidFill>
                </a:rPr>
                <a:t>ESCRIBE </a:t>
              </a:r>
              <a:r>
                <a:rPr b="1">
                  <a:solidFill>
                    <a:srgbClr val="00969B"/>
                  </a:solidFill>
                </a:rPr>
                <a:t>SIGUIENTE</a:t>
              </a:r>
              <a:endParaRPr b="1" sz="13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endParaRPr>
            </a:p>
          </p:txBody>
        </p:sp>
        <p:sp>
          <p:nvSpPr>
            <p:cNvPr id="1037" name="Google Shape;1037;p109"/>
            <p:cNvSpPr txBox="1"/>
            <p:nvPr/>
          </p:nvSpPr>
          <p:spPr>
            <a:xfrm>
              <a:off x="0" y="866888"/>
              <a:ext cx="5523300" cy="15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  <a:defRPr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defRPr>
              </a:pPr>
              <a:r>
                <a:t>¿Te atoraste en el chatbot? </a:t>
              </a:r>
              <a:br>
                <a:rPr lang="en-US"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br>
                <a:rPr lang="en-US"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t>¿No ves la palabra SIGUIENTE?</a:t>
              </a:r>
              <a:endParaRPr sz="7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1038" name="Google Shape;1038;p109"/>
          <p:cNvSpPr/>
          <p:nvPr/>
        </p:nvSpPr>
        <p:spPr>
          <a:xfrm rot="-5400000">
            <a:off x="4254600" y="-4053375"/>
            <a:ext cx="480900" cy="89901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109"/>
          <p:cNvSpPr txBox="1"/>
          <p:nvPr/>
        </p:nvSpPr>
        <p:spPr>
          <a:xfrm>
            <a:off x="286222" y="197506"/>
            <a:ext cx="88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300">
                <a:solidFill>
                  <a:schemeClr val="lt1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Resuelve Retos y Desafíos en el chatbot de </a:t>
            </a:r>
            <a:r>
              <a:t>Crianza con Conciencia +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0" name="Google Shape;1040;p109"/>
          <p:cNvGrpSpPr/>
          <p:nvPr/>
        </p:nvGrpSpPr>
        <p:grpSpPr>
          <a:xfrm>
            <a:off x="4887775" y="1294000"/>
            <a:ext cx="3484650" cy="1578052"/>
            <a:chOff x="0" y="-57150"/>
            <a:chExt cx="5523300" cy="4208138"/>
          </a:xfrm>
        </p:grpSpPr>
        <p:sp>
          <p:nvSpPr>
            <p:cNvPr id="1041" name="Google Shape;1041;p109"/>
            <p:cNvSpPr txBox="1"/>
            <p:nvPr/>
          </p:nvSpPr>
          <p:spPr>
            <a:xfrm>
              <a:off x="0" y="-57150"/>
              <a:ext cx="55233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>
                  <a:latin typeface="Delicious Handrawn"/>
                  <a:ea typeface="Delicious Handrawn"/>
                  <a:cs typeface="Delicious Handrawn"/>
                  <a:sym typeface="Delicious Handrawn"/>
                </a:defRPr>
              </a:pPr>
              <a:r>
                <a:rPr>
                  <a:solidFill>
                    <a:schemeClr val="dk1"/>
                  </a:solidFill>
                </a:rPr>
                <a:t>ESCRIBE </a:t>
              </a:r>
              <a:r>
                <a:rPr b="1">
                  <a:solidFill>
                    <a:srgbClr val="00969B"/>
                  </a:solidFill>
                </a:rPr>
                <a:t>MENÚ</a:t>
              </a:r>
              <a:endParaRPr b="1" sz="13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endParaRPr>
            </a:p>
          </p:txBody>
        </p:sp>
        <p:sp>
          <p:nvSpPr>
            <p:cNvPr id="1042" name="Google Shape;1042;p109"/>
            <p:cNvSpPr txBox="1"/>
            <p:nvPr/>
          </p:nvSpPr>
          <p:spPr>
            <a:xfrm>
              <a:off x="0" y="866888"/>
              <a:ext cx="5523300" cy="328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  <a:defRPr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defRPr>
              </a:pPr>
              <a:r>
                <a:t>Cambia la configuración </a:t>
              </a:r>
              <a:br>
                <a:rPr lang="en-US"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br>
                <a:rPr lang="en-US"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t>Revisa las sesiones que has completado </a:t>
              </a:r>
              <a:endParaRPr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  <a:defRPr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defRPr>
              </a:pPr>
              <a:br>
                <a:rPr lang="en-US"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t>Vuelve a ver el vídeo de integración</a:t>
              </a:r>
              <a:endParaRPr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1043" name="Google Shape;1043;p109"/>
          <p:cNvGrpSpPr/>
          <p:nvPr/>
        </p:nvGrpSpPr>
        <p:grpSpPr>
          <a:xfrm>
            <a:off x="485075" y="3501012"/>
            <a:ext cx="3448196" cy="500414"/>
            <a:chOff x="0" y="-57150"/>
            <a:chExt cx="5523300" cy="1334438"/>
          </a:xfrm>
        </p:grpSpPr>
        <p:sp>
          <p:nvSpPr>
            <p:cNvPr id="1044" name="Google Shape;1044;p109"/>
            <p:cNvSpPr txBox="1"/>
            <p:nvPr/>
          </p:nvSpPr>
          <p:spPr>
            <a:xfrm>
              <a:off x="0" y="-57150"/>
              <a:ext cx="55233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>
                  <a:latin typeface="Delicious Handrawn"/>
                  <a:ea typeface="Delicious Handrawn"/>
                  <a:cs typeface="Delicious Handrawn"/>
                  <a:sym typeface="Delicious Handrawn"/>
                </a:defRPr>
              </a:pPr>
              <a:r>
                <a:rPr>
                  <a:solidFill>
                    <a:schemeClr val="dk1"/>
                  </a:solidFill>
                </a:rPr>
                <a:t>ESCRIBE </a:t>
              </a:r>
              <a:r>
                <a:rPr b="1">
                  <a:solidFill>
                    <a:srgbClr val="00969B"/>
                  </a:solidFill>
                </a:rPr>
                <a:t>REPRODUCIR</a:t>
              </a:r>
              <a:endParaRPr b="1" sz="13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endParaRPr>
            </a:p>
          </p:txBody>
        </p:sp>
        <p:sp>
          <p:nvSpPr>
            <p:cNvPr id="1045" name="Google Shape;1045;p109"/>
            <p:cNvSpPr txBox="1"/>
            <p:nvPr/>
          </p:nvSpPr>
          <p:spPr>
            <a:xfrm>
              <a:off x="0" y="866888"/>
              <a:ext cx="5523300" cy="41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  <a:defRPr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defRPr>
              </a:pPr>
              <a:r>
                <a:t>Encuentra actividades lúdicas para hacer con tu niña, niño o adolescente</a:t>
              </a:r>
              <a:endParaRPr sz="7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1046" name="Google Shape;1046;p109"/>
          <p:cNvGrpSpPr/>
          <p:nvPr/>
        </p:nvGrpSpPr>
        <p:grpSpPr>
          <a:xfrm>
            <a:off x="4906000" y="3522162"/>
            <a:ext cx="3448196" cy="715964"/>
            <a:chOff x="0" y="-57150"/>
            <a:chExt cx="5523300" cy="1909238"/>
          </a:xfrm>
        </p:grpSpPr>
        <p:sp>
          <p:nvSpPr>
            <p:cNvPr id="1047" name="Google Shape;1047;p109"/>
            <p:cNvSpPr txBox="1"/>
            <p:nvPr/>
          </p:nvSpPr>
          <p:spPr>
            <a:xfrm>
              <a:off x="0" y="-57150"/>
              <a:ext cx="55233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>
                  <a:latin typeface="Delicious Handrawn"/>
                  <a:ea typeface="Delicious Handrawn"/>
                  <a:cs typeface="Delicious Handrawn"/>
                  <a:sym typeface="Delicious Handrawn"/>
                </a:defRPr>
              </a:pPr>
              <a:r>
                <a:rPr>
                  <a:solidFill>
                    <a:schemeClr val="dk1"/>
                  </a:solidFill>
                </a:rPr>
                <a:t>ESCRIBE </a:t>
              </a:r>
              <a:r>
                <a:rPr b="1">
                  <a:solidFill>
                    <a:srgbClr val="00969B"/>
                  </a:solidFill>
                </a:rPr>
                <a:t>AYUDA</a:t>
              </a:r>
              <a:endParaRPr b="1" sz="13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endParaRPr>
            </a:p>
          </p:txBody>
        </p:sp>
        <p:sp>
          <p:nvSpPr>
            <p:cNvPr id="1048" name="Google Shape;1048;p109"/>
            <p:cNvSpPr txBox="1"/>
            <p:nvPr/>
          </p:nvSpPr>
          <p:spPr>
            <a:xfrm>
              <a:off x="0" y="866888"/>
              <a:ext cx="55233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  <a:defRPr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defRPr>
              </a:pPr>
              <a:r>
                <a:t>Explora recursos e información de contacto relacionados con violencia intrafamiliar, violencia sexual, salud mental u otras situaciones urgentes.</a:t>
              </a:r>
              <a:endParaRPr sz="7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110"/>
          <p:cNvSpPr/>
          <p:nvPr/>
        </p:nvSpPr>
        <p:spPr>
          <a:xfrm rot="-5400000">
            <a:off x="4254600" y="-4053375"/>
            <a:ext cx="480900" cy="89901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110"/>
          <p:cNvSpPr txBox="1"/>
          <p:nvPr/>
        </p:nvSpPr>
        <p:spPr>
          <a:xfrm>
            <a:off x="286222" y="197506"/>
            <a:ext cx="88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300">
                <a:solidFill>
                  <a:schemeClr val="lt1"/>
                </a:solidFill>
              </a:defRPr>
            </a:pPr>
            <a:r>
              <a:t>¿Cómo Entender el MENÚ de Crianza con Conciencia +?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111"/>
          <p:cNvSpPr/>
          <p:nvPr/>
        </p:nvSpPr>
        <p:spPr>
          <a:xfrm rot="-5400000">
            <a:off x="4254600" y="-4053375"/>
            <a:ext cx="480900" cy="89901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111"/>
          <p:cNvSpPr txBox="1"/>
          <p:nvPr/>
        </p:nvSpPr>
        <p:spPr>
          <a:xfrm>
            <a:off x="286222" y="197506"/>
            <a:ext cx="88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300">
                <a:solidFill>
                  <a:schemeClr val="lt1"/>
                </a:solidFill>
              </a:defRPr>
            </a:pPr>
            <a:r>
              <a:t>¿Cómo Entender el MENÚ de Crianza con Conciencia +?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7D31"/>
        </a:solidFill>
      </p:bgPr>
    </p:bg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5" name="Google Shape;1065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3360500" y="877575"/>
            <a:ext cx="2215375" cy="221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112"/>
          <p:cNvSpPr txBox="1"/>
          <p:nvPr/>
        </p:nvSpPr>
        <p:spPr>
          <a:xfrm>
            <a:off x="1588052" y="3585275"/>
            <a:ext cx="59679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Cambio de rol para ser facilitadores</a:t>
            </a:r>
            <a:endParaRPr sz="4100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69B"/>
        </a:solidFill>
      </p:bgPr>
    </p:bg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113"/>
          <p:cNvSpPr txBox="1"/>
          <p:nvPr/>
        </p:nvSpPr>
        <p:spPr>
          <a:xfrm>
            <a:off x="320025" y="364575"/>
            <a:ext cx="7821300" cy="42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4200">
                <a:solidFill>
                  <a:schemeClr val="lt1"/>
                </a:solidFill>
              </a:defRPr>
            </a:pPr>
            <a:r>
              <a:t>¿Qué habilidades de facilitación observaste cuando realizábamos estas actividades?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endParaRPr b="1" sz="4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4200">
                <a:solidFill>
                  <a:schemeClr val="lt1"/>
                </a:solidFill>
              </a:defRPr>
            </a:pPr>
            <a:r>
              <a:t>Compartir en Preguntas y Respuestas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878"/>
        </a:solidFill>
      </p:bgPr>
    </p:bg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14"/>
          <p:cNvSpPr txBox="1"/>
          <p:nvPr/>
        </p:nvSpPr>
        <p:spPr>
          <a:xfrm>
            <a:off x="361525" y="2425675"/>
            <a:ext cx="7821300" cy="14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chemeClr val="lt1"/>
                </a:solidFill>
              </a:defRPr>
            </a:pPr>
            <a:r>
              <a:t>Módulo 4: Configuración de la App Formando Conciencia +</a:t>
            </a:r>
            <a:endParaRPr b="1"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15"/>
          <p:cNvSpPr/>
          <p:nvPr/>
        </p:nvSpPr>
        <p:spPr>
          <a:xfrm rot="-5400000">
            <a:off x="2622450" y="-2421225"/>
            <a:ext cx="480900" cy="57258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115"/>
          <p:cNvSpPr txBox="1"/>
          <p:nvPr/>
        </p:nvSpPr>
        <p:spPr>
          <a:xfrm>
            <a:off x="286222" y="1975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Configurar Formando Conciencia 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3" name="Google Shape;1083;p1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9787" y="902375"/>
            <a:ext cx="2624701" cy="26247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115"/>
          <p:cNvSpPr txBox="1"/>
          <p:nvPr/>
        </p:nvSpPr>
        <p:spPr>
          <a:xfrm>
            <a:off x="678638" y="3527075"/>
            <a:ext cx="2967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Noto Sans"/>
                <a:ea typeface="Noto Sans"/>
                <a:cs typeface="Noto Sans"/>
                <a:sym typeface="Noto Sans"/>
              </a:defRPr>
            </a:pPr>
            <a:r>
              <a:t>Escanea el código QR para descargar la aplicación desde el Google Play Store</a:t>
            </a:r>
            <a:endParaRPr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085" name="Google Shape;1085;p1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01063" y="960676"/>
            <a:ext cx="2508098" cy="2508098"/>
          </a:xfrm>
          <a:prstGeom prst="rect">
            <a:avLst/>
          </a:prstGeom>
          <a:noFill/>
          <a:ln>
            <a:noFill/>
          </a:ln>
        </p:spPr>
      </p:pic>
      <p:sp>
        <p:nvSpPr>
          <p:cNvPr id="1086" name="Google Shape;1086;p115"/>
          <p:cNvSpPr txBox="1"/>
          <p:nvPr/>
        </p:nvSpPr>
        <p:spPr>
          <a:xfrm>
            <a:off x="5271600" y="3394450"/>
            <a:ext cx="2967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Noto Sans"/>
                <a:ea typeface="Noto Sans"/>
                <a:cs typeface="Noto Sans"/>
                <a:sym typeface="Noto Sans"/>
              </a:defRPr>
            </a:pPr>
            <a:r>
              <a:t>Si no tienes acceso a Google Play Store, escanea el código QR para acceder a la versión web de la aplicación.</a:t>
            </a:r>
            <a:endParaRPr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116"/>
          <p:cNvSpPr/>
          <p:nvPr/>
        </p:nvSpPr>
        <p:spPr>
          <a:xfrm rot="-5400000">
            <a:off x="2642250" y="-2441025"/>
            <a:ext cx="480900" cy="57654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116"/>
          <p:cNvSpPr txBox="1"/>
          <p:nvPr/>
        </p:nvSpPr>
        <p:spPr>
          <a:xfrm>
            <a:off x="286222" y="1975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Configurar Formando Conciencia 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3" name="Google Shape;1093;p116"/>
          <p:cNvGrpSpPr/>
          <p:nvPr/>
        </p:nvGrpSpPr>
        <p:grpSpPr>
          <a:xfrm>
            <a:off x="923650" y="1498300"/>
            <a:ext cx="1451100" cy="2621700"/>
            <a:chOff x="923650" y="1498300"/>
            <a:chExt cx="1451100" cy="2621700"/>
          </a:xfrm>
        </p:grpSpPr>
        <p:sp>
          <p:nvSpPr>
            <p:cNvPr id="1094" name="Google Shape;1094;p116"/>
            <p:cNvSpPr/>
            <p:nvPr/>
          </p:nvSpPr>
          <p:spPr>
            <a:xfrm>
              <a:off x="1279900" y="1498300"/>
              <a:ext cx="738600" cy="699600"/>
            </a:xfrm>
            <a:prstGeom prst="rect">
              <a:avLst/>
            </a:prstGeom>
            <a:solidFill>
              <a:srgbClr val="E4027C"/>
            </a:solidFill>
            <a:ln cap="flat" cmpd="sng" w="28575">
              <a:solidFill>
                <a:srgbClr val="E402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  <a:defRPr sz="3100">
                  <a:solidFill>
                    <a:schemeClr val="lt1"/>
                  </a:solidFill>
                  <a:latin typeface="Delicious Handrawn"/>
                  <a:ea typeface="Delicious Handrawn"/>
                  <a:cs typeface="Delicious Handrawn"/>
                  <a:sym typeface="Delicious Handrawn"/>
                </a:defRPr>
              </a:pPr>
              <a:r>
                <a:t>01</a:t>
              </a:r>
              <a:endParaRPr sz="31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endParaRPr>
            </a:p>
          </p:txBody>
        </p:sp>
        <p:cxnSp>
          <p:nvCxnSpPr>
            <p:cNvPr id="1095" name="Google Shape;1095;p116"/>
            <p:cNvCxnSpPr>
              <a:stCxn id="1094" idx="2"/>
            </p:cNvCxnSpPr>
            <p:nvPr/>
          </p:nvCxnSpPr>
          <p:spPr>
            <a:xfrm>
              <a:off x="1649200" y="2197900"/>
              <a:ext cx="0" cy="58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96" name="Google Shape;1096;p116"/>
            <p:cNvSpPr txBox="1"/>
            <p:nvPr/>
          </p:nvSpPr>
          <p:spPr>
            <a:xfrm>
              <a:off x="923650" y="2785600"/>
              <a:ext cx="1451100" cy="133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Noto Sans"/>
                  <a:ea typeface="Noto Sans"/>
                  <a:cs typeface="Noto Sans"/>
                  <a:sym typeface="Noto Sans"/>
                </a:defRPr>
              </a:pPr>
              <a:r>
                <a:t>Agregar padres, madres y cuidadores a la App de Formando Conciencia +</a:t>
              </a:r>
              <a:endParaRPr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1097" name="Google Shape;1097;p116"/>
          <p:cNvGrpSpPr/>
          <p:nvPr/>
        </p:nvGrpSpPr>
        <p:grpSpPr>
          <a:xfrm>
            <a:off x="2669999" y="1498300"/>
            <a:ext cx="1631700" cy="2621700"/>
            <a:chOff x="3084595" y="1498300"/>
            <a:chExt cx="1631700" cy="2621700"/>
          </a:xfrm>
        </p:grpSpPr>
        <p:sp>
          <p:nvSpPr>
            <p:cNvPr id="1098" name="Google Shape;1098;p116"/>
            <p:cNvSpPr/>
            <p:nvPr/>
          </p:nvSpPr>
          <p:spPr>
            <a:xfrm>
              <a:off x="3531142" y="1498300"/>
              <a:ext cx="738600" cy="699600"/>
            </a:xfrm>
            <a:prstGeom prst="rect">
              <a:avLst/>
            </a:prstGeom>
            <a:solidFill>
              <a:srgbClr val="E4027C"/>
            </a:solidFill>
            <a:ln cap="flat" cmpd="sng" w="28575">
              <a:solidFill>
                <a:srgbClr val="E402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  <a:defRPr sz="3100">
                  <a:solidFill>
                    <a:schemeClr val="lt1"/>
                  </a:solidFill>
                  <a:latin typeface="Delicious Handrawn"/>
                  <a:ea typeface="Delicious Handrawn"/>
                  <a:cs typeface="Delicious Handrawn"/>
                  <a:sym typeface="Delicious Handrawn"/>
                </a:defRPr>
              </a:pPr>
              <a:r>
                <a:t>02</a:t>
              </a:r>
              <a:endParaRPr sz="31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endParaRPr>
            </a:p>
          </p:txBody>
        </p:sp>
        <p:cxnSp>
          <p:nvCxnSpPr>
            <p:cNvPr id="1099" name="Google Shape;1099;p116"/>
            <p:cNvCxnSpPr/>
            <p:nvPr/>
          </p:nvCxnSpPr>
          <p:spPr>
            <a:xfrm>
              <a:off x="3900450" y="2197900"/>
              <a:ext cx="0" cy="58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00" name="Google Shape;1100;p116"/>
            <p:cNvSpPr txBox="1"/>
            <p:nvPr/>
          </p:nvSpPr>
          <p:spPr>
            <a:xfrm>
              <a:off x="3084595" y="2785600"/>
              <a:ext cx="1631700" cy="133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Noto Sans"/>
                  <a:ea typeface="Noto Sans"/>
                  <a:cs typeface="Noto Sans"/>
                  <a:sym typeface="Noto Sans"/>
                </a:defRPr>
              </a:pPr>
              <a:r>
                <a:t>Acceder a la Guía de la Persona Facilitadora para la sesión presencial de integración</a:t>
              </a:r>
              <a:endParaRPr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1101" name="Google Shape;1101;p116"/>
          <p:cNvGrpSpPr/>
          <p:nvPr/>
        </p:nvGrpSpPr>
        <p:grpSpPr>
          <a:xfrm>
            <a:off x="4596958" y="1498300"/>
            <a:ext cx="1451100" cy="2621700"/>
            <a:chOff x="4804263" y="1498300"/>
            <a:chExt cx="1451100" cy="2621700"/>
          </a:xfrm>
        </p:grpSpPr>
        <p:sp>
          <p:nvSpPr>
            <p:cNvPr id="1102" name="Google Shape;1102;p116"/>
            <p:cNvSpPr/>
            <p:nvPr/>
          </p:nvSpPr>
          <p:spPr>
            <a:xfrm>
              <a:off x="5160508" y="1498300"/>
              <a:ext cx="738600" cy="699600"/>
            </a:xfrm>
            <a:prstGeom prst="rect">
              <a:avLst/>
            </a:prstGeom>
            <a:solidFill>
              <a:srgbClr val="E4027C"/>
            </a:solidFill>
            <a:ln cap="flat" cmpd="sng" w="28575">
              <a:solidFill>
                <a:srgbClr val="E402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  <a:defRPr sz="3100">
                  <a:solidFill>
                    <a:schemeClr val="lt1"/>
                  </a:solidFill>
                  <a:latin typeface="Delicious Handrawn"/>
                  <a:ea typeface="Delicious Handrawn"/>
                  <a:cs typeface="Delicious Handrawn"/>
                  <a:sym typeface="Delicious Handrawn"/>
                </a:defRPr>
              </a:pPr>
              <a:r>
                <a:t>03</a:t>
              </a:r>
              <a:endParaRPr sz="31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endParaRPr>
            </a:p>
          </p:txBody>
        </p:sp>
        <p:cxnSp>
          <p:nvCxnSpPr>
            <p:cNvPr id="1103" name="Google Shape;1103;p116"/>
            <p:cNvCxnSpPr/>
            <p:nvPr/>
          </p:nvCxnSpPr>
          <p:spPr>
            <a:xfrm>
              <a:off x="5529813" y="2197900"/>
              <a:ext cx="0" cy="58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04" name="Google Shape;1104;p116"/>
            <p:cNvSpPr txBox="1"/>
            <p:nvPr/>
          </p:nvSpPr>
          <p:spPr>
            <a:xfrm>
              <a:off x="4804263" y="2785600"/>
              <a:ext cx="1451100" cy="133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Noto Sans"/>
                  <a:ea typeface="Noto Sans"/>
                  <a:cs typeface="Noto Sans"/>
                  <a:sym typeface="Noto Sans"/>
                </a:defRPr>
              </a:pPr>
              <a:r>
                <a:t>Buscar mensajes para llevar a cabo una sesión de chat de WhatsApp</a:t>
              </a:r>
              <a:endParaRPr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1105" name="Google Shape;1105;p116"/>
          <p:cNvGrpSpPr/>
          <p:nvPr/>
        </p:nvGrpSpPr>
        <p:grpSpPr>
          <a:xfrm>
            <a:off x="6433613" y="1498300"/>
            <a:ext cx="1451100" cy="2527925"/>
            <a:chOff x="6433613" y="1498300"/>
            <a:chExt cx="1451100" cy="2527925"/>
          </a:xfrm>
        </p:grpSpPr>
        <p:sp>
          <p:nvSpPr>
            <p:cNvPr id="1106" name="Google Shape;1106;p116"/>
            <p:cNvSpPr/>
            <p:nvPr/>
          </p:nvSpPr>
          <p:spPr>
            <a:xfrm>
              <a:off x="6789875" y="1498300"/>
              <a:ext cx="738600" cy="699600"/>
            </a:xfrm>
            <a:prstGeom prst="rect">
              <a:avLst/>
            </a:prstGeom>
            <a:solidFill>
              <a:srgbClr val="E4027C"/>
            </a:solidFill>
            <a:ln cap="flat" cmpd="sng" w="28575">
              <a:solidFill>
                <a:srgbClr val="E402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  <a:defRPr sz="3100">
                  <a:solidFill>
                    <a:schemeClr val="lt1"/>
                  </a:solidFill>
                  <a:latin typeface="Delicious Handrawn"/>
                  <a:ea typeface="Delicious Handrawn"/>
                  <a:cs typeface="Delicious Handrawn"/>
                  <a:sym typeface="Delicious Handrawn"/>
                </a:defRPr>
              </a:pPr>
              <a:r>
                <a:t>04</a:t>
              </a:r>
              <a:endParaRPr sz="31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endParaRPr>
            </a:p>
          </p:txBody>
        </p:sp>
        <p:cxnSp>
          <p:nvCxnSpPr>
            <p:cNvPr id="1107" name="Google Shape;1107;p116"/>
            <p:cNvCxnSpPr/>
            <p:nvPr/>
          </p:nvCxnSpPr>
          <p:spPr>
            <a:xfrm>
              <a:off x="7159163" y="2104125"/>
              <a:ext cx="0" cy="58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08" name="Google Shape;1108;p116"/>
            <p:cNvSpPr txBox="1"/>
            <p:nvPr/>
          </p:nvSpPr>
          <p:spPr>
            <a:xfrm>
              <a:off x="6433613" y="2691825"/>
              <a:ext cx="1451100" cy="133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Noto Sans"/>
                  <a:ea typeface="Noto Sans"/>
                  <a:cs typeface="Noto Sans"/>
                  <a:sym typeface="Noto Sans"/>
                </a:defRPr>
              </a:pPr>
              <a:r>
                <a:t>Tratar cuestiones de salvaguarda o protección </a:t>
              </a:r>
              <a:endParaRPr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1109" name="Google Shape;1109;p116"/>
          <p:cNvSpPr txBox="1"/>
          <p:nvPr/>
        </p:nvSpPr>
        <p:spPr>
          <a:xfrm>
            <a:off x="286225" y="863200"/>
            <a:ext cx="5297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DB3614"/>
                </a:solidFill>
              </a:defRPr>
            </a:pPr>
            <a:r>
              <a:t>¿Para qué usarás la App Formando Conciencia +?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117"/>
          <p:cNvSpPr/>
          <p:nvPr/>
        </p:nvSpPr>
        <p:spPr>
          <a:xfrm rot="-5400000">
            <a:off x="2642250" y="-2441025"/>
            <a:ext cx="480900" cy="57654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117"/>
          <p:cNvSpPr txBox="1"/>
          <p:nvPr/>
        </p:nvSpPr>
        <p:spPr>
          <a:xfrm>
            <a:off x="286222" y="1975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Configurar Formando Conciencia 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6" name="Google Shape;1116;p117" title="crear perfil 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3738" y="0"/>
            <a:ext cx="318027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7D31"/>
        </a:solidFill>
      </p:bgPr>
    </p:bg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118"/>
          <p:cNvSpPr txBox="1"/>
          <p:nvPr/>
        </p:nvSpPr>
        <p:spPr>
          <a:xfrm>
            <a:off x="361525" y="3000800"/>
            <a:ext cx="7821300" cy="8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chemeClr val="lt1"/>
                </a:solidFill>
              </a:defRPr>
            </a:pPr>
            <a:r>
              <a:t>Resumen general de la App Formando Conciencia + </a:t>
            </a:r>
            <a:endParaRPr b="1" sz="5000">
              <a:solidFill>
                <a:schemeClr val="lt1"/>
              </a:solidFill>
            </a:endParaRPr>
          </a:p>
        </p:txBody>
      </p:sp>
      <p:pic>
        <p:nvPicPr>
          <p:cNvPr id="1122" name="Google Shape;1122;p118"/>
          <p:cNvPicPr preferRelativeResize="0"/>
          <p:nvPr/>
        </p:nvPicPr>
        <p:blipFill rotWithShape="1">
          <a:blip r:embed="rId3">
            <a:alphaModFix/>
          </a:blip>
          <a:srcRect b="2606" l="0" r="0" t="2606"/>
          <a:stretch/>
        </p:blipFill>
        <p:spPr>
          <a:xfrm>
            <a:off x="540325" y="857877"/>
            <a:ext cx="1821200" cy="182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878"/>
        </a:solidFill>
      </p:bgPr>
    </p:bg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119"/>
          <p:cNvSpPr txBox="1"/>
          <p:nvPr/>
        </p:nvSpPr>
        <p:spPr>
          <a:xfrm>
            <a:off x="387450" y="2943925"/>
            <a:ext cx="7821300" cy="14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chemeClr val="lt1"/>
                </a:solidFill>
              </a:defRPr>
            </a:pPr>
            <a:r>
              <a:t>Cierre </a:t>
            </a:r>
            <a:endParaRPr b="1"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120"/>
          <p:cNvSpPr/>
          <p:nvPr/>
        </p:nvSpPr>
        <p:spPr>
          <a:xfrm rot="-5400000">
            <a:off x="2455800" y="-2254575"/>
            <a:ext cx="480900" cy="53925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120"/>
          <p:cNvSpPr txBox="1"/>
          <p:nvPr/>
        </p:nvSpPr>
        <p:spPr>
          <a:xfrm>
            <a:off x="286222" y="1975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Cierre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120"/>
          <p:cNvSpPr txBox="1"/>
          <p:nvPr/>
        </p:nvSpPr>
        <p:spPr>
          <a:xfrm>
            <a:off x="269600" y="972075"/>
            <a:ext cx="796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rgbClr val="DB3514"/>
                </a:solidFill>
              </a:defRPr>
            </a:pPr>
            <a:r>
              <a:t>¿Qué hemos visto hasta ahora? </a:t>
            </a:r>
            <a:endParaRPr b="0" i="0" sz="16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120"/>
          <p:cNvSpPr txBox="1"/>
          <p:nvPr/>
        </p:nvSpPr>
        <p:spPr>
          <a:xfrm>
            <a:off x="1192869" y="1803312"/>
            <a:ext cx="690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>
                <a:solidFill>
                  <a:srgbClr val="0C4061"/>
                </a:solidFill>
              </a:defRPr>
            </a:pPr>
            <a:r>
              <a:t>Antecedentes, visión general y estructura de Crianza con Conciencia +.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6" name="Google Shape;1136;p120"/>
          <p:cNvGrpSpPr/>
          <p:nvPr/>
        </p:nvGrpSpPr>
        <p:grpSpPr>
          <a:xfrm>
            <a:off x="617712" y="1736969"/>
            <a:ext cx="480873" cy="480925"/>
            <a:chOff x="475577" y="1034115"/>
            <a:chExt cx="523200" cy="523200"/>
          </a:xfrm>
        </p:grpSpPr>
        <p:sp>
          <p:nvSpPr>
            <p:cNvPr id="1137" name="Google Shape;1137;p120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019F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1138" name="Google Shape;1138;p1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9" name="Google Shape;1139;p120"/>
          <p:cNvSpPr txBox="1"/>
          <p:nvPr/>
        </p:nvSpPr>
        <p:spPr>
          <a:xfrm>
            <a:off x="1192869" y="2512502"/>
            <a:ext cx="690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>
                <a:solidFill>
                  <a:srgbClr val="0C4061"/>
                </a:solidFill>
              </a:defRPr>
            </a:pPr>
            <a:r>
              <a:t>Habilidades de facilitación: Aceptar, Explorar, Conectar y Practicar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0" name="Google Shape;1140;p120"/>
          <p:cNvGrpSpPr/>
          <p:nvPr/>
        </p:nvGrpSpPr>
        <p:grpSpPr>
          <a:xfrm>
            <a:off x="617712" y="2446159"/>
            <a:ext cx="480873" cy="480925"/>
            <a:chOff x="475577" y="1034115"/>
            <a:chExt cx="523200" cy="523200"/>
          </a:xfrm>
        </p:grpSpPr>
        <p:sp>
          <p:nvSpPr>
            <p:cNvPr id="1141" name="Google Shape;1141;p120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019F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1142" name="Google Shape;1142;p1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43" name="Google Shape;1143;p120"/>
          <p:cNvSpPr txBox="1"/>
          <p:nvPr/>
        </p:nvSpPr>
        <p:spPr>
          <a:xfrm>
            <a:off x="1192869" y="3221691"/>
            <a:ext cx="690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>
                <a:solidFill>
                  <a:srgbClr val="0C4061"/>
                </a:solidFill>
              </a:defRPr>
            </a:pPr>
            <a:r>
              <a:t>Configurar la App Formando Conciencia +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4" name="Google Shape;1144;p120"/>
          <p:cNvGrpSpPr/>
          <p:nvPr/>
        </p:nvGrpSpPr>
        <p:grpSpPr>
          <a:xfrm>
            <a:off x="617712" y="3155348"/>
            <a:ext cx="480873" cy="480925"/>
            <a:chOff x="475577" y="1034115"/>
            <a:chExt cx="523200" cy="523200"/>
          </a:xfrm>
        </p:grpSpPr>
        <p:sp>
          <p:nvSpPr>
            <p:cNvPr id="1145" name="Google Shape;1145;p120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019F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1146" name="Google Shape;1146;p1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47" name="Google Shape;1147;p120"/>
          <p:cNvSpPr txBox="1"/>
          <p:nvPr/>
        </p:nvSpPr>
        <p:spPr>
          <a:xfrm>
            <a:off x="1192869" y="3930881"/>
            <a:ext cx="690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>
                <a:solidFill>
                  <a:srgbClr val="0C4061"/>
                </a:solidFill>
              </a:defRPr>
            </a:pPr>
            <a:r>
              <a:t>Demostración en directo de la sesión de integración (Continuará mañana)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8" name="Google Shape;1148;p120"/>
          <p:cNvGrpSpPr/>
          <p:nvPr/>
        </p:nvGrpSpPr>
        <p:grpSpPr>
          <a:xfrm>
            <a:off x="617712" y="3864537"/>
            <a:ext cx="480873" cy="480925"/>
            <a:chOff x="475577" y="1034115"/>
            <a:chExt cx="523200" cy="523200"/>
          </a:xfrm>
        </p:grpSpPr>
        <p:sp>
          <p:nvSpPr>
            <p:cNvPr id="1149" name="Google Shape;1149;p120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019F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1150" name="Google Shape;1150;p1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121"/>
          <p:cNvSpPr/>
          <p:nvPr/>
        </p:nvSpPr>
        <p:spPr>
          <a:xfrm rot="-5400000">
            <a:off x="2455800" y="-2254575"/>
            <a:ext cx="480900" cy="53925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121"/>
          <p:cNvSpPr txBox="1"/>
          <p:nvPr/>
        </p:nvSpPr>
        <p:spPr>
          <a:xfrm>
            <a:off x="286222" y="1975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Cierre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121"/>
          <p:cNvSpPr txBox="1"/>
          <p:nvPr/>
        </p:nvSpPr>
        <p:spPr>
          <a:xfrm>
            <a:off x="269600" y="972075"/>
            <a:ext cx="796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rgbClr val="DB3514"/>
                </a:solidFill>
              </a:defRPr>
            </a:pPr>
            <a:r>
              <a:t>Actividad para Casa</a:t>
            </a:r>
            <a:endParaRPr b="0" i="0" sz="16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121"/>
          <p:cNvSpPr txBox="1"/>
          <p:nvPr/>
        </p:nvSpPr>
        <p:spPr>
          <a:xfrm>
            <a:off x="1192869" y="1638962"/>
            <a:ext cx="6904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>
                <a:solidFill>
                  <a:srgbClr val="0C4061"/>
                </a:solidFill>
              </a:defRPr>
            </a:pPr>
            <a:r>
              <a:t>Repasa las habilidades de facilitación que aprendiste hoy, especialmente el método AECP.</a:t>
            </a:r>
            <a:endParaRPr sz="1600">
              <a:solidFill>
                <a:srgbClr val="0C4061"/>
              </a:solidFill>
            </a:endParaRPr>
          </a:p>
        </p:txBody>
      </p:sp>
      <p:grpSp>
        <p:nvGrpSpPr>
          <p:cNvPr id="1159" name="Google Shape;1159;p121"/>
          <p:cNvGrpSpPr/>
          <p:nvPr/>
        </p:nvGrpSpPr>
        <p:grpSpPr>
          <a:xfrm>
            <a:off x="628412" y="1683444"/>
            <a:ext cx="480873" cy="480925"/>
            <a:chOff x="475577" y="1034115"/>
            <a:chExt cx="523200" cy="523200"/>
          </a:xfrm>
        </p:grpSpPr>
        <p:sp>
          <p:nvSpPr>
            <p:cNvPr id="1160" name="Google Shape;1160;p121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019F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1161" name="Google Shape;1161;p1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2" name="Google Shape;1162;p121"/>
          <p:cNvSpPr txBox="1"/>
          <p:nvPr/>
        </p:nvSpPr>
        <p:spPr>
          <a:xfrm>
            <a:off x="1192869" y="2348152"/>
            <a:ext cx="6904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>
                <a:solidFill>
                  <a:srgbClr val="0C4061"/>
                </a:solidFill>
              </a:defRPr>
            </a:pPr>
            <a:r>
              <a:t>Revisa todas las sesiones del chatbot de Crianza con Conciencia +. Al final de cada sesión, pídeles que escriban NUEVO para empezar una sesión nueva. </a:t>
            </a:r>
            <a:endParaRPr sz="1600">
              <a:solidFill>
                <a:srgbClr val="0C406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>
              <a:solidFill>
                <a:srgbClr val="0C4061"/>
              </a:solidFill>
            </a:endParaRPr>
          </a:p>
        </p:txBody>
      </p:sp>
      <p:grpSp>
        <p:nvGrpSpPr>
          <p:cNvPr id="1163" name="Google Shape;1163;p121"/>
          <p:cNvGrpSpPr/>
          <p:nvPr/>
        </p:nvGrpSpPr>
        <p:grpSpPr>
          <a:xfrm>
            <a:off x="628412" y="2392634"/>
            <a:ext cx="480873" cy="480925"/>
            <a:chOff x="475577" y="1034115"/>
            <a:chExt cx="523200" cy="523200"/>
          </a:xfrm>
        </p:grpSpPr>
        <p:sp>
          <p:nvSpPr>
            <p:cNvPr id="1164" name="Google Shape;1164;p121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019F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1165" name="Google Shape;1165;p1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6" name="Google Shape;1166;p121"/>
          <p:cNvSpPr txBox="1"/>
          <p:nvPr/>
        </p:nvSpPr>
        <p:spPr>
          <a:xfrm>
            <a:off x="1192869" y="3057341"/>
            <a:ext cx="6904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>
                <a:solidFill>
                  <a:srgbClr val="0C4061"/>
                </a:solidFill>
              </a:defRPr>
            </a:pPr>
            <a:r>
              <a:t>Si las personas participantes tienen algún problema, pueden reiniciar el chat automatizado escribiendo REANUDAR. </a:t>
            </a:r>
            <a:r>
              <a:rPr b="1"/>
              <a:t>¡NO USES REANUDAR CON PADRES, MADRES Y CUIDADORES! </a:t>
            </a:r>
            <a:endParaRPr b="1" sz="1600">
              <a:solidFill>
                <a:srgbClr val="0C4061"/>
              </a:solidFill>
            </a:endParaRPr>
          </a:p>
        </p:txBody>
      </p:sp>
      <p:grpSp>
        <p:nvGrpSpPr>
          <p:cNvPr id="1167" name="Google Shape;1167;p121"/>
          <p:cNvGrpSpPr/>
          <p:nvPr/>
        </p:nvGrpSpPr>
        <p:grpSpPr>
          <a:xfrm>
            <a:off x="628412" y="3101823"/>
            <a:ext cx="480873" cy="480925"/>
            <a:chOff x="475577" y="1034115"/>
            <a:chExt cx="523200" cy="523200"/>
          </a:xfrm>
        </p:grpSpPr>
        <p:sp>
          <p:nvSpPr>
            <p:cNvPr id="1168" name="Google Shape;1168;p121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019F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1169" name="Google Shape;1169;p1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70" name="Google Shape;1170;p121"/>
          <p:cNvSpPr txBox="1"/>
          <p:nvPr/>
        </p:nvSpPr>
        <p:spPr>
          <a:xfrm>
            <a:off x="1192869" y="3766531"/>
            <a:ext cx="6904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600">
                <a:solidFill>
                  <a:srgbClr val="0C4061"/>
                </a:solidFill>
              </a:defRPr>
            </a:pPr>
            <a:r>
              <a:t>Recuérdales a las personas participantes que estas palabras clave solo son para usarse durante la capacitación, y que NO deben compartirlos con los padres, madres o cuidadores durante la sesión de integración. </a:t>
            </a:r>
            <a:endParaRPr b="1" sz="1600">
              <a:solidFill>
                <a:srgbClr val="0C4061"/>
              </a:solidFill>
            </a:endParaRPr>
          </a:p>
        </p:txBody>
      </p:sp>
      <p:grpSp>
        <p:nvGrpSpPr>
          <p:cNvPr id="1171" name="Google Shape;1171;p121"/>
          <p:cNvGrpSpPr/>
          <p:nvPr/>
        </p:nvGrpSpPr>
        <p:grpSpPr>
          <a:xfrm>
            <a:off x="628412" y="3811012"/>
            <a:ext cx="480873" cy="480925"/>
            <a:chOff x="475577" y="1034115"/>
            <a:chExt cx="523200" cy="523200"/>
          </a:xfrm>
        </p:grpSpPr>
        <p:sp>
          <p:nvSpPr>
            <p:cNvPr id="1172" name="Google Shape;1172;p121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019F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1173" name="Google Shape;1173;p1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122"/>
          <p:cNvSpPr/>
          <p:nvPr/>
        </p:nvSpPr>
        <p:spPr>
          <a:xfrm rot="-5400000">
            <a:off x="3126000" y="-2924775"/>
            <a:ext cx="480900" cy="67329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122"/>
          <p:cNvSpPr txBox="1"/>
          <p:nvPr/>
        </p:nvSpPr>
        <p:spPr>
          <a:xfrm>
            <a:off x="286222" y="1975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Resumen General del Taller de Formación de Facilitadores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122"/>
          <p:cNvSpPr txBox="1"/>
          <p:nvPr/>
        </p:nvSpPr>
        <p:spPr>
          <a:xfrm>
            <a:off x="6935725" y="251350"/>
            <a:ext cx="4185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rgbClr val="DB3614"/>
                </a:solidFill>
              </a:defRPr>
            </a:pPr>
            <a:r>
              <a:t>Programa para el Día 2: </a:t>
            </a:r>
            <a:endParaRPr b="0" i="0" sz="16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81" name="Google Shape;1181;p122"/>
          <p:cNvGraphicFramePr/>
          <p:nvPr/>
        </p:nvGraphicFramePr>
        <p:xfrm>
          <a:off x="239975" y="83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{14496B87-5704-4777-A86E-75ADE45BAD4F}</a:tableStyleId>
              </a:tblPr>
              <a:tblGrid>
                <a:gridCol w="1039300"/>
                <a:gridCol w="2759600"/>
                <a:gridCol w="48651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300">
                          <a:solidFill>
                            <a:srgbClr val="113D5C"/>
                          </a:solidFill>
                        </a:defRPr>
                      </a:pPr>
                      <a:r>
                        <a:t>Tiempo</a:t>
                      </a:r>
                      <a:endParaRPr b="1" sz="1300">
                        <a:solidFill>
                          <a:srgbClr val="113D5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300">
                          <a:solidFill>
                            <a:srgbClr val="113D5C"/>
                          </a:solidFill>
                        </a:defRPr>
                      </a:pPr>
                      <a:r>
                        <a:t>Módulo</a:t>
                      </a:r>
                      <a:endParaRPr b="1" sz="1300">
                        <a:solidFill>
                          <a:srgbClr val="113D5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300">
                          <a:solidFill>
                            <a:srgbClr val="113D5C"/>
                          </a:solidFill>
                        </a:defRPr>
                      </a:pPr>
                      <a:r>
                        <a:t>Actividades</a:t>
                      </a:r>
                      <a:endParaRPr b="1" sz="1300">
                        <a:solidFill>
                          <a:srgbClr val="113D5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12:00-12:40</a:t>
                      </a:r>
                      <a:endParaRPr b="1" sz="1200">
                        <a:solidFill>
                          <a:srgbClr val="113D5C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Bienvenida y registro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Recordatorios y registro</a:t>
                      </a:r>
                      <a:endParaRPr sz="1200">
                        <a:solidFill>
                          <a:srgbClr val="113D5C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Viviendo la estrategia de Tomar una Pausa</a:t>
                      </a:r>
                      <a:endParaRPr sz="1200">
                        <a:solidFill>
                          <a:srgbClr val="113D5C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Preguntas y reflexiones del primer día</a:t>
                      </a:r>
                      <a:endParaRPr sz="1200">
                        <a:solidFill>
                          <a:srgbClr val="113D5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Módulo 5: Preparación para la sesión de Chat automatizada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Recorrido a través de la aplicación para las facilitadoras:</a:t>
                      </a:r>
                      <a:endParaRPr sz="1200">
                        <a:solidFill>
                          <a:srgbClr val="113D5C"/>
                        </a:solidFill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Formando Conciencia +</a:t>
                      </a:r>
                      <a:endParaRPr sz="1200">
                        <a:solidFill>
                          <a:srgbClr val="113D5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12:40-13:15</a:t>
                      </a:r>
                      <a:endParaRPr b="1" sz="1200">
                        <a:solidFill>
                          <a:srgbClr val="113D5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Módulo 6: Realización de una sesión de chat en WhatsApp</a:t>
                      </a:r>
                      <a:endParaRPr b="1" sz="1200">
                        <a:solidFill>
                          <a:srgbClr val="113D5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Configuración del grupo y sus reglas </a:t>
                      </a:r>
                      <a:endParaRPr sz="1200">
                        <a:solidFill>
                          <a:srgbClr val="113D5C"/>
                        </a:solidFill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Rol de la facilitadora en el chat</a:t>
                      </a:r>
                      <a:endParaRPr sz="1200">
                        <a:solidFill>
                          <a:srgbClr val="113D5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13:15-13:20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200"/>
                      </a:pPr>
                      <a:r>
                        <a:rPr>
                          <a:solidFill>
                            <a:srgbClr val="113D5C"/>
                          </a:solidFill>
                        </a:rPr>
                        <a:t>                                                       </a:t>
                      </a:r>
                      <a:r>
                        <a:rPr>
                          <a:solidFill>
                            <a:schemeClr val="lt1"/>
                          </a:solidFill>
                        </a:rPr>
                        <a:t>  Pausa Activa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D7D31"/>
                    </a:solidFill>
                  </a:tcPr>
                </a:tc>
                <a:tc hMerge="1"/>
              </a:tr>
              <a:tr h="381000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13:20-13:50</a:t>
                      </a:r>
                      <a:endParaRPr b="1" sz="1200">
                        <a:solidFill>
                          <a:srgbClr val="113D5C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Módulo 7: Salvaguarda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¿Qué es? Cómo proceder en la virtualidad y presencialidad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7D3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Módulo 8: Desafíos comunes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Abordaje de desafíos. Preguntas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13:50-14:00</a:t>
                      </a:r>
                      <a:endParaRPr b="1" sz="1200">
                        <a:solidFill>
                          <a:srgbClr val="113D5C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 b="1" sz="1200">
                          <a:solidFill>
                            <a:srgbClr val="113D5C"/>
                          </a:solidFill>
                        </a:defRPr>
                      </a:pPr>
                      <a:r>
                        <a:t>Clausura</a:t>
                      </a:r>
                      <a:endParaRPr b="1" sz="1200">
                        <a:solidFill>
                          <a:srgbClr val="113D5C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Actividades de cierre </a:t>
                      </a:r>
                      <a:endParaRPr sz="1200">
                        <a:solidFill>
                          <a:srgbClr val="113D5C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3D5C"/>
                        </a:buClr>
                        <a:buSzPts val="1200"/>
                        <a:buChar char="●"/>
                        <a:defRPr sz="1200">
                          <a:solidFill>
                            <a:srgbClr val="113D5C"/>
                          </a:solidFill>
                        </a:defRPr>
                      </a:pPr>
                      <a:r>
                        <a:t>Próximos pasos</a:t>
                      </a:r>
                      <a:endParaRPr sz="1200">
                        <a:solidFill>
                          <a:srgbClr val="113D5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027C"/>
        </a:solidFill>
      </p:bgPr>
    </p:bg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123"/>
          <p:cNvSpPr txBox="1"/>
          <p:nvPr/>
        </p:nvSpPr>
        <p:spPr>
          <a:xfrm>
            <a:off x="281150" y="3486950"/>
            <a:ext cx="7821300" cy="9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4400">
                <a:solidFill>
                  <a:schemeClr val="lt1"/>
                </a:solidFill>
              </a:defRPr>
            </a:pPr>
            <a:r>
              <a:t>¿Tienes preguntas?</a:t>
            </a:r>
            <a:endParaRPr b="1" sz="4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1" name="Google Shape;1191;p124"/>
          <p:cNvPicPr preferRelativeResize="0"/>
          <p:nvPr/>
        </p:nvPicPr>
        <p:blipFill rotWithShape="1">
          <a:blip r:embed="rId3">
            <a:alphaModFix/>
          </a:blip>
          <a:srcRect b="20117" l="-3802" r="-7050" t="12168"/>
          <a:stretch/>
        </p:blipFill>
        <p:spPr>
          <a:xfrm>
            <a:off x="-355425" y="-9662"/>
            <a:ext cx="10258028" cy="5162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124"/>
          <p:cNvSpPr txBox="1"/>
          <p:nvPr/>
        </p:nvSpPr>
        <p:spPr>
          <a:xfrm>
            <a:off x="317900" y="3680350"/>
            <a:ext cx="1478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700">
                <a:solidFill>
                  <a:srgbClr val="0B4060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Taller para Facilitadores: </a:t>
            </a:r>
            <a:endParaRPr b="1" sz="1700">
              <a:solidFill>
                <a:srgbClr val="0B406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2400">
                <a:solidFill>
                  <a:srgbClr val="0B4060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DÍA 2</a:t>
            </a:r>
            <a:endParaRPr b="1" i="0" sz="2300" u="none" cap="none" strike="noStrike">
              <a:solidFill>
                <a:srgbClr val="0B406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193" name="Google Shape;1193;p1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1675" y="381006"/>
            <a:ext cx="2099637" cy="837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4" name="Google Shape;1194;p124"/>
          <p:cNvPicPr preferRelativeResize="0"/>
          <p:nvPr/>
        </p:nvPicPr>
        <p:blipFill rotWithShape="1">
          <a:blip r:embed="rId5">
            <a:alphaModFix/>
          </a:blip>
          <a:srcRect b="1702" l="0" r="0" t="95001"/>
          <a:stretch/>
        </p:blipFill>
        <p:spPr>
          <a:xfrm>
            <a:off x="0" y="4970350"/>
            <a:ext cx="9212252" cy="214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25"/>
          <p:cNvSpPr/>
          <p:nvPr/>
        </p:nvSpPr>
        <p:spPr>
          <a:xfrm rot="-5400000">
            <a:off x="1935147" y="-1733925"/>
            <a:ext cx="480900" cy="43512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125"/>
          <p:cNvSpPr txBox="1"/>
          <p:nvPr/>
        </p:nvSpPr>
        <p:spPr>
          <a:xfrm>
            <a:off x="286222" y="1975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Recordatorios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125"/>
          <p:cNvSpPr txBox="1"/>
          <p:nvPr/>
        </p:nvSpPr>
        <p:spPr>
          <a:xfrm>
            <a:off x="624075" y="793675"/>
            <a:ext cx="7465800" cy="1219200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pPr>
            <a:r>
              <a:t>Por favor, cambia tu nombre a - </a:t>
            </a:r>
            <a:endParaRPr sz="1800">
              <a:solidFill>
                <a:schemeClr val="lt1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pPr>
            <a:r>
              <a:t>Nombre completo | Organización | Ciudad</a:t>
            </a:r>
            <a:endParaRPr sz="1800">
              <a:solidFill>
                <a:schemeClr val="lt1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</p:txBody>
      </p:sp>
      <p:pic>
        <p:nvPicPr>
          <p:cNvPr id="1202" name="Google Shape;1202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500" y="917413"/>
            <a:ext cx="971725" cy="9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125"/>
          <p:cNvSpPr txBox="1"/>
          <p:nvPr/>
        </p:nvSpPr>
        <p:spPr>
          <a:xfrm>
            <a:off x="624075" y="2173925"/>
            <a:ext cx="7465800" cy="1219200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28800" marR="303305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pPr>
            <a:r>
              <a:t>Tu audio se silencia automáticamente cuando entras en el taller. Por favor, levanta la mano si quieres hablar. </a:t>
            </a:r>
            <a:endParaRPr sz="1800">
              <a:solidFill>
                <a:schemeClr val="lt1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</p:txBody>
      </p:sp>
      <p:sp>
        <p:nvSpPr>
          <p:cNvPr id="1204" name="Google Shape;1204;p125"/>
          <p:cNvSpPr txBox="1"/>
          <p:nvPr/>
        </p:nvSpPr>
        <p:spPr>
          <a:xfrm>
            <a:off x="624075" y="3554175"/>
            <a:ext cx="7465800" cy="1219200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pPr>
            <a:r>
              <a:t>Esta sesión se graba con el fin de documentarse. Al participar en la sesión, das permiso para que te graben. </a:t>
            </a:r>
            <a:endParaRPr sz="1800">
              <a:solidFill>
                <a:schemeClr val="lt1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</p:txBody>
      </p:sp>
      <p:pic>
        <p:nvPicPr>
          <p:cNvPr id="1205" name="Google Shape;1205;p1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6471" y="2418513"/>
            <a:ext cx="853775" cy="85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6" name="Google Shape;1206;p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6471" y="3677950"/>
            <a:ext cx="853775" cy="85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126"/>
          <p:cNvSpPr/>
          <p:nvPr/>
        </p:nvSpPr>
        <p:spPr>
          <a:xfrm rot="-5400000">
            <a:off x="1935147" y="-1733925"/>
            <a:ext cx="480900" cy="43512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126"/>
          <p:cNvSpPr txBox="1"/>
          <p:nvPr/>
        </p:nvSpPr>
        <p:spPr>
          <a:xfrm>
            <a:off x="286222" y="1975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Recordatorios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3" name="Google Shape;1213;p126"/>
          <p:cNvPicPr preferRelativeResize="0"/>
          <p:nvPr/>
        </p:nvPicPr>
        <p:blipFill rotWithShape="1">
          <a:blip r:embed="rId3">
            <a:alphaModFix/>
          </a:blip>
          <a:srcRect b="9695" l="3800" r="4850" t="10501"/>
          <a:stretch/>
        </p:blipFill>
        <p:spPr>
          <a:xfrm>
            <a:off x="3110225" y="921925"/>
            <a:ext cx="2923550" cy="120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4" name="Google Shape;1214;p126"/>
          <p:cNvCxnSpPr/>
          <p:nvPr/>
        </p:nvCxnSpPr>
        <p:spPr>
          <a:xfrm>
            <a:off x="4572000" y="2122900"/>
            <a:ext cx="62100" cy="25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5" name="Google Shape;1215;p126"/>
          <p:cNvSpPr txBox="1"/>
          <p:nvPr/>
        </p:nvSpPr>
        <p:spPr>
          <a:xfrm>
            <a:off x="558025" y="2535350"/>
            <a:ext cx="35421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latin typeface="Noto Sans"/>
                <a:ea typeface="Noto Sans"/>
                <a:cs typeface="Noto Sans"/>
                <a:sym typeface="Noto Sans"/>
              </a:defRPr>
            </a:pPr>
            <a:r>
              <a:t>Usa el </a:t>
            </a:r>
            <a:r>
              <a:rPr b="1"/>
              <a:t>Chat</a:t>
            </a:r>
            <a:r>
              <a:t>para responder a las preguntas del formador </a:t>
            </a:r>
            <a:endParaRPr sz="1800"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216" name="Google Shape;1216;p126"/>
          <p:cNvCxnSpPr>
            <a:endCxn id="1215" idx="0"/>
          </p:cNvCxnSpPr>
          <p:nvPr/>
        </p:nvCxnSpPr>
        <p:spPr>
          <a:xfrm flipH="1">
            <a:off x="2329075" y="2001650"/>
            <a:ext cx="958500" cy="533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7" name="Google Shape;1217;p126"/>
          <p:cNvSpPr txBox="1"/>
          <p:nvPr/>
        </p:nvSpPr>
        <p:spPr>
          <a:xfrm>
            <a:off x="5105975" y="2535350"/>
            <a:ext cx="35421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latin typeface="Noto Sans"/>
                <a:ea typeface="Noto Sans"/>
                <a:cs typeface="Noto Sans"/>
                <a:sym typeface="Noto Sans"/>
              </a:defRPr>
            </a:pPr>
            <a:r>
              <a:t>En la casilla de </a:t>
            </a:r>
            <a:r>
              <a:rPr b="1"/>
              <a:t>Preguntas y Respuestas </a:t>
            </a:r>
            <a:r>
              <a:t>, escribe las preguntas que quieras hacerle al formador sobre Crianza con Conciencia +</a:t>
            </a:r>
            <a:endParaRPr sz="1800"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218" name="Google Shape;1218;p126"/>
          <p:cNvCxnSpPr>
            <a:endCxn id="1217" idx="0"/>
          </p:cNvCxnSpPr>
          <p:nvPr/>
        </p:nvCxnSpPr>
        <p:spPr>
          <a:xfrm>
            <a:off x="5871425" y="2025950"/>
            <a:ext cx="1005600" cy="509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127"/>
          <p:cNvSpPr/>
          <p:nvPr/>
        </p:nvSpPr>
        <p:spPr>
          <a:xfrm rot="-5400000">
            <a:off x="2040900" y="-1839675"/>
            <a:ext cx="480900" cy="4562700"/>
          </a:xfrm>
          <a:prstGeom prst="round2SameRect">
            <a:avLst>
              <a:gd fmla="val 0" name="adj1"/>
              <a:gd fmla="val 4600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127"/>
          <p:cNvSpPr txBox="1"/>
          <p:nvPr/>
        </p:nvSpPr>
        <p:spPr>
          <a:xfrm>
            <a:off x="286223" y="197500"/>
            <a:ext cx="4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Bienvenida e Introducciones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127"/>
          <p:cNvSpPr txBox="1"/>
          <p:nvPr/>
        </p:nvSpPr>
        <p:spPr>
          <a:xfrm>
            <a:off x="269600" y="972072"/>
            <a:ext cx="8199600" cy="3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2100">
                <a:solidFill>
                  <a:srgbClr val="EF1651"/>
                </a:solidFill>
              </a:defRPr>
            </a:pPr>
            <a:r>
              <a:t>Algunas reglas generales para nuestra sesión: </a:t>
            </a:r>
            <a:endParaRPr b="1" i="0" sz="2100" u="none" cap="none" strike="noStrike">
              <a:solidFill>
                <a:srgbClr val="EF16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2200" u="none" cap="none" strike="noStrike">
              <a:solidFill>
                <a:srgbClr val="DB361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900"/>
              <a:buFont typeface="Arial"/>
              <a:buChar char="●"/>
              <a:defRPr sz="1900">
                <a:solidFill>
                  <a:schemeClr val="accent5"/>
                </a:solidFill>
              </a:defRPr>
            </a:pPr>
            <a:r>
              <a:t>Préstale toda tu atención a la sesión: ¡sé un participante activo! </a:t>
            </a:r>
            <a:endParaRPr sz="1900">
              <a:solidFill>
                <a:schemeClr val="accent5"/>
              </a:solidFill>
            </a:endParaRPr>
          </a:p>
          <a:p>
            <a:pPr indent="-34925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900"/>
              <a:buFont typeface="Arial"/>
              <a:buChar char="●"/>
              <a:defRPr sz="1900">
                <a:solidFill>
                  <a:schemeClr val="accent5"/>
                </a:solidFill>
              </a:defRPr>
            </a:pPr>
            <a:r>
              <a:t>Sé considerado y respetuoso con las diversas perspectivas. </a:t>
            </a:r>
            <a:endParaRPr sz="1900">
              <a:solidFill>
                <a:schemeClr val="accent5"/>
              </a:solidFill>
            </a:endParaRPr>
          </a:p>
          <a:p>
            <a:pPr indent="-34925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900"/>
              <a:buChar char="●"/>
              <a:defRPr sz="1900">
                <a:solidFill>
                  <a:schemeClr val="accent5"/>
                </a:solidFill>
              </a:defRPr>
            </a:pPr>
            <a:r>
              <a:t>Practica la escucha activa manteniendo la cámara encendido siempre que sea posible. </a:t>
            </a:r>
            <a:endParaRPr sz="1900">
              <a:solidFill>
                <a:schemeClr val="accent5"/>
              </a:solidFill>
            </a:endParaRPr>
          </a:p>
          <a:p>
            <a:pPr indent="-34925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900"/>
              <a:buChar char="●"/>
              <a:defRPr sz="1900">
                <a:solidFill>
                  <a:schemeClr val="accent5"/>
                </a:solidFill>
              </a:defRPr>
            </a:pPr>
            <a:r>
              <a:t>Usa las diferentes funciones como el chat o levantar la mano para contribuir en la sesión. </a:t>
            </a:r>
            <a:endParaRPr sz="1900">
              <a:solidFill>
                <a:schemeClr val="accent5"/>
              </a:solidFill>
            </a:endParaRPr>
          </a:p>
          <a:p>
            <a:pPr indent="-34925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900"/>
              <a:buChar char="●"/>
              <a:defRPr sz="1900">
                <a:solidFill>
                  <a:schemeClr val="accent5"/>
                </a:solidFill>
              </a:defRPr>
            </a:pPr>
            <a:r>
              <a:t>Pon tu micrófono en silencio cuando estés escuchando a los demás. </a:t>
            </a:r>
            <a:endParaRPr sz="1900">
              <a:solidFill>
                <a:schemeClr val="accent5"/>
              </a:solidFill>
            </a:endParaRPr>
          </a:p>
          <a:p>
            <a:pPr indent="-34925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900"/>
              <a:buChar char="●"/>
              <a:defRPr sz="1900">
                <a:solidFill>
                  <a:schemeClr val="accent5"/>
                </a:solidFill>
              </a:defRPr>
            </a:pPr>
            <a:r>
              <a:t>Únete al taller a tiempo. </a:t>
            </a:r>
            <a:endParaRPr b="0" i="1" sz="19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128"/>
          <p:cNvSpPr/>
          <p:nvPr/>
        </p:nvSpPr>
        <p:spPr>
          <a:xfrm rot="-5400000">
            <a:off x="2156400" y="-1955175"/>
            <a:ext cx="480900" cy="47937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128"/>
          <p:cNvSpPr txBox="1"/>
          <p:nvPr/>
        </p:nvSpPr>
        <p:spPr>
          <a:xfrm>
            <a:off x="286222" y="1975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Actividades al Comienzo del Día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2" name="Google Shape;1232;p128" title="take_a_paus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69A"/>
        </a:solidFill>
      </p:bgPr>
    </p:bg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129"/>
          <p:cNvSpPr txBox="1"/>
          <p:nvPr/>
        </p:nvSpPr>
        <p:spPr>
          <a:xfrm>
            <a:off x="281150" y="2929850"/>
            <a:ext cx="7821300" cy="9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4400">
                <a:solidFill>
                  <a:schemeClr val="lt1"/>
                </a:solidFill>
              </a:defRPr>
            </a:pPr>
            <a:r>
              <a:t>Encuesta Zoom: ¿Cómo estás hoy? </a:t>
            </a:r>
            <a:endParaRPr b="1" sz="4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69A"/>
        </a:solidFill>
      </p:bgPr>
    </p:bg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130"/>
          <p:cNvSpPr txBox="1"/>
          <p:nvPr/>
        </p:nvSpPr>
        <p:spPr>
          <a:xfrm>
            <a:off x="294125" y="2476375"/>
            <a:ext cx="7821300" cy="9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4400">
                <a:solidFill>
                  <a:schemeClr val="lt1"/>
                </a:solidFill>
              </a:defRPr>
            </a:pPr>
            <a:r>
              <a:t>Chat: ¿Cuál es UN punto clave importante que te llevaste de la sesión de ayer?</a:t>
            </a:r>
            <a:endParaRPr b="1" sz="4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878"/>
        </a:solidFill>
      </p:bgPr>
    </p:bg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131"/>
          <p:cNvSpPr txBox="1"/>
          <p:nvPr/>
        </p:nvSpPr>
        <p:spPr>
          <a:xfrm>
            <a:off x="387450" y="2943925"/>
            <a:ext cx="7821300" cy="14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chemeClr val="lt1"/>
                </a:solidFill>
              </a:defRPr>
            </a:pPr>
            <a:r>
              <a:t>Módulo 5: Preparación para la Sesión de Chat</a:t>
            </a:r>
            <a:endParaRPr b="1"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132"/>
          <p:cNvSpPr txBox="1"/>
          <p:nvPr/>
        </p:nvSpPr>
        <p:spPr>
          <a:xfrm>
            <a:off x="269600" y="972075"/>
            <a:ext cx="7962000" cy="3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900">
                <a:solidFill>
                  <a:srgbClr val="DB3514"/>
                </a:solidFill>
              </a:defRPr>
            </a:pPr>
            <a:r>
              <a:t>Crea un Grupo de WhatsApp antes de la sesión de integración </a:t>
            </a:r>
            <a:endParaRPr b="1" i="0" sz="1900" u="none" cap="none" strike="noStrike">
              <a:solidFill>
                <a:srgbClr val="DB351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●"/>
              <a:defRPr sz="1800">
                <a:solidFill>
                  <a:schemeClr val="accent5"/>
                </a:solidFill>
              </a:defRPr>
            </a:pPr>
            <a:r>
              <a:rPr b="1"/>
              <a:t>Guarda los Contactos de los Padres, Madres y Cuidadores: </a:t>
            </a:r>
            <a:r>
              <a:t>Guarda los nombres y números de los padres, madres y cuidadores asignados para asegurar una confirmación rápida durante la sesión.</a:t>
            </a:r>
            <a:endParaRPr sz="1800">
              <a:solidFill>
                <a:schemeClr val="accent5"/>
              </a:solidFill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●"/>
              <a:defRPr sz="1800">
                <a:solidFill>
                  <a:schemeClr val="accent5"/>
                </a:solidFill>
              </a:defRPr>
            </a:pPr>
            <a:r>
              <a:rPr b="1"/>
              <a:t>Crea un Grupo de WhatsApp:</a:t>
            </a:r>
            <a:r>
              <a:t>Creat y configura tu grupo con tiempo y usando "Crianza con Conciencia +" como nombre base.</a:t>
            </a:r>
            <a:endParaRPr sz="1800">
              <a:solidFill>
                <a:schemeClr val="accent5"/>
              </a:solidFill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1600"/>
              <a:buChar char="●"/>
              <a:defRPr sz="1800">
                <a:solidFill>
                  <a:schemeClr val="accent5"/>
                </a:solidFill>
              </a:defRPr>
            </a:pPr>
            <a:r>
              <a:rPr b="1"/>
              <a:t>Ejemplo de un Nombre de Grupo: </a:t>
            </a:r>
            <a:r>
              <a:t>Considera un nombre temporal como "Crianza con Conciencia +_FamiliasFelices" para darle un toque personal.</a:t>
            </a:r>
            <a:endParaRPr b="1" sz="1800">
              <a:solidFill>
                <a:schemeClr val="accent5"/>
              </a:solidFill>
            </a:endParaRPr>
          </a:p>
        </p:txBody>
      </p:sp>
      <p:sp>
        <p:nvSpPr>
          <p:cNvPr id="1253" name="Google Shape;1253;p132"/>
          <p:cNvSpPr/>
          <p:nvPr/>
        </p:nvSpPr>
        <p:spPr>
          <a:xfrm rot="-5400000">
            <a:off x="2389650" y="-2188425"/>
            <a:ext cx="480900" cy="52602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132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Preparación para la Sesión de Chat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133"/>
          <p:cNvSpPr txBox="1"/>
          <p:nvPr/>
        </p:nvSpPr>
        <p:spPr>
          <a:xfrm>
            <a:off x="269600" y="972075"/>
            <a:ext cx="7962000" cy="3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2000">
                <a:solidFill>
                  <a:srgbClr val="DB3514"/>
                </a:solidFill>
              </a:defRPr>
            </a:pPr>
            <a:r>
              <a:t>Establece Reglas Generales para WhatsApp: </a:t>
            </a:r>
            <a:endParaRPr b="1" i="0" sz="2000" u="none" cap="none" strike="noStrike">
              <a:solidFill>
                <a:srgbClr val="DB351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700"/>
              <a:buChar char="●"/>
              <a:defRPr sz="1900">
                <a:solidFill>
                  <a:schemeClr val="accent5"/>
                </a:solidFill>
              </a:defRPr>
            </a:pPr>
            <a:r>
              <a:t>Destaca la importancia de crear un espacio seguro y cómodo en el grupo de WhatsApp para todos los involucrados.</a:t>
            </a:r>
            <a:endParaRPr sz="1900">
              <a:solidFill>
                <a:schemeClr val="accent5"/>
              </a:solidFill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00"/>
              <a:buChar char="●"/>
              <a:defRPr b="1" sz="1900">
                <a:solidFill>
                  <a:schemeClr val="accent5"/>
                </a:solidFill>
              </a:defRPr>
            </a:pPr>
            <a:r>
              <a:t>Formato para las Reglas Generales:</a:t>
            </a:r>
            <a:endParaRPr b="1" sz="1900">
              <a:solidFill>
                <a:schemeClr val="accent5"/>
              </a:solidFill>
            </a:endParaRPr>
          </a:p>
          <a:p>
            <a:pPr indent="-3365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00"/>
              <a:buChar char="○"/>
              <a:defRPr sz="1900">
                <a:solidFill>
                  <a:schemeClr val="accent5"/>
                </a:solidFill>
              </a:defRPr>
            </a:pPr>
            <a:r>
              <a:t>Coloca una cartulina o rotafolio titulado: Reglas Generales</a:t>
            </a:r>
            <a:endParaRPr sz="1900">
              <a:solidFill>
                <a:schemeClr val="accent5"/>
              </a:solidFill>
            </a:endParaRPr>
          </a:p>
          <a:p>
            <a:pPr indent="-3365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00"/>
              <a:buChar char="○"/>
              <a:defRPr sz="1900">
                <a:solidFill>
                  <a:schemeClr val="accent5"/>
                </a:solidFill>
              </a:defRPr>
            </a:pPr>
            <a:r>
              <a:t>Invita a las personas participantes a sugerir reglas para un ambiente de grupo positivo.</a:t>
            </a:r>
            <a:endParaRPr sz="1900">
              <a:solidFill>
                <a:schemeClr val="accent5"/>
              </a:solidFill>
            </a:endParaRPr>
          </a:p>
          <a:p>
            <a:pPr indent="-3365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00"/>
              <a:buChar char="○"/>
              <a:defRPr sz="1900">
                <a:solidFill>
                  <a:schemeClr val="accent5"/>
                </a:solidFill>
              </a:defRPr>
            </a:pPr>
            <a:r>
              <a:t>Escribe las reglas y los comentarios en la cartulina para futuras consultas.</a:t>
            </a:r>
            <a:endParaRPr sz="1900">
              <a:solidFill>
                <a:schemeClr val="accent5"/>
              </a:solidFill>
            </a:endParaRPr>
          </a:p>
        </p:txBody>
      </p:sp>
      <p:sp>
        <p:nvSpPr>
          <p:cNvPr id="1260" name="Google Shape;1260;p133"/>
          <p:cNvSpPr/>
          <p:nvPr/>
        </p:nvSpPr>
        <p:spPr>
          <a:xfrm rot="-5400000">
            <a:off x="2389650" y="-2188425"/>
            <a:ext cx="480900" cy="52602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133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Preparación para la Sesión de Chat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134"/>
          <p:cNvSpPr txBox="1"/>
          <p:nvPr/>
        </p:nvSpPr>
        <p:spPr>
          <a:xfrm>
            <a:off x="286225" y="873325"/>
            <a:ext cx="8294400" cy="29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rgbClr val="DB3514"/>
                </a:solidFill>
              </a:defRPr>
            </a:pPr>
            <a:r>
              <a:t>Establece Reglas Generales para WhatsApp: </a:t>
            </a:r>
            <a:endParaRPr b="1" i="0" sz="1700" u="none" cap="none" strike="noStrike">
              <a:solidFill>
                <a:srgbClr val="DB351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  <a:defRPr b="1" sz="1600">
                <a:solidFill>
                  <a:schemeClr val="accent5"/>
                </a:solidFill>
              </a:defRPr>
            </a:pPr>
            <a:r>
              <a:t>Tips para la discusión</a:t>
            </a:r>
            <a:endParaRPr b="1" sz="1600">
              <a:solidFill>
                <a:schemeClr val="accent5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○"/>
              <a:defRPr sz="1600">
                <a:solidFill>
                  <a:schemeClr val="accent5"/>
                </a:solidFill>
              </a:defRPr>
            </a:pPr>
            <a:r>
              <a:t>Fomenta el comportamiento positivo en las reglas.</a:t>
            </a:r>
            <a:endParaRPr sz="1600">
              <a:solidFill>
                <a:schemeClr val="accent5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○"/>
              <a:defRPr sz="1600">
                <a:solidFill>
                  <a:schemeClr val="accent5"/>
                </a:solidFill>
              </a:defRPr>
            </a:pPr>
            <a:r>
              <a:t>Haz sugerencias sobre temas concretos como el uso del celular, el respeto, etc.</a:t>
            </a:r>
            <a:endParaRPr sz="1600">
              <a:solidFill>
                <a:schemeClr val="accent5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○"/>
              <a:defRPr sz="1600">
                <a:solidFill>
                  <a:schemeClr val="accent5"/>
                </a:solidFill>
              </a:defRPr>
            </a:pPr>
            <a:r>
              <a:t>Repite y explora cada regla para que quede clara.</a:t>
            </a:r>
            <a:endParaRPr sz="1600">
              <a:solidFill>
                <a:schemeClr val="accent5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○"/>
              <a:defRPr sz="1600">
                <a:solidFill>
                  <a:schemeClr val="accent5"/>
                </a:solidFill>
              </a:defRPr>
            </a:pPr>
            <a:r>
              <a:t>Ejemplo: Si se menciona "Respeto", pregunta qué comportamientos demuestran respeto.</a:t>
            </a:r>
            <a:endParaRPr sz="1600">
              <a:solidFill>
                <a:schemeClr val="accent5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  <a:defRPr b="1" sz="1600">
                <a:solidFill>
                  <a:schemeClr val="accent5"/>
                </a:solidFill>
              </a:defRPr>
            </a:pPr>
            <a:r>
              <a:t>Asegúrate de que todos los padres, madres y cuidadores estén de acuerdo con las reglas generales: </a:t>
            </a:r>
            <a:endParaRPr b="1" sz="1600">
              <a:solidFill>
                <a:schemeClr val="accent5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○"/>
              <a:defRPr sz="1600">
                <a:solidFill>
                  <a:schemeClr val="accent5"/>
                </a:solidFill>
              </a:defRPr>
            </a:pPr>
            <a:r>
              <a:t>Da una oportunidad amplia para que todos puedan contribuir antes de pasar a la siguiente sugerencia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1267" name="Google Shape;1267;p134"/>
          <p:cNvSpPr/>
          <p:nvPr/>
        </p:nvSpPr>
        <p:spPr>
          <a:xfrm rot="-5400000">
            <a:off x="2389650" y="-2188425"/>
            <a:ext cx="480900" cy="52602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134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Preparación para la Sesión de Chat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135"/>
          <p:cNvSpPr txBox="1"/>
          <p:nvPr/>
        </p:nvSpPr>
        <p:spPr>
          <a:xfrm>
            <a:off x="269600" y="972075"/>
            <a:ext cx="8294400" cy="3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rgbClr val="DB3514"/>
                </a:solidFill>
              </a:defRPr>
            </a:pPr>
            <a:r>
              <a:t>Establece Reglas Generales para WhatsApp: </a:t>
            </a:r>
            <a:endParaRPr b="1" i="0" sz="1700" u="none" cap="none" strike="noStrike">
              <a:solidFill>
                <a:srgbClr val="DB351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  <a:defRPr b="1" sz="1600">
                <a:solidFill>
                  <a:schemeClr val="accent5"/>
                </a:solidFill>
              </a:defRPr>
            </a:pPr>
            <a:r>
              <a:t>Objetivo:</a:t>
            </a:r>
            <a:endParaRPr b="1" sz="1600">
              <a:solidFill>
                <a:schemeClr val="accent5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○"/>
              <a:defRPr sz="1600">
                <a:solidFill>
                  <a:schemeClr val="accent5"/>
                </a:solidFill>
              </a:defRPr>
            </a:pPr>
            <a:r>
              <a:t>Crea un conjunto de reglas generales acordadas por todos para mantener un entorno respetuoso y solidario en el grupo de WhatsApp.</a:t>
            </a:r>
            <a:endParaRPr sz="1600">
              <a:solidFill>
                <a:schemeClr val="accent5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  <a:defRPr b="1" sz="1600">
                <a:solidFill>
                  <a:schemeClr val="accent5"/>
                </a:solidFill>
              </a:defRPr>
            </a:pPr>
            <a:r>
              <a:t>Qué hacer cuando un padre, madre o cuidador olvida una regla:</a:t>
            </a:r>
            <a:endParaRPr b="1" sz="1600">
              <a:solidFill>
                <a:schemeClr val="accent5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○"/>
              <a:defRPr sz="1600">
                <a:solidFill>
                  <a:schemeClr val="accent5"/>
                </a:solidFill>
              </a:defRPr>
            </a:pPr>
            <a:r>
              <a:t>Si un padre, madre o cuidador olvida una de las reglas generales, puedes mandarle recordatorio privado y amable (Ver Preguntas Frecuentes en Formando Conciencia +).  </a:t>
            </a:r>
            <a:endParaRPr sz="1600">
              <a:solidFill>
                <a:schemeClr val="accent5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○"/>
              <a:defRPr sz="1600">
                <a:solidFill>
                  <a:schemeClr val="accent5"/>
                </a:solidFill>
              </a:defRPr>
            </a:pPr>
            <a:r>
              <a:t>En caso de comportamiento inadecuado o de infracciones persistentes a las reglas, puedes remover al padre, madre o cuidador y notificárselo a tu supervisor (Ver Preguntas Frecuentes en Formando Conciencia +).  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1274" name="Google Shape;1274;p135"/>
          <p:cNvSpPr/>
          <p:nvPr/>
        </p:nvSpPr>
        <p:spPr>
          <a:xfrm rot="-5400000">
            <a:off x="2389650" y="-2188425"/>
            <a:ext cx="480900" cy="52602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135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Preparación para la Sesión de Chat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136"/>
          <p:cNvSpPr/>
          <p:nvPr/>
        </p:nvSpPr>
        <p:spPr>
          <a:xfrm rot="-5400000">
            <a:off x="1910250" y="-1714700"/>
            <a:ext cx="506700" cy="43272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136"/>
          <p:cNvSpPr txBox="1"/>
          <p:nvPr/>
        </p:nvSpPr>
        <p:spPr>
          <a:xfrm>
            <a:off x="57625" y="216750"/>
            <a:ext cx="5953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Preparación para la Sesión de Chat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b="1" sz="2400">
              <a:solidFill>
                <a:schemeClr val="lt1"/>
              </a:solidFill>
            </a:endParaRPr>
          </a:p>
        </p:txBody>
      </p:sp>
      <p:pic>
        <p:nvPicPr>
          <p:cNvPr id="1282" name="Google Shape;1282;p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460" y="805618"/>
            <a:ext cx="270162" cy="27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283" name="Google Shape;1283;p136"/>
          <p:cNvSpPr txBox="1"/>
          <p:nvPr/>
        </p:nvSpPr>
        <p:spPr>
          <a:xfrm>
            <a:off x="505050" y="1075775"/>
            <a:ext cx="57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  <p:sp>
        <p:nvSpPr>
          <p:cNvPr id="1284" name="Google Shape;1284;p136"/>
          <p:cNvSpPr txBox="1"/>
          <p:nvPr/>
        </p:nvSpPr>
        <p:spPr>
          <a:xfrm>
            <a:off x="258225" y="872675"/>
            <a:ext cx="8638800" cy="3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500">
                <a:solidFill>
                  <a:srgbClr val="DB3614"/>
                </a:solidFill>
              </a:defRPr>
            </a:pPr>
            <a:r>
              <a:t>Después de la sesión de integración, tu rol es: </a:t>
            </a:r>
            <a:endParaRPr b="0" i="0" sz="12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23D5D"/>
              </a:buClr>
              <a:buSzPts val="1500"/>
              <a:buFont typeface="Arial"/>
              <a:buChar char="●"/>
              <a:defRPr sz="1500">
                <a:solidFill>
                  <a:srgbClr val="123D5D"/>
                </a:solidFill>
              </a:defRPr>
            </a:pPr>
            <a:r>
              <a:t>Ponerte en contacto y ver cómo va todo cada par de días hasta el final del curso</a:t>
            </a:r>
            <a:endParaRPr sz="1500">
              <a:solidFill>
                <a:srgbClr val="123D5D"/>
              </a:solidFill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23D5D"/>
              </a:buClr>
              <a:buSzPts val="1500"/>
              <a:buFont typeface="Arial"/>
              <a:buChar char="●"/>
              <a:defRPr sz="1500">
                <a:solidFill>
                  <a:srgbClr val="123D5D"/>
                </a:solidFill>
              </a:defRPr>
            </a:pPr>
            <a:r>
              <a:t>Asegurarte de que todos sigan las reglas generales que ya se discutieron </a:t>
            </a:r>
            <a:endParaRPr sz="1500">
              <a:solidFill>
                <a:srgbClr val="123D5D"/>
              </a:solidFill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23D5D"/>
              </a:buClr>
              <a:buSzPts val="1500"/>
              <a:buFont typeface="Arial"/>
              <a:buChar char="●"/>
              <a:defRPr sz="1500">
                <a:solidFill>
                  <a:srgbClr val="123D5D"/>
                </a:solidFill>
              </a:defRPr>
            </a:pPr>
            <a:r>
              <a:t>Plantear preguntas de discusión sobre la crianza de niños, niñas y adolescentes </a:t>
            </a:r>
            <a:endParaRPr sz="1500">
              <a:solidFill>
                <a:srgbClr val="123D5D"/>
              </a:solidFill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23D5D"/>
              </a:buClr>
              <a:buSzPts val="1500"/>
              <a:buFont typeface="Arial"/>
              <a:buChar char="●"/>
              <a:defRPr sz="1500">
                <a:solidFill>
                  <a:srgbClr val="123D5D"/>
                </a:solidFill>
              </a:defRPr>
            </a:pPr>
            <a:r>
              <a:t>Reportar cualquier caso de abuso de niñas, niños, adolescentes y adultos</a:t>
            </a:r>
            <a:endParaRPr sz="1500">
              <a:solidFill>
                <a:srgbClr val="123D5D"/>
              </a:solidFill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23D5D"/>
              </a:buClr>
              <a:buSzPts val="1500"/>
              <a:buFont typeface="Arial"/>
              <a:buChar char="●"/>
              <a:defRPr sz="1500">
                <a:solidFill>
                  <a:srgbClr val="123D5D"/>
                </a:solidFill>
              </a:defRPr>
            </a:pPr>
            <a:r>
              <a:t>Salirte del grupo una vez terminado el programa Sin embargo, los padres, madres y cuidadores pueden seguir aprendiendo a través de Crianza con Conciencia +. </a:t>
            </a:r>
            <a:endParaRPr sz="1500">
              <a:solidFill>
                <a:srgbClr val="123D5D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  <a:defRPr b="1" sz="1500">
                <a:solidFill>
                  <a:srgbClr val="123D5D"/>
                </a:solidFill>
              </a:defRPr>
            </a:pPr>
            <a:r>
              <a:t>A finales de año, habrá nuevos cursos de Crianza con Conciencia + para padres, madres y cuidadores.</a:t>
            </a:r>
            <a:endParaRPr b="1" sz="1500">
              <a:solidFill>
                <a:srgbClr val="123D5D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137"/>
          <p:cNvSpPr/>
          <p:nvPr/>
        </p:nvSpPr>
        <p:spPr>
          <a:xfrm rot="-5400000">
            <a:off x="1910250" y="-1714700"/>
            <a:ext cx="506700" cy="43272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137"/>
          <p:cNvSpPr txBox="1"/>
          <p:nvPr/>
        </p:nvSpPr>
        <p:spPr>
          <a:xfrm>
            <a:off x="57625" y="216750"/>
            <a:ext cx="5953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Preparación para la Sesión de Chat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b="1" sz="2400">
              <a:solidFill>
                <a:schemeClr val="lt1"/>
              </a:solidFill>
            </a:endParaRPr>
          </a:p>
        </p:txBody>
      </p:sp>
      <p:pic>
        <p:nvPicPr>
          <p:cNvPr id="1291" name="Google Shape;1291;p1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460" y="805618"/>
            <a:ext cx="270162" cy="27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292" name="Google Shape;1292;p137"/>
          <p:cNvSpPr txBox="1"/>
          <p:nvPr/>
        </p:nvSpPr>
        <p:spPr>
          <a:xfrm>
            <a:off x="505050" y="1075775"/>
            <a:ext cx="57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  <p:pic>
        <p:nvPicPr>
          <p:cNvPr id="1293" name="Google Shape;1293;p137" title="Agregar cuidadorxs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138"/>
          <p:cNvSpPr/>
          <p:nvPr/>
        </p:nvSpPr>
        <p:spPr>
          <a:xfrm rot="-5400000">
            <a:off x="1910250" y="-1714700"/>
            <a:ext cx="506700" cy="43272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138"/>
          <p:cNvSpPr txBox="1"/>
          <p:nvPr/>
        </p:nvSpPr>
        <p:spPr>
          <a:xfrm>
            <a:off x="57625" y="216750"/>
            <a:ext cx="5953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Preparación para la Sesión de Chat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b="1" sz="2400">
              <a:solidFill>
                <a:schemeClr val="lt1"/>
              </a:solidFill>
            </a:endParaRPr>
          </a:p>
        </p:txBody>
      </p:sp>
      <p:pic>
        <p:nvPicPr>
          <p:cNvPr id="1300" name="Google Shape;1300;p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460" y="805618"/>
            <a:ext cx="270162" cy="27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138"/>
          <p:cNvSpPr txBox="1"/>
          <p:nvPr/>
        </p:nvSpPr>
        <p:spPr>
          <a:xfrm>
            <a:off x="505050" y="1075775"/>
            <a:ext cx="57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  <p:sp>
        <p:nvSpPr>
          <p:cNvPr id="1302" name="Google Shape;1302;p138"/>
          <p:cNvSpPr txBox="1"/>
          <p:nvPr/>
        </p:nvSpPr>
        <p:spPr>
          <a:xfrm>
            <a:off x="258225" y="874513"/>
            <a:ext cx="808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  <a:defRPr b="1" sz="1900">
                <a:solidFill>
                  <a:srgbClr val="DB3614"/>
                </a:solidFill>
              </a:defRPr>
            </a:pPr>
            <a:r>
              <a:t>¡PRUÉBALO TÚ MISMO! </a:t>
            </a:r>
            <a:endParaRPr b="1" sz="1900">
              <a:solidFill>
                <a:srgbClr val="123D5D"/>
              </a:solidFill>
            </a:endParaRPr>
          </a:p>
        </p:txBody>
      </p:sp>
      <p:sp>
        <p:nvSpPr>
          <p:cNvPr id="1303" name="Google Shape;1303;p138"/>
          <p:cNvSpPr/>
          <p:nvPr/>
        </p:nvSpPr>
        <p:spPr>
          <a:xfrm>
            <a:off x="352200" y="1352675"/>
            <a:ext cx="5181900" cy="1597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04" name="Google Shape;1304;p138"/>
          <p:cNvPicPr preferRelativeResize="0"/>
          <p:nvPr/>
        </p:nvPicPr>
        <p:blipFill rotWithShape="1">
          <a:blip r:embed="rId4">
            <a:alphaModFix/>
          </a:blip>
          <a:srcRect b="26221" l="0" r="0" t="0"/>
          <a:stretch/>
        </p:blipFill>
        <p:spPr>
          <a:xfrm>
            <a:off x="851700" y="1514258"/>
            <a:ext cx="1314900" cy="1245000"/>
          </a:xfrm>
          <a:prstGeom prst="ellipse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05" name="Google Shape;1305;p138"/>
          <p:cNvSpPr txBox="1"/>
          <p:nvPr/>
        </p:nvSpPr>
        <p:spPr>
          <a:xfrm>
            <a:off x="2393962" y="1652268"/>
            <a:ext cx="2485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/>
            </a:pPr>
            <a:r>
              <a:t>Agregar a un padre, madre o cuidador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/>
              <a:t>Nombre: </a:t>
            </a:r>
            <a:r>
              <a:t>Mario 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/>
              <a:t>Apellido: </a:t>
            </a:r>
            <a:r>
              <a:t>López 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/>
              <a:t>Número de Identificación del participante: </a:t>
            </a:r>
            <a:r>
              <a:t>121212</a:t>
            </a:r>
          </a:p>
        </p:txBody>
      </p:sp>
      <p:sp>
        <p:nvSpPr>
          <p:cNvPr id="1306" name="Google Shape;1306;p138"/>
          <p:cNvSpPr/>
          <p:nvPr/>
        </p:nvSpPr>
        <p:spPr>
          <a:xfrm>
            <a:off x="3510375" y="3004175"/>
            <a:ext cx="5181900" cy="1597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07" name="Google Shape;1307;p138"/>
          <p:cNvPicPr preferRelativeResize="0"/>
          <p:nvPr/>
        </p:nvPicPr>
        <p:blipFill rotWithShape="1">
          <a:blip r:embed="rId5">
            <a:alphaModFix/>
          </a:blip>
          <a:srcRect b="22999" l="0" r="0" t="0"/>
          <a:stretch/>
        </p:blipFill>
        <p:spPr>
          <a:xfrm>
            <a:off x="6937900" y="3180583"/>
            <a:ext cx="1314900" cy="1245000"/>
          </a:xfrm>
          <a:prstGeom prst="ellipse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08" name="Google Shape;1308;p138"/>
          <p:cNvSpPr txBox="1"/>
          <p:nvPr/>
        </p:nvSpPr>
        <p:spPr>
          <a:xfrm>
            <a:off x="3893787" y="3303493"/>
            <a:ext cx="2485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/>
            </a:pPr>
            <a:r>
              <a:t>Agregar un compañero de crianza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/>
              <a:t>Nombre: </a:t>
            </a:r>
            <a:r>
              <a:t>Isabel 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/>
              <a:t>Apellido: </a:t>
            </a:r>
            <a:r>
              <a:t>López 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/>
              <a:t>Número de Identificación del participante: </a:t>
            </a:r>
            <a:r>
              <a:t>343434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139"/>
          <p:cNvSpPr/>
          <p:nvPr/>
        </p:nvSpPr>
        <p:spPr>
          <a:xfrm rot="-5400000">
            <a:off x="1910250" y="-1714700"/>
            <a:ext cx="506700" cy="43272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139"/>
          <p:cNvSpPr txBox="1"/>
          <p:nvPr/>
        </p:nvSpPr>
        <p:spPr>
          <a:xfrm>
            <a:off x="57625" y="216750"/>
            <a:ext cx="5953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Preparación para la Sesión de Chat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b="1" sz="2400">
              <a:solidFill>
                <a:schemeClr val="lt1"/>
              </a:solidFill>
            </a:endParaRPr>
          </a:p>
        </p:txBody>
      </p:sp>
      <p:pic>
        <p:nvPicPr>
          <p:cNvPr id="1315" name="Google Shape;1315;p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460" y="805618"/>
            <a:ext cx="270162" cy="27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139"/>
          <p:cNvSpPr txBox="1"/>
          <p:nvPr/>
        </p:nvSpPr>
        <p:spPr>
          <a:xfrm>
            <a:off x="505050" y="1075775"/>
            <a:ext cx="57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  <p:pic>
        <p:nvPicPr>
          <p:cNvPr id="1317" name="Google Shape;1317;p139" title="informe de asistencia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0275" y="0"/>
            <a:ext cx="30001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878"/>
        </a:solidFill>
      </p:bgPr>
    </p:bg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140"/>
          <p:cNvSpPr txBox="1"/>
          <p:nvPr/>
        </p:nvSpPr>
        <p:spPr>
          <a:xfrm>
            <a:off x="387450" y="2943925"/>
            <a:ext cx="7821300" cy="14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chemeClr val="lt1"/>
                </a:solidFill>
              </a:defRPr>
            </a:pPr>
            <a:r>
              <a:t>Módulo 6: Llevando a cabo la Sesión de Chat de WhatsApp</a:t>
            </a:r>
            <a:endParaRPr b="1"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141"/>
          <p:cNvSpPr/>
          <p:nvPr/>
        </p:nvSpPr>
        <p:spPr>
          <a:xfrm rot="-5400000">
            <a:off x="3109525" y="-2877475"/>
            <a:ext cx="475200" cy="66942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141"/>
          <p:cNvSpPr txBox="1"/>
          <p:nvPr/>
        </p:nvSpPr>
        <p:spPr>
          <a:xfrm>
            <a:off x="286210" y="2286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Introducción a la Sesión de Chat de WhatsApp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1329" name="Google Shape;1329;p141"/>
          <p:cNvSpPr txBox="1"/>
          <p:nvPr/>
        </p:nvSpPr>
        <p:spPr>
          <a:xfrm>
            <a:off x="4094575" y="1402775"/>
            <a:ext cx="508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30" name="Google Shape;1330;p141"/>
          <p:cNvSpPr txBox="1"/>
          <p:nvPr/>
        </p:nvSpPr>
        <p:spPr>
          <a:xfrm>
            <a:off x="3130300" y="820475"/>
            <a:ext cx="2884500" cy="4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>
                <a:solidFill>
                  <a:schemeClr val="dk1"/>
                </a:solidFill>
              </a:defRPr>
            </a:pPr>
            <a:r>
              <a:t>Hay tres sesiones de chat: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pPr>
            <a:r>
              <a:t>Después de la sesión de integración: Bienvenida y presentaciones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pPr>
            <a:r>
              <a:t>Día 3: Diálogo Interno: Sesión de chat de WhatsApp sobre el diálogo Interno y el estrés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pPr>
            <a:r>
              <a:t>Día 5: Despedida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pPr>
            <a:r>
              <a:t>Toda la información sobre la sesión de chat de WhatsApp está en la App de Formando Conciencia +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31" name="Google Shape;1331;p141"/>
          <p:cNvSpPr/>
          <p:nvPr/>
        </p:nvSpPr>
        <p:spPr>
          <a:xfrm>
            <a:off x="574675" y="930563"/>
            <a:ext cx="2291100" cy="2291100"/>
          </a:xfrm>
          <a:prstGeom prst="ellipse">
            <a:avLst/>
          </a:prstGeom>
          <a:solidFill>
            <a:srgbClr val="E402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1B3055"/>
              </a:solidFill>
            </a:endParaRPr>
          </a:p>
        </p:txBody>
      </p:sp>
      <p:pic>
        <p:nvPicPr>
          <p:cNvPr id="1332" name="Google Shape;1332;p141"/>
          <p:cNvPicPr preferRelativeResize="0"/>
          <p:nvPr/>
        </p:nvPicPr>
        <p:blipFill rotWithShape="1">
          <a:blip r:embed="rId3">
            <a:alphaModFix/>
          </a:blip>
          <a:srcRect b="2606" l="0" r="0" t="2606"/>
          <a:stretch/>
        </p:blipFill>
        <p:spPr>
          <a:xfrm>
            <a:off x="1464425" y="1477675"/>
            <a:ext cx="599150" cy="59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3" name="Google Shape;1333;p141"/>
          <p:cNvSpPr txBox="1"/>
          <p:nvPr/>
        </p:nvSpPr>
        <p:spPr>
          <a:xfrm>
            <a:off x="776575" y="2056250"/>
            <a:ext cx="18873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>
                <a:solidFill>
                  <a:schemeClr val="lt1"/>
                </a:solidFill>
              </a:defRPr>
            </a:pPr>
            <a:r>
              <a:t>Apoyo en un Grupo de WhatsApp </a:t>
            </a:r>
            <a:r>
              <a:rPr i="1"/>
              <a:t>separado</a:t>
            </a:r>
            <a:r>
              <a:t> y moderado por un Facilitador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1334" name="Google Shape;1334;p141"/>
          <p:cNvPicPr preferRelativeResize="0"/>
          <p:nvPr/>
        </p:nvPicPr>
        <p:blipFill rotWithShape="1">
          <a:blip r:embed="rId4">
            <a:alphaModFix/>
          </a:blip>
          <a:srcRect b="0" l="39773" r="0" t="8842"/>
          <a:stretch/>
        </p:blipFill>
        <p:spPr>
          <a:xfrm>
            <a:off x="6014800" y="1186176"/>
            <a:ext cx="2958776" cy="268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142"/>
          <p:cNvSpPr/>
          <p:nvPr/>
        </p:nvSpPr>
        <p:spPr>
          <a:xfrm rot="-5400000">
            <a:off x="2855850" y="-2660300"/>
            <a:ext cx="506700" cy="62184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142"/>
          <p:cNvSpPr txBox="1"/>
          <p:nvPr/>
        </p:nvSpPr>
        <p:spPr>
          <a:xfrm>
            <a:off x="57625" y="216750"/>
            <a:ext cx="5953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Introducción a la Sesión de Chat de WhatsApp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b="1" sz="24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b="1" sz="2400">
              <a:solidFill>
                <a:schemeClr val="lt1"/>
              </a:solidFill>
            </a:endParaRPr>
          </a:p>
        </p:txBody>
      </p:sp>
      <p:pic>
        <p:nvPicPr>
          <p:cNvPr id="1341" name="Google Shape;1341;p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460" y="805618"/>
            <a:ext cx="270162" cy="27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342" name="Google Shape;1342;p142"/>
          <p:cNvSpPr txBox="1"/>
          <p:nvPr/>
        </p:nvSpPr>
        <p:spPr>
          <a:xfrm>
            <a:off x="505050" y="1075775"/>
            <a:ext cx="57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  <p:pic>
        <p:nvPicPr>
          <p:cNvPr id="1343" name="Google Shape;1343;p142" title="compartir contenidos en WA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5425" y="845027"/>
            <a:ext cx="5171900" cy="387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143"/>
          <p:cNvSpPr/>
          <p:nvPr/>
        </p:nvSpPr>
        <p:spPr>
          <a:xfrm rot="-5400000">
            <a:off x="2855850" y="-2660300"/>
            <a:ext cx="506700" cy="62184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143"/>
          <p:cNvSpPr txBox="1"/>
          <p:nvPr/>
        </p:nvSpPr>
        <p:spPr>
          <a:xfrm>
            <a:off x="57625" y="216750"/>
            <a:ext cx="5953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Introducción a la Sesión de Chat de WhatsApp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b="1" sz="24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b="1" sz="2400">
              <a:solidFill>
                <a:schemeClr val="lt1"/>
              </a:solidFill>
            </a:endParaRPr>
          </a:p>
        </p:txBody>
      </p:sp>
      <p:sp>
        <p:nvSpPr>
          <p:cNvPr id="1350" name="Google Shape;1350;p143"/>
          <p:cNvSpPr txBox="1"/>
          <p:nvPr/>
        </p:nvSpPr>
        <p:spPr>
          <a:xfrm>
            <a:off x="353175" y="1016725"/>
            <a:ext cx="59538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969A"/>
                </a:solidFill>
              </a:defRPr>
            </a:pPr>
            <a:r>
              <a:t>En el día 3, dirigirás una sesión sobre el diálogo interno </a:t>
            </a:r>
            <a:endParaRPr b="1">
              <a:solidFill>
                <a:srgbClr val="00969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00969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00969A"/>
              </a:solidFill>
            </a:endParaRPr>
          </a:p>
        </p:txBody>
      </p:sp>
      <p:pic>
        <p:nvPicPr>
          <p:cNvPr id="1351" name="Google Shape;1351;p143"/>
          <p:cNvPicPr preferRelativeResize="0"/>
          <p:nvPr/>
        </p:nvPicPr>
        <p:blipFill rotWithShape="1">
          <a:blip r:embed="rId3">
            <a:alphaModFix/>
          </a:blip>
          <a:srcRect b="0" l="39773" r="0" t="8842"/>
          <a:stretch/>
        </p:blipFill>
        <p:spPr>
          <a:xfrm>
            <a:off x="877725" y="1475151"/>
            <a:ext cx="2958776" cy="268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143"/>
          <p:cNvSpPr/>
          <p:nvPr/>
        </p:nvSpPr>
        <p:spPr>
          <a:xfrm>
            <a:off x="503000" y="2397300"/>
            <a:ext cx="3349800" cy="8454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53" name="Google Shape;1353;p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7675" y="146600"/>
            <a:ext cx="2217825" cy="466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144"/>
          <p:cNvSpPr/>
          <p:nvPr/>
        </p:nvSpPr>
        <p:spPr>
          <a:xfrm rot="-5400000">
            <a:off x="570300" y="-374750"/>
            <a:ext cx="506700" cy="16473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144"/>
          <p:cNvSpPr txBox="1"/>
          <p:nvPr/>
        </p:nvSpPr>
        <p:spPr>
          <a:xfrm>
            <a:off x="57625" y="216750"/>
            <a:ext cx="355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A-E-C-P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pic>
        <p:nvPicPr>
          <p:cNvPr id="1360" name="Google Shape;1360;p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460" y="805618"/>
            <a:ext cx="270162" cy="27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361" name="Google Shape;1361;p144"/>
          <p:cNvSpPr/>
          <p:nvPr/>
        </p:nvSpPr>
        <p:spPr>
          <a:xfrm>
            <a:off x="489925" y="1701692"/>
            <a:ext cx="1908900" cy="1843200"/>
          </a:xfrm>
          <a:prstGeom prst="roundRect">
            <a:avLst>
              <a:gd fmla="val 16667" name="adj"/>
            </a:avLst>
          </a:prstGeom>
          <a:solidFill>
            <a:srgbClr val="00969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sz="1200">
              <a:solidFill>
                <a:srgbClr val="FFFFFF"/>
              </a:solidFill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pPr>
            <a:r>
              <a:rPr b="1"/>
              <a:t>ACEPTAR </a:t>
            </a:r>
            <a:r>
              <a:t>la participación y contribución de los padres, madres y cuidadores tanto física como verbal </a:t>
            </a:r>
            <a:endParaRPr i="0" sz="1200" u="none" cap="none" strike="noStrike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144"/>
          <p:cNvSpPr/>
          <p:nvPr/>
        </p:nvSpPr>
        <p:spPr>
          <a:xfrm>
            <a:off x="2568671" y="1696935"/>
            <a:ext cx="1908900" cy="1895700"/>
          </a:xfrm>
          <a:prstGeom prst="roundRect">
            <a:avLst>
              <a:gd fmla="val 16667" name="adj"/>
            </a:avLst>
          </a:prstGeom>
          <a:solidFill>
            <a:srgbClr val="ED7D3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400">
              <a:solidFill>
                <a:srgbClr val="FFFFFF"/>
              </a:solidFill>
            </a:endParaRPr>
          </a:p>
          <a:p>
            <a:pPr indent="0" lvl="0" marL="1333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pPr>
            <a:r>
              <a:rPr b="1"/>
              <a:t>EXPLORAR </a:t>
            </a:r>
            <a:r>
              <a:t>las experiencias, actitudes, sentimientos y retos compartidos por los padres, madres y cuidadores </a:t>
            </a:r>
            <a:endParaRPr i="0" sz="1400" u="none" cap="none" strike="noStrike">
              <a:solidFill>
                <a:srgbClr val="FFFFF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144"/>
          <p:cNvSpPr/>
          <p:nvPr/>
        </p:nvSpPr>
        <p:spPr>
          <a:xfrm>
            <a:off x="4656929" y="1701693"/>
            <a:ext cx="1908900" cy="1900500"/>
          </a:xfrm>
          <a:prstGeom prst="roundRect">
            <a:avLst>
              <a:gd fmla="val 16667" name="adj"/>
            </a:avLst>
          </a:prstGeom>
          <a:solidFill>
            <a:srgbClr val="E4027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33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b="1" sz="500">
              <a:solidFill>
                <a:srgbClr val="FFFFFF"/>
              </a:solidFill>
            </a:endParaRPr>
          </a:p>
          <a:p>
            <a:pPr indent="0" lvl="0" marL="1333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pPr>
            <a:r>
              <a:rPr b="1"/>
              <a:t>CONECTAR </a:t>
            </a:r>
            <a:r>
              <a:t>la experiencia de los padres, madres y cuidadores con un principio o lección sobre la crianza positiva</a:t>
            </a:r>
            <a:endParaRPr i="0" sz="1400" u="none" cap="none" strike="noStrike">
              <a:solidFill>
                <a:srgbClr val="FFFFFF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144"/>
          <p:cNvSpPr/>
          <p:nvPr/>
        </p:nvSpPr>
        <p:spPr>
          <a:xfrm>
            <a:off x="1098498" y="1179145"/>
            <a:ext cx="693600" cy="684300"/>
          </a:xfrm>
          <a:prstGeom prst="ellipse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144"/>
          <p:cNvSpPr/>
          <p:nvPr/>
        </p:nvSpPr>
        <p:spPr>
          <a:xfrm>
            <a:off x="3166060" y="1189663"/>
            <a:ext cx="665100" cy="6750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144"/>
          <p:cNvSpPr/>
          <p:nvPr/>
        </p:nvSpPr>
        <p:spPr>
          <a:xfrm>
            <a:off x="5280333" y="1239792"/>
            <a:ext cx="655800" cy="646200"/>
          </a:xfrm>
          <a:prstGeom prst="ellipse">
            <a:avLst/>
          </a:prstGeom>
          <a:solidFill>
            <a:srgbClr val="E432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144"/>
          <p:cNvSpPr/>
          <p:nvPr/>
        </p:nvSpPr>
        <p:spPr>
          <a:xfrm>
            <a:off x="6745171" y="1701693"/>
            <a:ext cx="1908900" cy="1900500"/>
          </a:xfrm>
          <a:prstGeom prst="roundRect">
            <a:avLst>
              <a:gd fmla="val 16667" name="adj"/>
            </a:avLst>
          </a:prstGeom>
          <a:solidFill>
            <a:srgbClr val="019FE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b="1" sz="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b="1"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rPr b="1"/>
              <a:t>PRACTICAR </a:t>
            </a:r>
            <a:r>
              <a:t>las nuevas habilidades de crianza positiva en casa. </a:t>
            </a:r>
            <a:endParaRPr i="0" sz="9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8" name="Google Shape;1368;p144"/>
          <p:cNvSpPr/>
          <p:nvPr/>
        </p:nvSpPr>
        <p:spPr>
          <a:xfrm>
            <a:off x="7368575" y="1239792"/>
            <a:ext cx="655800" cy="646200"/>
          </a:xfrm>
          <a:prstGeom prst="ellipse">
            <a:avLst/>
          </a:prstGeom>
          <a:solidFill>
            <a:srgbClr val="019F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9" name="Google Shape;1369;p1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4324" y="1280363"/>
            <a:ext cx="500110" cy="4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0" name="Google Shape;1370;p1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7528" y="1280375"/>
            <a:ext cx="379700" cy="37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1" name="Google Shape;1371;p1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64775" y="1392088"/>
            <a:ext cx="270175" cy="27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2" name="Google Shape;1372;p14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64538" y="1392075"/>
            <a:ext cx="270175" cy="27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145"/>
          <p:cNvSpPr/>
          <p:nvPr/>
        </p:nvSpPr>
        <p:spPr>
          <a:xfrm>
            <a:off x="495900" y="96625"/>
            <a:ext cx="2118300" cy="139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78" name="Google Shape;1378;p145"/>
          <p:cNvSpPr txBox="1"/>
          <p:nvPr/>
        </p:nvSpPr>
        <p:spPr>
          <a:xfrm>
            <a:off x="632192" y="637427"/>
            <a:ext cx="183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 sz="37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ACEPTAR</a:t>
            </a:r>
            <a:endParaRPr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1379" name="Google Shape;1379;p145"/>
          <p:cNvSpPr/>
          <p:nvPr/>
        </p:nvSpPr>
        <p:spPr>
          <a:xfrm>
            <a:off x="621700" y="-2"/>
            <a:ext cx="1860600" cy="13977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80" name="Google Shape;1380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1331" y="242086"/>
            <a:ext cx="445750" cy="39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1" name="Google Shape;1381;p1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912" y="1745337"/>
            <a:ext cx="1021175" cy="102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2" name="Google Shape;1382;p145"/>
          <p:cNvSpPr/>
          <p:nvPr/>
        </p:nvSpPr>
        <p:spPr>
          <a:xfrm>
            <a:off x="2808400" y="312650"/>
            <a:ext cx="4481700" cy="1021200"/>
          </a:xfrm>
          <a:prstGeom prst="wedgeRoundRectCallout">
            <a:avLst>
              <a:gd fmla="val 61226" name="adj1"/>
              <a:gd fmla="val 378" name="adj2"/>
              <a:gd fmla="val 0" name="adj3"/>
            </a:avLst>
          </a:prstGeom>
          <a:solidFill>
            <a:srgbClr val="FCE5CD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💡 Hoy vamos a practicar una habilidad para controlar el estrés: el diálogo interno. ¿Alguien quiere compartir algún momento en el que se haya dicho algo negativo a sí mismo?</a:t>
            </a:r>
            <a:endParaRPr sz="13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383" name="Google Shape;1383;p145"/>
          <p:cNvGrpSpPr/>
          <p:nvPr/>
        </p:nvGrpSpPr>
        <p:grpSpPr>
          <a:xfrm>
            <a:off x="7610298" y="242075"/>
            <a:ext cx="1114800" cy="1661821"/>
            <a:chOff x="629198" y="1856775"/>
            <a:chExt cx="1114800" cy="1661821"/>
          </a:xfrm>
        </p:grpSpPr>
        <p:pic>
          <p:nvPicPr>
            <p:cNvPr id="1384" name="Google Shape;1384;p14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98178" y="1856775"/>
              <a:ext cx="959150" cy="9591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5" name="Google Shape;1385;p145"/>
            <p:cNvSpPr txBox="1"/>
            <p:nvPr/>
          </p:nvSpPr>
          <p:spPr>
            <a:xfrm>
              <a:off x="629198" y="2816596"/>
              <a:ext cx="11148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>
                  <a:solidFill>
                    <a:srgbClr val="544832"/>
                  </a:solidFill>
                  <a:latin typeface="Oswald"/>
                  <a:ea typeface="Oswald"/>
                  <a:cs typeface="Oswald"/>
                  <a:sym typeface="Oswald"/>
                </a:defRPr>
              </a:pPr>
              <a:r>
                <a:t>Facilitador de Crianza con Conciencia +  </a:t>
              </a:r>
              <a:endParaRPr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sp>
        <p:nvSpPr>
          <p:cNvPr id="1386" name="Google Shape;1386;p145"/>
          <p:cNvSpPr/>
          <p:nvPr/>
        </p:nvSpPr>
        <p:spPr>
          <a:xfrm>
            <a:off x="2111650" y="1811600"/>
            <a:ext cx="4481700" cy="1021200"/>
          </a:xfrm>
          <a:prstGeom prst="wedgeRoundRectCallout">
            <a:avLst>
              <a:gd fmla="val -63553" name="adj1"/>
              <a:gd fmla="val 8994" name="adj2"/>
              <a:gd fmla="val 0" name="adj3"/>
            </a:avLst>
          </a:prstGeom>
          <a:solidFill>
            <a:srgbClr val="EAD1D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Ayer mi adolescente me ignoró cuando quise que compartiéramos un tiempo 1 a 1. ¡Siento que estoy fracasando en esto de la crianza! </a:t>
            </a:r>
            <a:endParaRPr sz="13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87" name="Google Shape;1387;p145"/>
          <p:cNvSpPr txBox="1"/>
          <p:nvPr/>
        </p:nvSpPr>
        <p:spPr>
          <a:xfrm>
            <a:off x="449085" y="2832796"/>
            <a:ext cx="11148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defRPr>
            </a:pPr>
            <a:r>
              <a:t>Isabel </a:t>
            </a:r>
            <a:br>
              <a:rPr lang="en-US"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t>Madre </a:t>
            </a:r>
            <a:endParaRPr>
              <a:solidFill>
                <a:srgbClr val="54483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88" name="Google Shape;1388;p145"/>
          <p:cNvSpPr/>
          <p:nvPr/>
        </p:nvSpPr>
        <p:spPr>
          <a:xfrm>
            <a:off x="2808400" y="3000400"/>
            <a:ext cx="4481700" cy="1021200"/>
          </a:xfrm>
          <a:prstGeom prst="wedgeRoundRectCallout">
            <a:avLst>
              <a:gd fmla="val 61226" name="adj1"/>
              <a:gd fmla="val 378" name="adj2"/>
              <a:gd fmla="val 0" name="adj3"/>
            </a:avLst>
          </a:prstGeom>
          <a:solidFill>
            <a:srgbClr val="FCE5CD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Gracias por compartirlo, Isabel. Parece que tuviste un momento difícil cuando tu adolescente no quiso pasar tiempo contigo. Agradezco tu sinceridad al compartirlo. </a:t>
            </a:r>
            <a:endParaRPr sz="13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389" name="Google Shape;1389;p145"/>
          <p:cNvGrpSpPr/>
          <p:nvPr/>
        </p:nvGrpSpPr>
        <p:grpSpPr>
          <a:xfrm>
            <a:off x="7610298" y="2929825"/>
            <a:ext cx="1114800" cy="1661821"/>
            <a:chOff x="629198" y="1856775"/>
            <a:chExt cx="1114800" cy="1661821"/>
          </a:xfrm>
        </p:grpSpPr>
        <p:pic>
          <p:nvPicPr>
            <p:cNvPr id="1390" name="Google Shape;1390;p14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98178" y="1856775"/>
              <a:ext cx="959150" cy="9591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1" name="Google Shape;1391;p145"/>
            <p:cNvSpPr txBox="1"/>
            <p:nvPr/>
          </p:nvSpPr>
          <p:spPr>
            <a:xfrm>
              <a:off x="629198" y="2816596"/>
              <a:ext cx="11148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>
                  <a:solidFill>
                    <a:srgbClr val="544832"/>
                  </a:solidFill>
                  <a:latin typeface="Oswald"/>
                  <a:ea typeface="Oswald"/>
                  <a:cs typeface="Oswald"/>
                  <a:sym typeface="Oswald"/>
                </a:defRPr>
              </a:pPr>
              <a:r>
                <a:t>Facilitador de Crianza con Conciencia +  </a:t>
              </a:r>
              <a:endParaRPr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146"/>
          <p:cNvSpPr/>
          <p:nvPr/>
        </p:nvSpPr>
        <p:spPr>
          <a:xfrm>
            <a:off x="6694775" y="96625"/>
            <a:ext cx="2118300" cy="139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97" name="Google Shape;1397;p146"/>
          <p:cNvSpPr txBox="1"/>
          <p:nvPr/>
        </p:nvSpPr>
        <p:spPr>
          <a:xfrm>
            <a:off x="6831067" y="637427"/>
            <a:ext cx="183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 sz="37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ACEPTAR</a:t>
            </a:r>
            <a:endParaRPr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1398" name="Google Shape;1398;p146"/>
          <p:cNvSpPr/>
          <p:nvPr/>
        </p:nvSpPr>
        <p:spPr>
          <a:xfrm>
            <a:off x="6820575" y="-2"/>
            <a:ext cx="1860600" cy="13977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99" name="Google Shape;1399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206" y="242086"/>
            <a:ext cx="445750" cy="39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0" name="Google Shape;1400;p1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687" y="338162"/>
            <a:ext cx="1021175" cy="102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1" name="Google Shape;1401;p146"/>
          <p:cNvSpPr/>
          <p:nvPr/>
        </p:nvSpPr>
        <p:spPr>
          <a:xfrm>
            <a:off x="1905425" y="404425"/>
            <a:ext cx="4481700" cy="1550700"/>
          </a:xfrm>
          <a:prstGeom prst="wedgeRoundRectCallout">
            <a:avLst>
              <a:gd fmla="val -63553" name="adj1"/>
              <a:gd fmla="val 8994" name="adj2"/>
              <a:gd fmla="val 0" name="adj3"/>
            </a:avLst>
          </a:prstGeom>
          <a:solidFill>
            <a:srgbClr val="EAD1D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Ayer mi adolescente me ignoró cuando quise que compartiéramos un tiempo 1 a 1. ¡Siento que estoy fracasando en esto de la crianza! </a:t>
            </a:r>
            <a:endParaRPr sz="24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02" name="Google Shape;1402;p146"/>
          <p:cNvSpPr txBox="1"/>
          <p:nvPr/>
        </p:nvSpPr>
        <p:spPr>
          <a:xfrm>
            <a:off x="242860" y="1425621"/>
            <a:ext cx="11148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defRPr>
            </a:pPr>
            <a:r>
              <a:t>Isabel </a:t>
            </a:r>
            <a:br>
              <a:rPr lang="en-US"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t>Madre </a:t>
            </a:r>
            <a:endParaRPr>
              <a:solidFill>
                <a:srgbClr val="54483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3" name="Google Shape;1403;p146"/>
          <p:cNvSpPr/>
          <p:nvPr/>
        </p:nvSpPr>
        <p:spPr>
          <a:xfrm>
            <a:off x="1758975" y="2559625"/>
            <a:ext cx="5531100" cy="1461900"/>
          </a:xfrm>
          <a:prstGeom prst="wedgeRoundRectCallout">
            <a:avLst>
              <a:gd fmla="val 61226" name="adj1"/>
              <a:gd fmla="val 378" name="adj2"/>
              <a:gd fmla="val 0" name="adj3"/>
            </a:avLst>
          </a:prstGeom>
          <a:solidFill>
            <a:srgbClr val="FCE5CD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  <a:defRPr sz="1600">
                <a:latin typeface="Noto Sans"/>
                <a:ea typeface="Noto Sans"/>
                <a:cs typeface="Noto Sans"/>
                <a:sym typeface="Noto Sans"/>
              </a:defRPr>
            </a:pPr>
            <a:r>
              <a:rPr>
                <a:solidFill>
                  <a:schemeClr val="dk2"/>
                </a:solidFill>
                <a:highlight>
                  <a:schemeClr val="accent2"/>
                </a:highlight>
              </a:rPr>
              <a:t>Gracias por compartirlo, Isabel.</a:t>
            </a:r>
            <a:r>
              <a:rPr>
                <a:solidFill>
                  <a:schemeClr val="dk2"/>
                </a:solidFill>
              </a:rPr>
              <a:t> </a:t>
            </a:r>
            <a:r>
              <a:rPr>
                <a:solidFill>
                  <a:schemeClr val="lt1"/>
                </a:solidFill>
                <a:highlight>
                  <a:srgbClr val="00969A"/>
                </a:highlight>
              </a:rPr>
              <a:t>Parece que tuviste un momento difícil cuando tu adolescente no quiso pasar tiempo contigo.</a:t>
            </a:r>
            <a:r>
              <a:rPr>
                <a:solidFill>
                  <a:schemeClr val="dk2"/>
                </a:solidFill>
              </a:rPr>
              <a:t> </a:t>
            </a:r>
            <a:r>
              <a:rPr>
                <a:solidFill>
                  <a:schemeClr val="dk2"/>
                </a:solidFill>
                <a:highlight>
                  <a:srgbClr val="019FE4"/>
                </a:highlight>
              </a:rPr>
              <a:t>Es normal sentir que estamos fracasando cuando las cosas salen mal, sobre todo cuando realmente intentamos hacer la diferencia. </a:t>
            </a:r>
            <a:endParaRPr sz="1600">
              <a:solidFill>
                <a:schemeClr val="dk2"/>
              </a:solidFill>
              <a:highlight>
                <a:srgbClr val="019FE4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404" name="Google Shape;1404;p146"/>
          <p:cNvGrpSpPr/>
          <p:nvPr/>
        </p:nvGrpSpPr>
        <p:grpSpPr>
          <a:xfrm>
            <a:off x="7610298" y="2929825"/>
            <a:ext cx="1114800" cy="1661821"/>
            <a:chOff x="629198" y="1856775"/>
            <a:chExt cx="1114800" cy="1661821"/>
          </a:xfrm>
        </p:grpSpPr>
        <p:pic>
          <p:nvPicPr>
            <p:cNvPr id="1405" name="Google Shape;1405;p14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98178" y="1856775"/>
              <a:ext cx="959150" cy="9591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6" name="Google Shape;1406;p146"/>
            <p:cNvSpPr txBox="1"/>
            <p:nvPr/>
          </p:nvSpPr>
          <p:spPr>
            <a:xfrm>
              <a:off x="629198" y="2816596"/>
              <a:ext cx="11148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>
                  <a:solidFill>
                    <a:srgbClr val="544832"/>
                  </a:solidFill>
                  <a:latin typeface="Oswald"/>
                  <a:ea typeface="Oswald"/>
                  <a:cs typeface="Oswald"/>
                  <a:sym typeface="Oswald"/>
                </a:defRPr>
              </a:pPr>
              <a:r>
                <a:t>Facilitador de Crianza con Conciencia +  </a:t>
              </a:r>
              <a:endParaRPr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cxnSp>
        <p:nvCxnSpPr>
          <p:cNvPr id="1407" name="Google Shape;1407;p146"/>
          <p:cNvCxnSpPr>
            <a:endCxn id="1408" idx="3"/>
          </p:cNvCxnSpPr>
          <p:nvPr/>
        </p:nvCxnSpPr>
        <p:spPr>
          <a:xfrm rot="10800000">
            <a:off x="1577250" y="2894239"/>
            <a:ext cx="18315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8" name="Google Shape;1408;p146"/>
          <p:cNvSpPr txBox="1"/>
          <p:nvPr/>
        </p:nvSpPr>
        <p:spPr>
          <a:xfrm>
            <a:off x="242850" y="2629489"/>
            <a:ext cx="1334400" cy="5295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reconoce al padre, madre o cuidador</a:t>
            </a:r>
            <a:endParaRPr sz="1300"/>
          </a:p>
        </p:txBody>
      </p:sp>
      <p:sp>
        <p:nvSpPr>
          <p:cNvPr id="1409" name="Google Shape;1409;p146"/>
          <p:cNvSpPr txBox="1"/>
          <p:nvPr/>
        </p:nvSpPr>
        <p:spPr>
          <a:xfrm>
            <a:off x="346725" y="3934330"/>
            <a:ext cx="1334400" cy="796800"/>
          </a:xfrm>
          <a:prstGeom prst="rect">
            <a:avLst/>
          </a:prstGeom>
          <a:noFill/>
          <a:ln cap="flat" cmpd="sng" w="9525">
            <a:solidFill>
              <a:srgbClr val="0096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Parafrasea lo que dijo el padre, madre o cuidador </a:t>
            </a:r>
            <a:endParaRPr sz="1300"/>
          </a:p>
        </p:txBody>
      </p:sp>
      <p:cxnSp>
        <p:nvCxnSpPr>
          <p:cNvPr id="1410" name="Google Shape;1410;p146"/>
          <p:cNvCxnSpPr>
            <a:endCxn id="1409" idx="0"/>
          </p:cNvCxnSpPr>
          <p:nvPr/>
        </p:nvCxnSpPr>
        <p:spPr>
          <a:xfrm flipH="1">
            <a:off x="1013925" y="3336130"/>
            <a:ext cx="1497300" cy="598200"/>
          </a:xfrm>
          <a:prstGeom prst="straightConnector1">
            <a:avLst/>
          </a:prstGeom>
          <a:noFill/>
          <a:ln cap="flat" cmpd="sng" w="9525">
            <a:solidFill>
              <a:srgbClr val="00969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1" name="Google Shape;1411;p146"/>
          <p:cNvSpPr txBox="1"/>
          <p:nvPr/>
        </p:nvSpPr>
        <p:spPr>
          <a:xfrm>
            <a:off x="5278700" y="4132927"/>
            <a:ext cx="1334400" cy="598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Normaliza la experiencia </a:t>
            </a:r>
            <a:endParaRPr sz="1300"/>
          </a:p>
        </p:txBody>
      </p:sp>
      <p:cxnSp>
        <p:nvCxnSpPr>
          <p:cNvPr id="1412" name="Google Shape;1412;p146"/>
          <p:cNvCxnSpPr>
            <a:endCxn id="1411" idx="0"/>
          </p:cNvCxnSpPr>
          <p:nvPr/>
        </p:nvCxnSpPr>
        <p:spPr>
          <a:xfrm>
            <a:off x="5555900" y="3700027"/>
            <a:ext cx="390000" cy="432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147"/>
          <p:cNvSpPr/>
          <p:nvPr/>
        </p:nvSpPr>
        <p:spPr>
          <a:xfrm>
            <a:off x="242850" y="96625"/>
            <a:ext cx="2118300" cy="139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18" name="Google Shape;1418;p147"/>
          <p:cNvSpPr/>
          <p:nvPr/>
        </p:nvSpPr>
        <p:spPr>
          <a:xfrm>
            <a:off x="368650" y="-2"/>
            <a:ext cx="1860600" cy="13977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19" name="Google Shape;1419;p147"/>
          <p:cNvSpPr txBox="1"/>
          <p:nvPr/>
        </p:nvSpPr>
        <p:spPr>
          <a:xfrm>
            <a:off x="379142" y="637427"/>
            <a:ext cx="183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 sz="37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EXPLORAR</a:t>
            </a:r>
            <a:endParaRPr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1420" name="Google Shape;1420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715" y="182603"/>
            <a:ext cx="402576" cy="35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1" name="Google Shape;1421;p147"/>
          <p:cNvSpPr/>
          <p:nvPr/>
        </p:nvSpPr>
        <p:spPr>
          <a:xfrm>
            <a:off x="2808400" y="312650"/>
            <a:ext cx="4481700" cy="1021200"/>
          </a:xfrm>
          <a:prstGeom prst="wedgeRoundRectCallout">
            <a:avLst>
              <a:gd fmla="val 61226" name="adj1"/>
              <a:gd fmla="val 378" name="adj2"/>
              <a:gd fmla="val 0" name="adj3"/>
            </a:avLst>
          </a:prstGeom>
          <a:solidFill>
            <a:srgbClr val="FCE5CD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  <a:defRPr sz="2000">
                <a:latin typeface="Noto Sans"/>
                <a:ea typeface="Noto Sans"/>
                <a:cs typeface="Noto Sans"/>
                <a:sym typeface="Noto Sans"/>
              </a:defRPr>
            </a:pPr>
            <a:r>
              <a:rPr>
                <a:solidFill>
                  <a:schemeClr val="lt1"/>
                </a:solidFill>
                <a:highlight>
                  <a:srgbClr val="E4027C"/>
                </a:highlight>
              </a:rPr>
              <a:t>¿Qué</a:t>
            </a:r>
            <a:r>
              <a:rPr>
                <a:solidFill>
                  <a:schemeClr val="dk2"/>
                </a:solidFill>
              </a:rPr>
              <a:t> </a:t>
            </a:r>
            <a:r>
              <a:rPr>
                <a:solidFill>
                  <a:schemeClr val="lt1"/>
                </a:solidFill>
                <a:highlight>
                  <a:srgbClr val="DB3614"/>
                </a:highlight>
              </a:rPr>
              <a:t>estaba haciendo tu adolescente cuando intentabas pasar tiempo 1 a 1?</a:t>
            </a:r>
            <a:r>
              <a:rPr>
                <a:solidFill>
                  <a:schemeClr val="dk2"/>
                </a:solidFill>
              </a:rPr>
              <a:t> </a:t>
            </a:r>
            <a:endParaRPr sz="2000">
              <a:solidFill>
                <a:schemeClr val="lt1"/>
              </a:solidFill>
              <a:highlight>
                <a:srgbClr val="E4027C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422" name="Google Shape;1422;p147"/>
          <p:cNvGrpSpPr/>
          <p:nvPr/>
        </p:nvGrpSpPr>
        <p:grpSpPr>
          <a:xfrm>
            <a:off x="7610298" y="242075"/>
            <a:ext cx="1114800" cy="1661821"/>
            <a:chOff x="629198" y="1856775"/>
            <a:chExt cx="1114800" cy="1661821"/>
          </a:xfrm>
        </p:grpSpPr>
        <p:pic>
          <p:nvPicPr>
            <p:cNvPr id="1423" name="Google Shape;1423;p1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8178" y="1856775"/>
              <a:ext cx="959150" cy="9591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4" name="Google Shape;1424;p147"/>
            <p:cNvSpPr txBox="1"/>
            <p:nvPr/>
          </p:nvSpPr>
          <p:spPr>
            <a:xfrm>
              <a:off x="629198" y="2816596"/>
              <a:ext cx="11148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>
                  <a:solidFill>
                    <a:srgbClr val="544832"/>
                  </a:solidFill>
                  <a:latin typeface="Oswald"/>
                  <a:ea typeface="Oswald"/>
                  <a:cs typeface="Oswald"/>
                  <a:sym typeface="Oswald"/>
                </a:defRPr>
              </a:pPr>
              <a:r>
                <a:t>Facilitador de Crianza con Conciencia +  </a:t>
              </a:r>
              <a:endParaRPr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cxnSp>
        <p:nvCxnSpPr>
          <p:cNvPr id="1425" name="Google Shape;1425;p147"/>
          <p:cNvCxnSpPr/>
          <p:nvPr/>
        </p:nvCxnSpPr>
        <p:spPr>
          <a:xfrm flipH="1">
            <a:off x="3093325" y="831275"/>
            <a:ext cx="354000" cy="78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6" name="Google Shape;1426;p147"/>
          <p:cNvSpPr txBox="1"/>
          <p:nvPr/>
        </p:nvSpPr>
        <p:spPr>
          <a:xfrm>
            <a:off x="2450675" y="1613575"/>
            <a:ext cx="2118300" cy="1021200"/>
          </a:xfrm>
          <a:prstGeom prst="rect">
            <a:avLst/>
          </a:prstGeom>
          <a:noFill/>
          <a:ln cap="flat" cmpd="sng" w="9525">
            <a:solidFill>
              <a:srgbClr val="01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Formula preguntas abiertas: Quién , Qué, Cuándo , Dónde, Por qué , Cómo  </a:t>
            </a:r>
            <a:br>
              <a:rPr lang="en-US" sz="1300"/>
            </a:br>
            <a:endParaRPr sz="1300"/>
          </a:p>
        </p:txBody>
      </p:sp>
      <p:cxnSp>
        <p:nvCxnSpPr>
          <p:cNvPr id="1427" name="Google Shape;1427;p147"/>
          <p:cNvCxnSpPr/>
          <p:nvPr/>
        </p:nvCxnSpPr>
        <p:spPr>
          <a:xfrm>
            <a:off x="5782225" y="1112450"/>
            <a:ext cx="28500" cy="79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8" name="Google Shape;1428;p147"/>
          <p:cNvSpPr txBox="1"/>
          <p:nvPr/>
        </p:nvSpPr>
        <p:spPr>
          <a:xfrm>
            <a:off x="5199075" y="1904375"/>
            <a:ext cx="2037900" cy="723900"/>
          </a:xfrm>
          <a:prstGeom prst="rect">
            <a:avLst/>
          </a:prstGeom>
          <a:noFill/>
          <a:ln cap="flat" cmpd="sng" w="9525">
            <a:solidFill>
              <a:srgbClr val="01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Preguntas sobre la situación</a:t>
            </a:r>
            <a:endParaRPr sz="1300"/>
          </a:p>
        </p:txBody>
      </p:sp>
      <p:pic>
        <p:nvPicPr>
          <p:cNvPr id="1429" name="Google Shape;1429;p1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687" y="2930337"/>
            <a:ext cx="1021175" cy="102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0" name="Google Shape;1430;p147"/>
          <p:cNvSpPr/>
          <p:nvPr/>
        </p:nvSpPr>
        <p:spPr>
          <a:xfrm>
            <a:off x="1905425" y="2996600"/>
            <a:ext cx="4251000" cy="1021200"/>
          </a:xfrm>
          <a:prstGeom prst="wedgeRoundRectCallout">
            <a:avLst>
              <a:gd fmla="val -63553" name="adj1"/>
              <a:gd fmla="val 8994" name="adj2"/>
              <a:gd fmla="val 0" name="adj3"/>
            </a:avLst>
          </a:prstGeom>
          <a:solidFill>
            <a:srgbClr val="EAD1D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Intentaba grabar un video para redes sociales. </a:t>
            </a:r>
            <a:endParaRPr sz="20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31" name="Google Shape;1431;p147"/>
          <p:cNvSpPr txBox="1"/>
          <p:nvPr/>
        </p:nvSpPr>
        <p:spPr>
          <a:xfrm>
            <a:off x="242860" y="4017796"/>
            <a:ext cx="11148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defRPr>
            </a:pPr>
            <a:r>
              <a:t>Isabel </a:t>
            </a:r>
            <a:br>
              <a:rPr lang="en-US"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t>Madre </a:t>
            </a:r>
            <a:endParaRPr>
              <a:solidFill>
                <a:srgbClr val="54483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148"/>
          <p:cNvSpPr/>
          <p:nvPr/>
        </p:nvSpPr>
        <p:spPr>
          <a:xfrm>
            <a:off x="242850" y="96625"/>
            <a:ext cx="2118300" cy="139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37" name="Google Shape;1437;p148"/>
          <p:cNvSpPr/>
          <p:nvPr/>
        </p:nvSpPr>
        <p:spPr>
          <a:xfrm>
            <a:off x="368650" y="-2"/>
            <a:ext cx="1860600" cy="13977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38" name="Google Shape;1438;p148"/>
          <p:cNvSpPr txBox="1"/>
          <p:nvPr/>
        </p:nvSpPr>
        <p:spPr>
          <a:xfrm>
            <a:off x="379142" y="637427"/>
            <a:ext cx="183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 sz="37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EXPLORAR</a:t>
            </a:r>
            <a:endParaRPr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1439" name="Google Shape;1439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715" y="182603"/>
            <a:ext cx="402576" cy="35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148"/>
          <p:cNvSpPr/>
          <p:nvPr/>
        </p:nvSpPr>
        <p:spPr>
          <a:xfrm>
            <a:off x="2808400" y="617450"/>
            <a:ext cx="4481700" cy="1021200"/>
          </a:xfrm>
          <a:prstGeom prst="wedgeRoundRectCallout">
            <a:avLst>
              <a:gd fmla="val 61226" name="adj1"/>
              <a:gd fmla="val 378" name="adj2"/>
              <a:gd fmla="val 0" name="adj3"/>
            </a:avLst>
          </a:prstGeom>
          <a:solidFill>
            <a:srgbClr val="FCE5CD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rPr>
                <a:highlight>
                  <a:srgbClr val="6FA8DC"/>
                </a:highlight>
              </a:rPr>
              <a:t>Ya veo… entonces estaba un poco ocupada en redes sociales. </a:t>
            </a:r>
            <a:r>
              <a:rPr>
                <a:highlight>
                  <a:srgbClr val="E4027C"/>
                </a:highlight>
              </a:rPr>
              <a:t>¿Cómo </a:t>
            </a:r>
            <a:r>
              <a:rPr>
                <a:highlight>
                  <a:srgbClr val="00969B"/>
                </a:highlight>
              </a:rPr>
              <a:t>crees que se sintió tu adolescente cuando le pediste Tiempo Uno a Uno en ese momento?</a:t>
            </a:r>
            <a:endParaRPr sz="1300">
              <a:solidFill>
                <a:schemeClr val="lt1"/>
              </a:solidFill>
              <a:highlight>
                <a:srgbClr val="00969B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441" name="Google Shape;1441;p148"/>
          <p:cNvGrpSpPr/>
          <p:nvPr/>
        </p:nvGrpSpPr>
        <p:grpSpPr>
          <a:xfrm>
            <a:off x="7610298" y="546875"/>
            <a:ext cx="1114800" cy="1661821"/>
            <a:chOff x="629198" y="1856775"/>
            <a:chExt cx="1114800" cy="1661821"/>
          </a:xfrm>
        </p:grpSpPr>
        <p:pic>
          <p:nvPicPr>
            <p:cNvPr id="1442" name="Google Shape;1442;p1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8178" y="1856775"/>
              <a:ext cx="959150" cy="9591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3" name="Google Shape;1443;p148"/>
            <p:cNvSpPr txBox="1"/>
            <p:nvPr/>
          </p:nvSpPr>
          <p:spPr>
            <a:xfrm>
              <a:off x="629198" y="2816596"/>
              <a:ext cx="11148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>
                  <a:solidFill>
                    <a:srgbClr val="544832"/>
                  </a:solidFill>
                  <a:latin typeface="Oswald"/>
                  <a:ea typeface="Oswald"/>
                  <a:cs typeface="Oswald"/>
                  <a:sym typeface="Oswald"/>
                </a:defRPr>
              </a:pPr>
              <a:r>
                <a:t>Facilitador de Crianza con Conciencia +  </a:t>
              </a:r>
              <a:endParaRPr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cxnSp>
        <p:nvCxnSpPr>
          <p:cNvPr id="1444" name="Google Shape;1444;p148"/>
          <p:cNvCxnSpPr/>
          <p:nvPr/>
        </p:nvCxnSpPr>
        <p:spPr>
          <a:xfrm flipH="1">
            <a:off x="2881525" y="894938"/>
            <a:ext cx="268500" cy="96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5" name="Google Shape;1445;p148"/>
          <p:cNvSpPr txBox="1"/>
          <p:nvPr/>
        </p:nvSpPr>
        <p:spPr>
          <a:xfrm>
            <a:off x="2017525" y="1887263"/>
            <a:ext cx="2118300" cy="1021200"/>
          </a:xfrm>
          <a:prstGeom prst="rect">
            <a:avLst/>
          </a:prstGeom>
          <a:noFill/>
          <a:ln cap="flat" cmpd="sng" w="9525">
            <a:solidFill>
              <a:srgbClr val="01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Formula preguntas abiertas: Quién , Qué, Cuándo , Dónde, Por qué , Cómo  </a:t>
            </a:r>
            <a:br>
              <a:rPr lang="en-US" sz="1300"/>
            </a:br>
            <a:endParaRPr sz="1300"/>
          </a:p>
        </p:txBody>
      </p:sp>
      <p:cxnSp>
        <p:nvCxnSpPr>
          <p:cNvPr id="1446" name="Google Shape;1446;p148"/>
          <p:cNvCxnSpPr/>
          <p:nvPr/>
        </p:nvCxnSpPr>
        <p:spPr>
          <a:xfrm>
            <a:off x="5782225" y="1417250"/>
            <a:ext cx="28500" cy="79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7" name="Google Shape;1447;p148"/>
          <p:cNvSpPr txBox="1"/>
          <p:nvPr/>
        </p:nvSpPr>
        <p:spPr>
          <a:xfrm>
            <a:off x="5199075" y="2209175"/>
            <a:ext cx="2037900" cy="723900"/>
          </a:xfrm>
          <a:prstGeom prst="rect">
            <a:avLst/>
          </a:prstGeom>
          <a:noFill/>
          <a:ln cap="flat" cmpd="sng" w="9525">
            <a:solidFill>
              <a:srgbClr val="01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Preguntas que exploran la perspectiva del adolescente</a:t>
            </a:r>
            <a:endParaRPr sz="1300"/>
          </a:p>
        </p:txBody>
      </p:sp>
      <p:pic>
        <p:nvPicPr>
          <p:cNvPr id="1448" name="Google Shape;1448;p1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687" y="3235137"/>
            <a:ext cx="1021175" cy="102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9" name="Google Shape;1449;p148"/>
          <p:cNvSpPr/>
          <p:nvPr/>
        </p:nvSpPr>
        <p:spPr>
          <a:xfrm>
            <a:off x="1905425" y="3301400"/>
            <a:ext cx="6211800" cy="1021200"/>
          </a:xfrm>
          <a:prstGeom prst="wedgeRoundRectCallout">
            <a:avLst>
              <a:gd fmla="val -63553" name="adj1"/>
              <a:gd fmla="val 8994" name="adj2"/>
              <a:gd fmla="val 0" name="adj3"/>
            </a:avLst>
          </a:prstGeom>
          <a:solidFill>
            <a:srgbClr val="EAD1D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Mmm... tal vez pensó que no respeto su tiempo libre. Casi no tiene tiempo para sí misma entre la escuela y sus actividades extracurriculares.</a:t>
            </a:r>
            <a:endParaRPr sz="20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50" name="Google Shape;1450;p148"/>
          <p:cNvSpPr txBox="1"/>
          <p:nvPr/>
        </p:nvSpPr>
        <p:spPr>
          <a:xfrm>
            <a:off x="242860" y="4246396"/>
            <a:ext cx="11148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defRPr>
            </a:pPr>
            <a:r>
              <a:t>Isabel </a:t>
            </a:r>
            <a:br>
              <a:rPr lang="en-US"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t>Madre </a:t>
            </a:r>
            <a:endParaRPr>
              <a:solidFill>
                <a:srgbClr val="54483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51" name="Google Shape;1451;p148"/>
          <p:cNvSpPr txBox="1"/>
          <p:nvPr/>
        </p:nvSpPr>
        <p:spPr>
          <a:xfrm>
            <a:off x="3553050" y="96625"/>
            <a:ext cx="2037900" cy="357000"/>
          </a:xfrm>
          <a:prstGeom prst="rect">
            <a:avLst/>
          </a:prstGeom>
          <a:noFill/>
          <a:ln cap="flat" cmpd="sng" w="9525">
            <a:solidFill>
              <a:srgbClr val="01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Parafrasea las respuestas</a:t>
            </a:r>
            <a:endParaRPr sz="1300"/>
          </a:p>
        </p:txBody>
      </p:sp>
      <p:cxnSp>
        <p:nvCxnSpPr>
          <p:cNvPr id="1452" name="Google Shape;1452;p148"/>
          <p:cNvCxnSpPr/>
          <p:nvPr/>
        </p:nvCxnSpPr>
        <p:spPr>
          <a:xfrm>
            <a:off x="4494500" y="453613"/>
            <a:ext cx="10200" cy="3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149"/>
          <p:cNvSpPr/>
          <p:nvPr/>
        </p:nvSpPr>
        <p:spPr>
          <a:xfrm>
            <a:off x="242850" y="96625"/>
            <a:ext cx="2118300" cy="139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58" name="Google Shape;1458;p149"/>
          <p:cNvSpPr/>
          <p:nvPr/>
        </p:nvSpPr>
        <p:spPr>
          <a:xfrm>
            <a:off x="368650" y="-2"/>
            <a:ext cx="1860600" cy="13977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59" name="Google Shape;1459;p149"/>
          <p:cNvSpPr txBox="1"/>
          <p:nvPr/>
        </p:nvSpPr>
        <p:spPr>
          <a:xfrm>
            <a:off x="379142" y="637427"/>
            <a:ext cx="183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 sz="37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EXPLORAR</a:t>
            </a:r>
            <a:endParaRPr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1460" name="Google Shape;1460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715" y="182603"/>
            <a:ext cx="402576" cy="35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1" name="Google Shape;1461;p149"/>
          <p:cNvSpPr/>
          <p:nvPr/>
        </p:nvSpPr>
        <p:spPr>
          <a:xfrm>
            <a:off x="2808400" y="312650"/>
            <a:ext cx="4481700" cy="1021200"/>
          </a:xfrm>
          <a:prstGeom prst="wedgeRoundRectCallout">
            <a:avLst>
              <a:gd fmla="val 61226" name="adj1"/>
              <a:gd fmla="val 378" name="adj2"/>
              <a:gd fmla="val 0" name="adj3"/>
            </a:avLst>
          </a:prstGeom>
          <a:solidFill>
            <a:srgbClr val="FCE5CD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  <a:defRPr sz="1600">
                <a:latin typeface="Noto Sans"/>
                <a:ea typeface="Noto Sans"/>
                <a:cs typeface="Noto Sans"/>
                <a:sym typeface="Noto Sans"/>
              </a:defRPr>
            </a:pPr>
            <a:r>
              <a:rPr>
                <a:solidFill>
                  <a:schemeClr val="dk1"/>
                </a:solidFill>
              </a:rPr>
              <a:t>Ser adolescente también es difícil, hay tanto que hacer. </a:t>
            </a:r>
            <a:r>
              <a:rPr>
                <a:solidFill>
                  <a:schemeClr val="lt1"/>
                </a:solidFill>
                <a:highlight>
                  <a:srgbClr val="E4027C"/>
                </a:highlight>
              </a:rPr>
              <a:t>¿Cómo te sentiste cuando tu adolescente se negó a pasar Tiempo Uno a Uno? </a:t>
            </a:r>
            <a:endParaRPr sz="1600">
              <a:solidFill>
                <a:schemeClr val="lt1"/>
              </a:solidFill>
              <a:highlight>
                <a:srgbClr val="E4027C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462" name="Google Shape;1462;p149"/>
          <p:cNvGrpSpPr/>
          <p:nvPr/>
        </p:nvGrpSpPr>
        <p:grpSpPr>
          <a:xfrm>
            <a:off x="7610298" y="242075"/>
            <a:ext cx="1114800" cy="1661821"/>
            <a:chOff x="629198" y="1856775"/>
            <a:chExt cx="1114800" cy="1661821"/>
          </a:xfrm>
        </p:grpSpPr>
        <p:pic>
          <p:nvPicPr>
            <p:cNvPr id="1463" name="Google Shape;1463;p1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8178" y="1856775"/>
              <a:ext cx="959150" cy="9591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4" name="Google Shape;1464;p149"/>
            <p:cNvSpPr txBox="1"/>
            <p:nvPr/>
          </p:nvSpPr>
          <p:spPr>
            <a:xfrm>
              <a:off x="629198" y="2816596"/>
              <a:ext cx="11148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>
                  <a:solidFill>
                    <a:srgbClr val="544832"/>
                  </a:solidFill>
                  <a:latin typeface="Oswald"/>
                  <a:ea typeface="Oswald"/>
                  <a:cs typeface="Oswald"/>
                  <a:sym typeface="Oswald"/>
                </a:defRPr>
              </a:pPr>
              <a:r>
                <a:t>Facilitador de Crianza con Conciencia +  </a:t>
              </a:r>
              <a:endParaRPr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cxnSp>
        <p:nvCxnSpPr>
          <p:cNvPr id="1465" name="Google Shape;1465;p149"/>
          <p:cNvCxnSpPr/>
          <p:nvPr/>
        </p:nvCxnSpPr>
        <p:spPr>
          <a:xfrm>
            <a:off x="5782225" y="1112450"/>
            <a:ext cx="28500" cy="79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6" name="Google Shape;1466;p149"/>
          <p:cNvSpPr txBox="1"/>
          <p:nvPr/>
        </p:nvSpPr>
        <p:spPr>
          <a:xfrm>
            <a:off x="5199075" y="1904375"/>
            <a:ext cx="2037900" cy="723900"/>
          </a:xfrm>
          <a:prstGeom prst="rect">
            <a:avLst/>
          </a:prstGeom>
          <a:noFill/>
          <a:ln cap="flat" cmpd="sng" w="9525">
            <a:solidFill>
              <a:srgbClr val="01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Haz preguntas sobre la perspectiva de los padres, madres o cuidadores</a:t>
            </a:r>
            <a:endParaRPr sz="1300"/>
          </a:p>
        </p:txBody>
      </p:sp>
      <p:pic>
        <p:nvPicPr>
          <p:cNvPr id="1467" name="Google Shape;1467;p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162" y="2946312"/>
            <a:ext cx="1021175" cy="102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149"/>
          <p:cNvSpPr/>
          <p:nvPr/>
        </p:nvSpPr>
        <p:spPr>
          <a:xfrm>
            <a:off x="1994900" y="3012575"/>
            <a:ext cx="4251000" cy="1021200"/>
          </a:xfrm>
          <a:prstGeom prst="wedgeRoundRectCallout">
            <a:avLst>
              <a:gd fmla="val -63553" name="adj1"/>
              <a:gd fmla="val 8994" name="adj2"/>
              <a:gd fmla="val 0" name="adj3"/>
            </a:avLst>
          </a:prstGeom>
          <a:solidFill>
            <a:srgbClr val="EAD1D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Me sentí lastimada y frustrada. </a:t>
            </a:r>
            <a:endParaRPr sz="20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69" name="Google Shape;1469;p149"/>
          <p:cNvSpPr txBox="1"/>
          <p:nvPr/>
        </p:nvSpPr>
        <p:spPr>
          <a:xfrm>
            <a:off x="379160" y="4033771"/>
            <a:ext cx="11148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defRPr>
            </a:pPr>
            <a:r>
              <a:t>Isabel </a:t>
            </a:r>
            <a:br>
              <a:rPr lang="en-US"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t>Madre </a:t>
            </a:r>
            <a:endParaRPr>
              <a:solidFill>
                <a:srgbClr val="54483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150"/>
          <p:cNvSpPr/>
          <p:nvPr/>
        </p:nvSpPr>
        <p:spPr>
          <a:xfrm>
            <a:off x="199775" y="96625"/>
            <a:ext cx="2118300" cy="139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5" name="Google Shape;1475;p150"/>
          <p:cNvSpPr/>
          <p:nvPr/>
        </p:nvSpPr>
        <p:spPr>
          <a:xfrm>
            <a:off x="325575" y="-2"/>
            <a:ext cx="1860600" cy="13977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6" name="Google Shape;1476;p150"/>
          <p:cNvSpPr txBox="1"/>
          <p:nvPr/>
        </p:nvSpPr>
        <p:spPr>
          <a:xfrm>
            <a:off x="336067" y="637427"/>
            <a:ext cx="183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 sz="37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EXPLORAR</a:t>
            </a:r>
            <a:endParaRPr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1477" name="Google Shape;1477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7640" y="182603"/>
            <a:ext cx="402576" cy="35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8" name="Google Shape;1478;p150"/>
          <p:cNvSpPr/>
          <p:nvPr/>
        </p:nvSpPr>
        <p:spPr>
          <a:xfrm>
            <a:off x="2038000" y="1952925"/>
            <a:ext cx="5174100" cy="1516500"/>
          </a:xfrm>
          <a:prstGeom prst="wedgeRoundRectCallout">
            <a:avLst>
              <a:gd fmla="val 61226" name="adj1"/>
              <a:gd fmla="val 378" name="adj2"/>
              <a:gd fmla="val 0" name="adj3"/>
            </a:avLst>
          </a:prstGeom>
          <a:solidFill>
            <a:srgbClr val="FCE5CD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Te entiendo. Sentirse lastimado y frustrado es completamente normal cuando pasan cosas así. </a:t>
            </a:r>
            <a:r>
              <a:rPr>
                <a:highlight>
                  <a:srgbClr val="ED7D31"/>
                </a:highlight>
              </a:rPr>
              <a:t>Cuando dijiste que estabas fracasando, ¿qué te estaba pasando por la cabeza? </a:t>
            </a:r>
            <a:endParaRPr sz="2000">
              <a:solidFill>
                <a:schemeClr val="dk2"/>
              </a:solidFill>
              <a:highlight>
                <a:srgbClr val="ED7D31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479" name="Google Shape;1479;p150"/>
          <p:cNvGrpSpPr/>
          <p:nvPr/>
        </p:nvGrpSpPr>
        <p:grpSpPr>
          <a:xfrm>
            <a:off x="7532223" y="1882350"/>
            <a:ext cx="1114800" cy="1661821"/>
            <a:chOff x="629198" y="1856775"/>
            <a:chExt cx="1114800" cy="1661821"/>
          </a:xfrm>
        </p:grpSpPr>
        <p:pic>
          <p:nvPicPr>
            <p:cNvPr id="1480" name="Google Shape;1480;p1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8178" y="1856775"/>
              <a:ext cx="959150" cy="9591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1" name="Google Shape;1481;p150"/>
            <p:cNvSpPr txBox="1"/>
            <p:nvPr/>
          </p:nvSpPr>
          <p:spPr>
            <a:xfrm>
              <a:off x="629198" y="2816596"/>
              <a:ext cx="11148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>
                  <a:solidFill>
                    <a:srgbClr val="544832"/>
                  </a:solidFill>
                  <a:latin typeface="Oswald"/>
                  <a:ea typeface="Oswald"/>
                  <a:cs typeface="Oswald"/>
                  <a:sym typeface="Oswald"/>
                </a:defRPr>
              </a:pPr>
              <a:r>
                <a:t>Facilitador de Crianza con Conciencia +  </a:t>
              </a:r>
              <a:endParaRPr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cxnSp>
        <p:nvCxnSpPr>
          <p:cNvPr id="1482" name="Google Shape;1482;p150"/>
          <p:cNvCxnSpPr>
            <a:stCxn id="1483" idx="2"/>
            <a:endCxn id="1478" idx="0"/>
          </p:cNvCxnSpPr>
          <p:nvPr/>
        </p:nvCxnSpPr>
        <p:spPr>
          <a:xfrm flipH="1">
            <a:off x="4625175" y="1397625"/>
            <a:ext cx="182100" cy="55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3" name="Google Shape;1483;p150"/>
          <p:cNvSpPr txBox="1"/>
          <p:nvPr/>
        </p:nvSpPr>
        <p:spPr>
          <a:xfrm>
            <a:off x="3344175" y="637425"/>
            <a:ext cx="2926200" cy="760200"/>
          </a:xfrm>
          <a:prstGeom prst="rect">
            <a:avLst/>
          </a:prstGeom>
          <a:noFill/>
          <a:ln cap="flat" cmpd="sng" w="9525">
            <a:solidFill>
              <a:srgbClr val="01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Asegúrate de que el participante sabe que escuchaste lo que dijo al repetírselo.</a:t>
            </a:r>
            <a:endParaRPr sz="1300"/>
          </a:p>
        </p:txBody>
      </p:sp>
      <p:cxnSp>
        <p:nvCxnSpPr>
          <p:cNvPr id="1484" name="Google Shape;1484;p150"/>
          <p:cNvCxnSpPr/>
          <p:nvPr/>
        </p:nvCxnSpPr>
        <p:spPr>
          <a:xfrm flipH="1">
            <a:off x="4582550" y="3032725"/>
            <a:ext cx="342600" cy="99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5" name="Google Shape;1485;p150"/>
          <p:cNvSpPr txBox="1"/>
          <p:nvPr/>
        </p:nvSpPr>
        <p:spPr>
          <a:xfrm>
            <a:off x="3237600" y="4027425"/>
            <a:ext cx="2668800" cy="640200"/>
          </a:xfrm>
          <a:prstGeom prst="rect">
            <a:avLst/>
          </a:prstGeom>
          <a:noFill/>
          <a:ln cap="flat" cmpd="sng" w="9525">
            <a:solidFill>
              <a:srgbClr val="01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Pide más detalles 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Explorando la perspectiva de los padres, madres y cuidadores </a:t>
            </a:r>
            <a:endParaRPr sz="130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151"/>
          <p:cNvSpPr/>
          <p:nvPr/>
        </p:nvSpPr>
        <p:spPr>
          <a:xfrm>
            <a:off x="6453850" y="96625"/>
            <a:ext cx="2118300" cy="139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91" name="Google Shape;1491;p151"/>
          <p:cNvSpPr/>
          <p:nvPr/>
        </p:nvSpPr>
        <p:spPr>
          <a:xfrm>
            <a:off x="6579650" y="-2"/>
            <a:ext cx="1860600" cy="13977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92" name="Google Shape;1492;p151"/>
          <p:cNvSpPr txBox="1"/>
          <p:nvPr/>
        </p:nvSpPr>
        <p:spPr>
          <a:xfrm>
            <a:off x="6590142" y="637427"/>
            <a:ext cx="183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 sz="37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CONECTAR</a:t>
            </a:r>
            <a:endParaRPr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1493" name="Google Shape;1493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412" y="265387"/>
            <a:ext cx="1021175" cy="102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Google Shape;1494;p151"/>
          <p:cNvSpPr/>
          <p:nvPr/>
        </p:nvSpPr>
        <p:spPr>
          <a:xfrm>
            <a:off x="1972150" y="331650"/>
            <a:ext cx="4251000" cy="1021200"/>
          </a:xfrm>
          <a:prstGeom prst="wedgeRoundRectCallout">
            <a:avLst>
              <a:gd fmla="val -63553" name="adj1"/>
              <a:gd fmla="val 8994" name="adj2"/>
              <a:gd fmla="val 0" name="adj3"/>
            </a:avLst>
          </a:prstGeom>
          <a:solidFill>
            <a:srgbClr val="EAD1D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No dejaba de pensar que no soy una buena madre.</a:t>
            </a:r>
            <a:endParaRPr sz="20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95" name="Google Shape;1495;p151"/>
          <p:cNvSpPr txBox="1"/>
          <p:nvPr/>
        </p:nvSpPr>
        <p:spPr>
          <a:xfrm>
            <a:off x="309585" y="1352846"/>
            <a:ext cx="11148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defRPr>
            </a:pPr>
            <a:r>
              <a:t>Isabel </a:t>
            </a:r>
            <a:br>
              <a:rPr lang="en-US"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t>Madre </a:t>
            </a:r>
            <a:endParaRPr>
              <a:solidFill>
                <a:srgbClr val="54483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96" name="Google Shape;1496;p151"/>
          <p:cNvSpPr/>
          <p:nvPr/>
        </p:nvSpPr>
        <p:spPr>
          <a:xfrm>
            <a:off x="970475" y="1952925"/>
            <a:ext cx="6241500" cy="2001600"/>
          </a:xfrm>
          <a:prstGeom prst="wedgeRoundRectCallout">
            <a:avLst>
              <a:gd fmla="val 61226" name="adj1"/>
              <a:gd fmla="val 378" name="adj2"/>
              <a:gd fmla="val 0" name="adj3"/>
            </a:avLst>
          </a:prstGeom>
          <a:solidFill>
            <a:srgbClr val="FCE5CD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  <a:defRPr sz="1900">
                <a:latin typeface="Noto Sans"/>
                <a:ea typeface="Noto Sans"/>
                <a:cs typeface="Noto Sans"/>
                <a:sym typeface="Noto Sans"/>
              </a:defRPr>
            </a:pPr>
            <a:r>
              <a:rPr>
                <a:solidFill>
                  <a:schemeClr val="dk2"/>
                </a:solidFill>
              </a:rPr>
              <a:t>Parece una situación difícil. Muchos padres, madres y cuidadores de adolescentes se sienten así.  Vamos a explorar formas de cambiar estos pensamientos. </a:t>
            </a:r>
            <a:r>
              <a:rPr>
                <a:solidFill>
                  <a:schemeClr val="lt1"/>
                </a:solidFill>
                <a:highlight>
                  <a:srgbClr val="00969A"/>
                </a:highlight>
              </a:rPr>
              <a:t>El primer paso es darte cuenta de cuándo surge un pensamiento negativo.</a:t>
            </a:r>
            <a:r>
              <a:rPr>
                <a:solidFill>
                  <a:schemeClr val="dk2"/>
                </a:solidFill>
              </a:rPr>
              <a:t> </a:t>
            </a:r>
            <a:r>
              <a:rPr>
                <a:solidFill>
                  <a:schemeClr val="dk2"/>
                </a:solidFill>
                <a:highlight>
                  <a:srgbClr val="019FE4"/>
                </a:highlight>
              </a:rPr>
              <a:t>¿Puedes recordar cuándo lo notaste durante la conversación?</a:t>
            </a:r>
            <a:r>
              <a:rPr>
                <a:solidFill>
                  <a:schemeClr val="dk2"/>
                </a:solidFill>
              </a:rPr>
              <a:t> </a:t>
            </a:r>
            <a:endParaRPr sz="1900">
              <a:solidFill>
                <a:schemeClr val="dk2"/>
              </a:solidFill>
              <a:highlight>
                <a:srgbClr val="ED7D31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497" name="Google Shape;1497;p151"/>
          <p:cNvGrpSpPr/>
          <p:nvPr/>
        </p:nvGrpSpPr>
        <p:grpSpPr>
          <a:xfrm>
            <a:off x="7532223" y="1882350"/>
            <a:ext cx="1114800" cy="1661821"/>
            <a:chOff x="629198" y="1856775"/>
            <a:chExt cx="1114800" cy="1661821"/>
          </a:xfrm>
        </p:grpSpPr>
        <p:pic>
          <p:nvPicPr>
            <p:cNvPr id="1498" name="Google Shape;1498;p1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8178" y="1856775"/>
              <a:ext cx="959150" cy="9591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9" name="Google Shape;1499;p151"/>
            <p:cNvSpPr txBox="1"/>
            <p:nvPr/>
          </p:nvSpPr>
          <p:spPr>
            <a:xfrm>
              <a:off x="629198" y="2816596"/>
              <a:ext cx="11148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>
                  <a:solidFill>
                    <a:srgbClr val="544832"/>
                  </a:solidFill>
                  <a:latin typeface="Oswald"/>
                  <a:ea typeface="Oswald"/>
                  <a:cs typeface="Oswald"/>
                  <a:sym typeface="Oswald"/>
                </a:defRPr>
              </a:pPr>
              <a:r>
                <a:t>Facilitador de Crianza con Conciencia +  </a:t>
              </a:r>
              <a:endParaRPr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pic>
        <p:nvPicPr>
          <p:cNvPr id="1500" name="Google Shape;1500;p1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20550" y="265386"/>
            <a:ext cx="384900" cy="3576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1" name="Google Shape;1501;p151"/>
          <p:cNvCxnSpPr>
            <a:endCxn id="1502" idx="0"/>
          </p:cNvCxnSpPr>
          <p:nvPr/>
        </p:nvCxnSpPr>
        <p:spPr>
          <a:xfrm flipH="1">
            <a:off x="976775" y="3238825"/>
            <a:ext cx="369900" cy="72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2" name="Google Shape;1502;p151"/>
          <p:cNvSpPr txBox="1"/>
          <p:nvPr/>
        </p:nvSpPr>
        <p:spPr>
          <a:xfrm>
            <a:off x="309575" y="3966625"/>
            <a:ext cx="1334400" cy="764400"/>
          </a:xfrm>
          <a:prstGeom prst="rect">
            <a:avLst/>
          </a:prstGeom>
          <a:noFill/>
          <a:ln cap="flat" cmpd="sng" w="9525">
            <a:solidFill>
              <a:srgbClr val="01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Conectado a la habilidad de diálogo interno </a:t>
            </a:r>
            <a:endParaRPr sz="1300"/>
          </a:p>
        </p:txBody>
      </p:sp>
      <p:cxnSp>
        <p:nvCxnSpPr>
          <p:cNvPr id="1503" name="Google Shape;1503;p151"/>
          <p:cNvCxnSpPr>
            <a:endCxn id="1504" idx="0"/>
          </p:cNvCxnSpPr>
          <p:nvPr/>
        </p:nvCxnSpPr>
        <p:spPr>
          <a:xfrm>
            <a:off x="4585325" y="3675750"/>
            <a:ext cx="130800" cy="35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4" name="Google Shape;1504;p151"/>
          <p:cNvSpPr txBox="1"/>
          <p:nvPr/>
        </p:nvSpPr>
        <p:spPr>
          <a:xfrm>
            <a:off x="3785825" y="4027350"/>
            <a:ext cx="1860600" cy="764400"/>
          </a:xfrm>
          <a:prstGeom prst="rect">
            <a:avLst/>
          </a:prstGeom>
          <a:noFill/>
          <a:ln cap="flat" cmpd="sng" w="9525">
            <a:solidFill>
              <a:srgbClr val="01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Continúa explorando y haciendo preguntas abiertas</a:t>
            </a:r>
            <a:endParaRPr sz="130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152"/>
          <p:cNvSpPr/>
          <p:nvPr/>
        </p:nvSpPr>
        <p:spPr>
          <a:xfrm>
            <a:off x="6453850" y="96625"/>
            <a:ext cx="2118300" cy="139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0" name="Google Shape;1510;p152"/>
          <p:cNvSpPr/>
          <p:nvPr/>
        </p:nvSpPr>
        <p:spPr>
          <a:xfrm>
            <a:off x="6579650" y="-2"/>
            <a:ext cx="1860600" cy="13977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1" name="Google Shape;1511;p152"/>
          <p:cNvSpPr txBox="1"/>
          <p:nvPr/>
        </p:nvSpPr>
        <p:spPr>
          <a:xfrm>
            <a:off x="6590142" y="637427"/>
            <a:ext cx="183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 sz="37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CONECTAR</a:t>
            </a:r>
            <a:endParaRPr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1512" name="Google Shape;1512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412" y="265387"/>
            <a:ext cx="1021175" cy="102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3" name="Google Shape;1513;p152"/>
          <p:cNvSpPr/>
          <p:nvPr/>
        </p:nvSpPr>
        <p:spPr>
          <a:xfrm>
            <a:off x="1972150" y="331650"/>
            <a:ext cx="4251000" cy="1021200"/>
          </a:xfrm>
          <a:prstGeom prst="wedgeRoundRectCallout">
            <a:avLst>
              <a:gd fmla="val -63553" name="adj1"/>
              <a:gd fmla="val 8994" name="adj2"/>
              <a:gd fmla="val 0" name="adj3"/>
            </a:avLst>
          </a:prstGeom>
          <a:solidFill>
            <a:srgbClr val="EAD1D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Justo cuando mi adolescente se alejó de mí. </a:t>
            </a:r>
            <a:endParaRPr sz="20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14" name="Google Shape;1514;p152"/>
          <p:cNvSpPr txBox="1"/>
          <p:nvPr/>
        </p:nvSpPr>
        <p:spPr>
          <a:xfrm>
            <a:off x="309585" y="1352846"/>
            <a:ext cx="11148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defRPr>
            </a:pPr>
            <a:r>
              <a:t>Isabel </a:t>
            </a:r>
            <a:br>
              <a:rPr lang="en-US"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t>Madre </a:t>
            </a:r>
            <a:endParaRPr>
              <a:solidFill>
                <a:srgbClr val="54483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15" name="Google Shape;1515;p152"/>
          <p:cNvSpPr/>
          <p:nvPr/>
        </p:nvSpPr>
        <p:spPr>
          <a:xfrm>
            <a:off x="970475" y="1952925"/>
            <a:ext cx="6241500" cy="2001600"/>
          </a:xfrm>
          <a:prstGeom prst="wedgeRoundRectCallout">
            <a:avLst>
              <a:gd fmla="val 61226" name="adj1"/>
              <a:gd fmla="val 378" name="adj2"/>
              <a:gd fmla="val 0" name="adj3"/>
            </a:avLst>
          </a:prstGeom>
          <a:solidFill>
            <a:srgbClr val="FCE5CD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  <a:defRPr sz="1900">
                <a:latin typeface="Noto Sans"/>
                <a:ea typeface="Noto Sans"/>
                <a:cs typeface="Noto Sans"/>
                <a:sym typeface="Noto Sans"/>
              </a:defRPr>
            </a:pPr>
            <a:r>
              <a:rPr>
                <a:solidFill>
                  <a:schemeClr val="lt1"/>
                </a:solidFill>
                <a:highlight>
                  <a:srgbClr val="013D5C"/>
                </a:highlight>
              </a:rPr>
              <a:t>¡Bien hecho</a:t>
            </a:r>
            <a:r>
              <a:rPr>
                <a:solidFill>
                  <a:schemeClr val="dk2"/>
                </a:solidFill>
              </a:rPr>
              <a:t> por darte cuenta de cuándo comenzó el diálogo interno negativo! Intentemos preguntarnos, </a:t>
            </a:r>
            <a:r>
              <a:rPr>
                <a:solidFill>
                  <a:schemeClr val="lt1"/>
                </a:solidFill>
                <a:highlight>
                  <a:srgbClr val="E4027C"/>
                </a:highlight>
              </a:rPr>
              <a:t>"¿Cómo puedo convertir este pensamiento en algo más amable?"</a:t>
            </a:r>
            <a:endParaRPr sz="1900">
              <a:solidFill>
                <a:schemeClr val="lt1"/>
              </a:solidFill>
              <a:highlight>
                <a:srgbClr val="E4027C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516" name="Google Shape;1516;p152"/>
          <p:cNvGrpSpPr/>
          <p:nvPr/>
        </p:nvGrpSpPr>
        <p:grpSpPr>
          <a:xfrm>
            <a:off x="7532223" y="1882350"/>
            <a:ext cx="1114800" cy="1661821"/>
            <a:chOff x="629198" y="1856775"/>
            <a:chExt cx="1114800" cy="1661821"/>
          </a:xfrm>
        </p:grpSpPr>
        <p:pic>
          <p:nvPicPr>
            <p:cNvPr id="1517" name="Google Shape;1517;p1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8178" y="1856775"/>
              <a:ext cx="959150" cy="9591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8" name="Google Shape;1518;p152"/>
            <p:cNvSpPr txBox="1"/>
            <p:nvPr/>
          </p:nvSpPr>
          <p:spPr>
            <a:xfrm>
              <a:off x="629198" y="2816596"/>
              <a:ext cx="11148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>
                  <a:solidFill>
                    <a:srgbClr val="544832"/>
                  </a:solidFill>
                  <a:latin typeface="Oswald"/>
                  <a:ea typeface="Oswald"/>
                  <a:cs typeface="Oswald"/>
                  <a:sym typeface="Oswald"/>
                </a:defRPr>
              </a:pPr>
              <a:r>
                <a:t>Facilitador de Crianza con Conciencia +  </a:t>
              </a:r>
              <a:endParaRPr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pic>
        <p:nvPicPr>
          <p:cNvPr id="1519" name="Google Shape;1519;p1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20550" y="265386"/>
            <a:ext cx="384900" cy="3576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0" name="Google Shape;1520;p152"/>
          <p:cNvCxnSpPr>
            <a:endCxn id="1521" idx="0"/>
          </p:cNvCxnSpPr>
          <p:nvPr/>
        </p:nvCxnSpPr>
        <p:spPr>
          <a:xfrm flipH="1">
            <a:off x="757175" y="2765925"/>
            <a:ext cx="552900" cy="120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1" name="Google Shape;1521;p152"/>
          <p:cNvSpPr txBox="1"/>
          <p:nvPr/>
        </p:nvSpPr>
        <p:spPr>
          <a:xfrm>
            <a:off x="89975" y="3966525"/>
            <a:ext cx="1334400" cy="764400"/>
          </a:xfrm>
          <a:prstGeom prst="rect">
            <a:avLst/>
          </a:prstGeom>
          <a:noFill/>
          <a:ln cap="flat" cmpd="sng" w="9525">
            <a:solidFill>
              <a:srgbClr val="01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Reconocer  al padre, madre o cuidador</a:t>
            </a:r>
            <a:endParaRPr sz="1300"/>
          </a:p>
        </p:txBody>
      </p:sp>
      <p:cxnSp>
        <p:nvCxnSpPr>
          <p:cNvPr id="1522" name="Google Shape;1522;p152"/>
          <p:cNvCxnSpPr>
            <a:endCxn id="1523" idx="0"/>
          </p:cNvCxnSpPr>
          <p:nvPr/>
        </p:nvCxnSpPr>
        <p:spPr>
          <a:xfrm flipH="1">
            <a:off x="4716125" y="3396750"/>
            <a:ext cx="2700" cy="63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3" name="Google Shape;1523;p152"/>
          <p:cNvSpPr txBox="1"/>
          <p:nvPr/>
        </p:nvSpPr>
        <p:spPr>
          <a:xfrm>
            <a:off x="3785825" y="4027350"/>
            <a:ext cx="1860600" cy="764400"/>
          </a:xfrm>
          <a:prstGeom prst="rect">
            <a:avLst/>
          </a:prstGeom>
          <a:noFill/>
          <a:ln cap="flat" cmpd="sng" w="9525">
            <a:solidFill>
              <a:srgbClr val="01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Relacionado con convertir el diálogo interno negativo en positivo </a:t>
            </a:r>
            <a:endParaRPr sz="130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153"/>
          <p:cNvSpPr/>
          <p:nvPr/>
        </p:nvSpPr>
        <p:spPr>
          <a:xfrm>
            <a:off x="6453850" y="96625"/>
            <a:ext cx="2118300" cy="139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29" name="Google Shape;1529;p153"/>
          <p:cNvSpPr/>
          <p:nvPr/>
        </p:nvSpPr>
        <p:spPr>
          <a:xfrm>
            <a:off x="6579650" y="-2"/>
            <a:ext cx="1860600" cy="13977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530" name="Google Shape;1530;p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412" y="265387"/>
            <a:ext cx="1021175" cy="102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153"/>
          <p:cNvSpPr/>
          <p:nvPr/>
        </p:nvSpPr>
        <p:spPr>
          <a:xfrm>
            <a:off x="1972150" y="331650"/>
            <a:ext cx="4251000" cy="1021200"/>
          </a:xfrm>
          <a:prstGeom prst="wedgeRoundRectCallout">
            <a:avLst>
              <a:gd fmla="val -63553" name="adj1"/>
              <a:gd fmla="val 8994" name="adj2"/>
              <a:gd fmla="val 0" name="adj3"/>
            </a:avLst>
          </a:prstGeom>
          <a:solidFill>
            <a:srgbClr val="EAD1D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Creo que ayer mi adolescente necesitaba un poco de espacio. Es una oportunidad para mí de aprender y ser paciente. Me siento orgullosa por intentar compartir Tiempo Uno a Uno. </a:t>
            </a:r>
            <a:endParaRPr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32" name="Google Shape;1532;p153"/>
          <p:cNvSpPr txBox="1"/>
          <p:nvPr/>
        </p:nvSpPr>
        <p:spPr>
          <a:xfrm>
            <a:off x="309585" y="1352846"/>
            <a:ext cx="11148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defRPr>
            </a:pPr>
            <a:r>
              <a:t>Isabel </a:t>
            </a:r>
            <a:br>
              <a:rPr lang="en-US"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t>Madre </a:t>
            </a:r>
            <a:endParaRPr>
              <a:solidFill>
                <a:srgbClr val="54483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33" name="Google Shape;1533;p153"/>
          <p:cNvSpPr/>
          <p:nvPr/>
        </p:nvSpPr>
        <p:spPr>
          <a:xfrm>
            <a:off x="970475" y="1952925"/>
            <a:ext cx="6241500" cy="1200600"/>
          </a:xfrm>
          <a:prstGeom prst="wedgeRoundRectCallout">
            <a:avLst>
              <a:gd fmla="val 61226" name="adj1"/>
              <a:gd fmla="val 378" name="adj2"/>
              <a:gd fmla="val 0" name="adj3"/>
            </a:avLst>
          </a:prstGeom>
          <a:solidFill>
            <a:srgbClr val="FCE5CD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  <a:defRPr sz="1600">
                <a:latin typeface="Noto Sans"/>
                <a:ea typeface="Noto Sans"/>
                <a:cs typeface="Noto Sans"/>
                <a:sym typeface="Noto Sans"/>
              </a:defRPr>
            </a:pPr>
            <a:r>
              <a:rPr>
                <a:solidFill>
                  <a:schemeClr val="lt1"/>
                </a:solidFill>
                <a:highlight>
                  <a:srgbClr val="ED7D31"/>
                </a:highlight>
              </a:rPr>
              <a:t>Bien hecho</a:t>
            </a:r>
            <a:r>
              <a:rPr>
                <a:solidFill>
                  <a:schemeClr val="dk1"/>
                </a:solidFill>
              </a:rPr>
              <a:t> por encontrar una forma positiva de pensar sobre lo que pasó. </a:t>
            </a:r>
            <a:r>
              <a:rPr>
                <a:highlight>
                  <a:srgbClr val="00969A"/>
                </a:highlight>
              </a:rPr>
              <a:t>Recuerda que no hay malos padres, malas madres o malos cuidadores y que aquí todos estamos aprendiendo. El solo hecho de intentar pasar tiempo con tu adolescente demuestra que te importa.</a:t>
            </a:r>
            <a:endParaRPr sz="1600">
              <a:highlight>
                <a:srgbClr val="00969A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534" name="Google Shape;1534;p153"/>
          <p:cNvGrpSpPr/>
          <p:nvPr/>
        </p:nvGrpSpPr>
        <p:grpSpPr>
          <a:xfrm>
            <a:off x="7532223" y="1882350"/>
            <a:ext cx="1114800" cy="1661821"/>
            <a:chOff x="629198" y="1856775"/>
            <a:chExt cx="1114800" cy="1661821"/>
          </a:xfrm>
        </p:grpSpPr>
        <p:pic>
          <p:nvPicPr>
            <p:cNvPr id="1535" name="Google Shape;1535;p1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8178" y="1856775"/>
              <a:ext cx="959150" cy="9591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6" name="Google Shape;1536;p153"/>
            <p:cNvSpPr txBox="1"/>
            <p:nvPr/>
          </p:nvSpPr>
          <p:spPr>
            <a:xfrm>
              <a:off x="629198" y="2816596"/>
              <a:ext cx="11148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>
                  <a:solidFill>
                    <a:srgbClr val="544832"/>
                  </a:solidFill>
                  <a:latin typeface="Oswald"/>
                  <a:ea typeface="Oswald"/>
                  <a:cs typeface="Oswald"/>
                  <a:sym typeface="Oswald"/>
                </a:defRPr>
              </a:pPr>
              <a:r>
                <a:t>Facilitador de Crianza con Conciencia +  </a:t>
              </a:r>
              <a:endParaRPr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cxnSp>
        <p:nvCxnSpPr>
          <p:cNvPr id="1537" name="Google Shape;1537;p153"/>
          <p:cNvCxnSpPr>
            <a:endCxn id="1538" idx="0"/>
          </p:cNvCxnSpPr>
          <p:nvPr/>
        </p:nvCxnSpPr>
        <p:spPr>
          <a:xfrm flipH="1">
            <a:off x="3241450" y="3020725"/>
            <a:ext cx="70200" cy="87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8" name="Google Shape;1538;p153"/>
          <p:cNvSpPr txBox="1"/>
          <p:nvPr/>
        </p:nvSpPr>
        <p:spPr>
          <a:xfrm>
            <a:off x="2574250" y="3893725"/>
            <a:ext cx="1334400" cy="764400"/>
          </a:xfrm>
          <a:prstGeom prst="rect">
            <a:avLst/>
          </a:prstGeom>
          <a:noFill/>
          <a:ln cap="flat" cmpd="sng" w="9525">
            <a:solidFill>
              <a:srgbClr val="01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Enfatiza la habilidad de hablar positivamente de uno mismo</a:t>
            </a:r>
            <a:endParaRPr sz="1300"/>
          </a:p>
        </p:txBody>
      </p:sp>
      <p:sp>
        <p:nvSpPr>
          <p:cNvPr id="1539" name="Google Shape;1539;p153"/>
          <p:cNvSpPr txBox="1"/>
          <p:nvPr/>
        </p:nvSpPr>
        <p:spPr>
          <a:xfrm>
            <a:off x="6590142" y="637427"/>
            <a:ext cx="183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 sz="37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CONECTAR</a:t>
            </a:r>
            <a:endParaRPr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1540" name="Google Shape;1540;p1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20550" y="265386"/>
            <a:ext cx="384900" cy="3576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1" name="Google Shape;1541;p153"/>
          <p:cNvCxnSpPr>
            <a:endCxn id="1542" idx="0"/>
          </p:cNvCxnSpPr>
          <p:nvPr/>
        </p:nvCxnSpPr>
        <p:spPr>
          <a:xfrm flipH="1">
            <a:off x="866975" y="2242575"/>
            <a:ext cx="422700" cy="160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2" name="Google Shape;1542;p153"/>
          <p:cNvSpPr txBox="1"/>
          <p:nvPr/>
        </p:nvSpPr>
        <p:spPr>
          <a:xfrm>
            <a:off x="199775" y="3843975"/>
            <a:ext cx="1334400" cy="764400"/>
          </a:xfrm>
          <a:prstGeom prst="rect">
            <a:avLst/>
          </a:prstGeom>
          <a:noFill/>
          <a:ln cap="flat" cmpd="sng" w="9525">
            <a:solidFill>
              <a:srgbClr val="01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reconoce al padre, madre o cuidador por intentarlo</a:t>
            </a:r>
            <a:endParaRPr sz="130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154"/>
          <p:cNvSpPr/>
          <p:nvPr/>
        </p:nvSpPr>
        <p:spPr>
          <a:xfrm>
            <a:off x="6453850" y="96625"/>
            <a:ext cx="2118300" cy="139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48" name="Google Shape;1548;p154"/>
          <p:cNvSpPr/>
          <p:nvPr/>
        </p:nvSpPr>
        <p:spPr>
          <a:xfrm>
            <a:off x="6579650" y="-2"/>
            <a:ext cx="1860600" cy="13977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49" name="Google Shape;1549;p154"/>
          <p:cNvSpPr txBox="1"/>
          <p:nvPr/>
        </p:nvSpPr>
        <p:spPr>
          <a:xfrm>
            <a:off x="6590142" y="637427"/>
            <a:ext cx="183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 sz="37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PRACTICAR</a:t>
            </a:r>
            <a:endParaRPr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1550" name="Google Shape;1550;p154"/>
          <p:cNvSpPr/>
          <p:nvPr/>
        </p:nvSpPr>
        <p:spPr>
          <a:xfrm flipH="1">
            <a:off x="1673775" y="371700"/>
            <a:ext cx="4565100" cy="1609500"/>
          </a:xfrm>
          <a:prstGeom prst="wedgeRoundRectCallout">
            <a:avLst>
              <a:gd fmla="val 62180" name="adj1"/>
              <a:gd fmla="val -23973" name="adj2"/>
              <a:gd fmla="val 0" name="adj3"/>
            </a:avLst>
          </a:prstGeom>
          <a:solidFill>
            <a:srgbClr val="FCE5CD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57150" rtl="0" algn="just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highlight>
                  <a:srgbClr val="DB3614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¿Qué tal si practicamos cómo le vas a hacer para una situación similar en el futuro? Si sientes que no conectas con tu adolescente, ¿qué te dirás? Recuerda tus esfuerzos de crianza, aunque sean pequeños, a lo largo del día. </a:t>
            </a:r>
            <a:endParaRPr sz="1500">
              <a:solidFill>
                <a:schemeClr val="lt1"/>
              </a:solidFill>
              <a:highlight>
                <a:srgbClr val="DB3614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551" name="Google Shape;1551;p154"/>
          <p:cNvGrpSpPr/>
          <p:nvPr/>
        </p:nvGrpSpPr>
        <p:grpSpPr>
          <a:xfrm>
            <a:off x="207723" y="173900"/>
            <a:ext cx="1114800" cy="1661821"/>
            <a:chOff x="629198" y="1856775"/>
            <a:chExt cx="1114800" cy="1661821"/>
          </a:xfrm>
        </p:grpSpPr>
        <p:pic>
          <p:nvPicPr>
            <p:cNvPr id="1552" name="Google Shape;1552;p1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8178" y="1856775"/>
              <a:ext cx="959150" cy="9591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3" name="Google Shape;1553;p154"/>
            <p:cNvSpPr txBox="1"/>
            <p:nvPr/>
          </p:nvSpPr>
          <p:spPr>
            <a:xfrm>
              <a:off x="629198" y="2816596"/>
              <a:ext cx="11148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>
                  <a:solidFill>
                    <a:srgbClr val="544832"/>
                  </a:solidFill>
                  <a:latin typeface="Oswald"/>
                  <a:ea typeface="Oswald"/>
                  <a:cs typeface="Oswald"/>
                  <a:sym typeface="Oswald"/>
                </a:defRPr>
              </a:pPr>
              <a:r>
                <a:t>Facilitador de Crianza con Conciencia +  </a:t>
              </a:r>
              <a:endParaRPr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cxnSp>
        <p:nvCxnSpPr>
          <p:cNvPr id="1554" name="Google Shape;1554;p154"/>
          <p:cNvCxnSpPr/>
          <p:nvPr/>
        </p:nvCxnSpPr>
        <p:spPr>
          <a:xfrm flipH="1">
            <a:off x="1578250" y="1795375"/>
            <a:ext cx="362700" cy="86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5" name="Google Shape;1555;p154"/>
          <p:cNvSpPr txBox="1"/>
          <p:nvPr/>
        </p:nvSpPr>
        <p:spPr>
          <a:xfrm>
            <a:off x="838575" y="2657950"/>
            <a:ext cx="1334400" cy="764400"/>
          </a:xfrm>
          <a:prstGeom prst="rect">
            <a:avLst/>
          </a:prstGeom>
          <a:noFill/>
          <a:ln cap="flat" cmpd="sng" w="9525">
            <a:solidFill>
              <a:srgbClr val="01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Practicar el diálogo interno con el participante</a:t>
            </a:r>
            <a:endParaRPr sz="1300"/>
          </a:p>
        </p:txBody>
      </p:sp>
      <p:pic>
        <p:nvPicPr>
          <p:cNvPr id="1556" name="Google Shape;1556;p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6904" y="265375"/>
            <a:ext cx="372181" cy="35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7" name="Google Shape;1557;p1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91962" y="2055612"/>
            <a:ext cx="1021175" cy="102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8" name="Google Shape;1558;p154"/>
          <p:cNvSpPr/>
          <p:nvPr/>
        </p:nvSpPr>
        <p:spPr>
          <a:xfrm>
            <a:off x="4057600" y="2055600"/>
            <a:ext cx="4251000" cy="1342200"/>
          </a:xfrm>
          <a:prstGeom prst="wedgeRoundRectCallout">
            <a:avLst>
              <a:gd fmla="val -63553" name="adj1"/>
              <a:gd fmla="val 8994" name="adj2"/>
              <a:gd fmla="val 0" name="adj3"/>
            </a:avLst>
          </a:prstGeom>
          <a:solidFill>
            <a:srgbClr val="EAD1D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¡Tienes razón! La próxima vez que pase, me diré a mí misma: "Aunque ayer fue difícil, puedo celebrar las veces que he conectado con mi adolescente. Cada interacción positiva es un paso hacia adelante en mi viaje como madre."</a:t>
            </a:r>
            <a:endParaRPr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9" name="Google Shape;1559;p154"/>
          <p:cNvSpPr txBox="1"/>
          <p:nvPr/>
        </p:nvSpPr>
        <p:spPr>
          <a:xfrm>
            <a:off x="2445135" y="3143071"/>
            <a:ext cx="11148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defRPr>
            </a:pPr>
            <a:r>
              <a:t>Isabel </a:t>
            </a:r>
            <a:br>
              <a:rPr lang="en-US"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t>Madre </a:t>
            </a:r>
            <a:endParaRPr>
              <a:solidFill>
                <a:srgbClr val="54483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60" name="Google Shape;1560;p154"/>
          <p:cNvSpPr/>
          <p:nvPr/>
        </p:nvSpPr>
        <p:spPr>
          <a:xfrm>
            <a:off x="2271875" y="3867250"/>
            <a:ext cx="4638000" cy="758700"/>
          </a:xfrm>
          <a:prstGeom prst="wedgeRoundRectCallout">
            <a:avLst>
              <a:gd fmla="val 61226" name="adj1"/>
              <a:gd fmla="val 378" name="adj2"/>
              <a:gd fmla="val 0" name="adj3"/>
            </a:avLst>
          </a:prstGeom>
          <a:solidFill>
            <a:srgbClr val="FCE5CD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¡Qué increíble, Isabel! ¡Tienes razón! ¡Cada pequeño paso que damos es un paso hacia adelante en nuestro viaje como padres, madres o cuidadores! </a:t>
            </a:r>
            <a:endParaRPr sz="1500">
              <a:solidFill>
                <a:schemeClr val="lt1"/>
              </a:solidFill>
              <a:highlight>
                <a:srgbClr val="DB3614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561" name="Google Shape;1561;p154"/>
          <p:cNvGrpSpPr/>
          <p:nvPr/>
        </p:nvGrpSpPr>
        <p:grpSpPr>
          <a:xfrm>
            <a:off x="7193798" y="3143075"/>
            <a:ext cx="1114800" cy="1661821"/>
            <a:chOff x="629198" y="1856775"/>
            <a:chExt cx="1114800" cy="1661821"/>
          </a:xfrm>
        </p:grpSpPr>
        <p:pic>
          <p:nvPicPr>
            <p:cNvPr id="1562" name="Google Shape;1562;p1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8178" y="1856775"/>
              <a:ext cx="959150" cy="9591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3" name="Google Shape;1563;p154"/>
            <p:cNvSpPr txBox="1"/>
            <p:nvPr/>
          </p:nvSpPr>
          <p:spPr>
            <a:xfrm>
              <a:off x="629198" y="2816596"/>
              <a:ext cx="11148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>
                  <a:solidFill>
                    <a:srgbClr val="544832"/>
                  </a:solidFill>
                  <a:latin typeface="Oswald"/>
                  <a:ea typeface="Oswald"/>
                  <a:cs typeface="Oswald"/>
                  <a:sym typeface="Oswald"/>
                </a:defRPr>
              </a:pPr>
              <a:r>
                <a:t>Facilitador de Crianza con Conciencia +  </a:t>
              </a:r>
              <a:endParaRPr>
                <a:solidFill>
                  <a:srgbClr val="54483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69A"/>
        </a:solidFill>
      </p:bgPr>
    </p:bg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155"/>
          <p:cNvSpPr txBox="1"/>
          <p:nvPr/>
        </p:nvSpPr>
        <p:spPr>
          <a:xfrm>
            <a:off x="281975" y="3471125"/>
            <a:ext cx="7821300" cy="9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4400">
                <a:solidFill>
                  <a:schemeClr val="lt1"/>
                </a:solidFill>
              </a:defRPr>
            </a:pPr>
            <a:r>
              <a:t>Cuestionario Sorpresa sobre A-E-C-P</a:t>
            </a:r>
            <a:endParaRPr b="1" sz="4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156"/>
          <p:cNvSpPr txBox="1"/>
          <p:nvPr/>
        </p:nvSpPr>
        <p:spPr>
          <a:xfrm>
            <a:off x="269600" y="972075"/>
            <a:ext cx="7962000" cy="3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rgbClr val="DB3514"/>
                </a:solidFill>
              </a:defRPr>
            </a:pPr>
            <a:r>
              <a:t>Padre, madre o cuidador: No puedo evitar sentirme abrumado cuando mi niña o niño se porta mal.</a:t>
            </a:r>
            <a:endParaRPr b="1" i="0" sz="1700" u="none" cap="none" strike="noStrike">
              <a:solidFill>
                <a:srgbClr val="DB351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5"/>
              </a:solidFill>
            </a:endParaRPr>
          </a:p>
          <a:p>
            <a:pPr indent="-349250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900"/>
              <a:buFont typeface="Noto Sans"/>
              <a:buChar char="●"/>
              <a:defRPr sz="19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No te preocupes. Todos los padres, madres y cuidadores aprenden a enfrentarse a estas cosas con el tiempo. </a:t>
            </a:r>
            <a:endParaRPr sz="19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49250" lvl="0" marL="179999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13D5C"/>
              </a:buClr>
              <a:buSzPts val="1900"/>
              <a:buFont typeface="Noto Sans"/>
              <a:buChar char="●"/>
              <a:defRPr sz="19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 normal sentirse abrumado cuando tu niña o niño se porta mal. ¿Nos puedes compartir un poco más sobre lo que hace tu niña o niño en esos momentos? </a:t>
            </a:r>
            <a:endParaRPr sz="19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49250" lvl="0" marL="179999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113D5C"/>
              </a:buClr>
              <a:buSzPts val="1900"/>
              <a:buFont typeface="Noto Sans"/>
              <a:buChar char="●"/>
              <a:defRPr sz="19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 sensación de desesperación irá pasando a medida que tu niña o niño crezca. Sigue así y te irá bien. </a:t>
            </a:r>
            <a:endParaRPr sz="2400">
              <a:solidFill>
                <a:schemeClr val="accent5"/>
              </a:solidFill>
            </a:endParaRPr>
          </a:p>
        </p:txBody>
      </p:sp>
      <p:sp>
        <p:nvSpPr>
          <p:cNvPr id="1574" name="Google Shape;1574;p156"/>
          <p:cNvSpPr/>
          <p:nvPr/>
        </p:nvSpPr>
        <p:spPr>
          <a:xfrm rot="-5400000">
            <a:off x="1921050" y="-1719825"/>
            <a:ext cx="480900" cy="43230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p156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Cuestionario Sorpresa A-E-C-P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157"/>
          <p:cNvSpPr txBox="1"/>
          <p:nvPr/>
        </p:nvSpPr>
        <p:spPr>
          <a:xfrm>
            <a:off x="269600" y="972075"/>
            <a:ext cx="79620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rgbClr val="DB3514"/>
                </a:solidFill>
              </a:defRPr>
            </a:pPr>
            <a:r>
              <a:t>Padre, madre o cuidador: No puedo evitar sentirme abrumado cuando mi niña o niño se porta mal.</a:t>
            </a:r>
            <a:endParaRPr b="1" i="0" sz="1700" u="none" cap="none" strike="noStrike">
              <a:solidFill>
                <a:srgbClr val="DB351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5"/>
              </a:solidFill>
            </a:endParaRPr>
          </a:p>
          <a:p>
            <a:pPr indent="-349250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Noto Sans"/>
              <a:buChar char="●"/>
              <a:defRPr sz="1900">
                <a:solidFill>
                  <a:srgbClr val="00969B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 normal sentirse abrumado cuando tu niña o niño se porta mal. ¿Nos puedes compartir un poco más sobre lo que hace tu niña o niño en esos momentos? </a:t>
            </a:r>
            <a:endParaRPr sz="1900">
              <a:solidFill>
                <a:srgbClr val="00969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228600" rtl="0" algn="l">
              <a:spcBef>
                <a:spcPts val="1000"/>
              </a:spcBef>
              <a:spcAft>
                <a:spcPts val="1000"/>
              </a:spcAft>
              <a:buNone/>
              <a:defRPr i="1" sz="17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 importante reconocer y ACEPTAR las emociones de los padres, madres y cuidadores cuando se enfrentan a situaciones difíciles con sus niños y niñas. Ignorar o menospreciar estos sentimientos puede no ayudar a comprender y resolver los problemas. Entonces, podrás EXPLORAR la situación más detalladamente con el padre, la madre o la persona cuidadora.</a:t>
            </a:r>
            <a:endParaRPr i="1" sz="3000">
              <a:solidFill>
                <a:schemeClr val="accent5"/>
              </a:solidFill>
            </a:endParaRPr>
          </a:p>
        </p:txBody>
      </p:sp>
      <p:sp>
        <p:nvSpPr>
          <p:cNvPr id="1581" name="Google Shape;1581;p157"/>
          <p:cNvSpPr/>
          <p:nvPr/>
        </p:nvSpPr>
        <p:spPr>
          <a:xfrm rot="-5400000">
            <a:off x="1921050" y="-1719825"/>
            <a:ext cx="480900" cy="43230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2" name="Google Shape;1582;p157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Cuestionario Sorpresa A-E-C-P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158"/>
          <p:cNvSpPr txBox="1"/>
          <p:nvPr/>
        </p:nvSpPr>
        <p:spPr>
          <a:xfrm>
            <a:off x="269600" y="972075"/>
            <a:ext cx="79620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rgbClr val="DB3514"/>
                </a:solidFill>
              </a:defRPr>
            </a:pPr>
            <a:r>
              <a:t>Padre, madre o cuidador: ¡No entiendo por qué mi adolescente está tan susceptible últimamente!</a:t>
            </a:r>
            <a:endParaRPr b="1" i="0" sz="1700" u="none" cap="none" strike="noStrike">
              <a:solidFill>
                <a:srgbClr val="DB351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5"/>
              </a:solidFill>
            </a:endParaRPr>
          </a:p>
          <a:p>
            <a:pPr indent="-349250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900"/>
              <a:buFont typeface="Noto Sans"/>
              <a:buChar char="●"/>
              <a:defRPr sz="19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Ya sabes cómo son los adolescentes, es solo una fase.</a:t>
            </a:r>
            <a:endParaRPr sz="19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49250" lvl="0" marL="179999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13D5C"/>
              </a:buClr>
              <a:buSzPts val="1900"/>
              <a:buFont typeface="Noto Sans"/>
              <a:buChar char="●"/>
              <a:defRPr sz="19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Suena complicado y desafiante. ¿Puedes compartir algún momento en el que estuviera de mal humor o susceptible? </a:t>
            </a:r>
            <a:endParaRPr sz="19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49250" lvl="0" marL="179999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13D5C"/>
              </a:buClr>
              <a:buSzPts val="1900"/>
              <a:buFont typeface="Noto Sans"/>
              <a:buChar char="●"/>
              <a:defRPr sz="19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No lo pienses mucho, lo primero que te venga a la mente. Alégrate de que no estén haciendo algo arriesgado. </a:t>
            </a:r>
            <a:endParaRPr sz="19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88" name="Google Shape;1588;p158"/>
          <p:cNvSpPr/>
          <p:nvPr/>
        </p:nvSpPr>
        <p:spPr>
          <a:xfrm rot="-5400000">
            <a:off x="1921050" y="-1719825"/>
            <a:ext cx="480900" cy="43230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158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Cuestionario Sorpresa A-E-C-P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159"/>
          <p:cNvSpPr txBox="1"/>
          <p:nvPr/>
        </p:nvSpPr>
        <p:spPr>
          <a:xfrm>
            <a:off x="269600" y="972075"/>
            <a:ext cx="7962000" cy="31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rgbClr val="DB3514"/>
                </a:solidFill>
              </a:defRPr>
            </a:pPr>
            <a:r>
              <a:t>Padre, madre o cuidador: ¡No entiendo por qué mi adolescente está tan susceptible últimamente! </a:t>
            </a:r>
            <a:endParaRPr b="1" sz="1700">
              <a:solidFill>
                <a:srgbClr val="DB3514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5"/>
              </a:solidFill>
            </a:endParaRPr>
          </a:p>
          <a:p>
            <a:pPr indent="-349250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Noto Sans"/>
              <a:buChar char="●"/>
              <a:defRPr sz="1900">
                <a:solidFill>
                  <a:srgbClr val="00969B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Suena complicado y desafiante. ¿Puedes compartir algún momento en el que estuviera de mal humor o susceptible?</a:t>
            </a:r>
            <a:endParaRPr sz="1900">
              <a:solidFill>
                <a:srgbClr val="00969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None/>
              <a:defRPr i="1" sz="17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Cuando el adolescente parece distanciarse, dedicar tiempo a entender los motivos por los que se comporta así es crucial para los padres, madres o cuidadores. Explora cómo podría haberse sentido el adolescente usando preguntas abiertas. </a:t>
            </a:r>
            <a:endParaRPr i="1" sz="17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228600" rtl="0" algn="l">
              <a:spcBef>
                <a:spcPts val="1000"/>
              </a:spcBef>
              <a:spcAft>
                <a:spcPts val="1000"/>
              </a:spcAft>
              <a:buNone/>
              <a:defRPr i="1" sz="17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Las soluciones simples pueden no abarcar la complejidad de sus sentimientos y situaciones, y pueden conducir a una mala relación entre el adolescente y el padre, la madre o los cuidadores. </a:t>
            </a:r>
            <a:endParaRPr i="1" sz="17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95" name="Google Shape;1595;p159"/>
          <p:cNvSpPr/>
          <p:nvPr/>
        </p:nvSpPr>
        <p:spPr>
          <a:xfrm rot="-5400000">
            <a:off x="1921050" y="-1719825"/>
            <a:ext cx="480900" cy="43230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6" name="Google Shape;1596;p159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Cuestionario Sorpresa A-E-C-P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p160"/>
          <p:cNvSpPr txBox="1"/>
          <p:nvPr/>
        </p:nvSpPr>
        <p:spPr>
          <a:xfrm>
            <a:off x="269600" y="972075"/>
            <a:ext cx="79620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rgbClr val="DB3514"/>
                </a:solidFill>
              </a:defRPr>
            </a:pPr>
            <a:r>
              <a:t>Padre, madre o cuidador: Creo que este curso no está relacionado con mi vida y mis problemas.</a:t>
            </a:r>
            <a:endParaRPr b="1" i="0" sz="1700" u="none" cap="none" strike="noStrike">
              <a:solidFill>
                <a:srgbClr val="DB351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5"/>
              </a:solidFill>
            </a:endParaRPr>
          </a:p>
          <a:p>
            <a:pPr indent="-349250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900"/>
              <a:buFont typeface="Noto Sans"/>
              <a:buChar char="●"/>
              <a:defRPr sz="19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Tal vez no puedas verlo todavía. Sigue intentándolo. </a:t>
            </a:r>
            <a:endParaRPr sz="19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49250" lvl="0" marL="179999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13D5C"/>
              </a:buClr>
              <a:buSzPts val="1900"/>
              <a:buFont typeface="Noto Sans"/>
              <a:buChar char="●"/>
              <a:defRPr sz="19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 normal que te sientas así, sigue adelante con el curso. </a:t>
            </a:r>
            <a:endParaRPr sz="19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49250" lvl="0" marL="179999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13D5C"/>
              </a:buClr>
              <a:buSzPts val="1900"/>
              <a:buFont typeface="Noto Sans"/>
              <a:buChar char="●"/>
              <a:defRPr sz="19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Entiendo que pueda parecer algo nuevo. ¿Puedes compartir más información sobre los problemas con los que estás luchando? </a:t>
            </a:r>
            <a:endParaRPr sz="19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02" name="Google Shape;1602;p160"/>
          <p:cNvSpPr/>
          <p:nvPr/>
        </p:nvSpPr>
        <p:spPr>
          <a:xfrm rot="-5400000">
            <a:off x="1921050" y="-1719825"/>
            <a:ext cx="480900" cy="43230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3" name="Google Shape;1603;p160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Cuestionario Sorpresa A-E-C-P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161"/>
          <p:cNvSpPr txBox="1"/>
          <p:nvPr/>
        </p:nvSpPr>
        <p:spPr>
          <a:xfrm>
            <a:off x="269600" y="972075"/>
            <a:ext cx="79620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rgbClr val="DB3514"/>
                </a:solidFill>
              </a:defRPr>
            </a:pPr>
            <a:r>
              <a:t>Padre, madre o cuidador: Creo que este curso no está relacionado con mi vida y mis problemas. </a:t>
            </a:r>
            <a:endParaRPr b="1" sz="1700">
              <a:solidFill>
                <a:srgbClr val="DB351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sz="1700">
              <a:solidFill>
                <a:srgbClr val="DB3514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5"/>
              </a:solidFill>
            </a:endParaRPr>
          </a:p>
          <a:p>
            <a:pPr indent="-349250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Noto Sans"/>
              <a:buChar char="●"/>
              <a:defRPr sz="1900">
                <a:solidFill>
                  <a:srgbClr val="00969B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Entiendo que pueda parecer algo nuevo. ¿Puedes compartir más información sobre los problemas con los que estás luchando? 	</a:t>
            </a:r>
            <a:endParaRPr sz="1900">
              <a:solidFill>
                <a:srgbClr val="00969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228600" rtl="0" algn="l">
              <a:spcBef>
                <a:spcPts val="1000"/>
              </a:spcBef>
              <a:spcAft>
                <a:spcPts val="1000"/>
              </a:spcAft>
              <a:buNone/>
              <a:defRPr i="1" sz="17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Si las personas participantes sienten que los conceptos del programa están desconectados de su vida, no pasa nada. Explorar sus luchas puede ayudar a reducir esa distancia y hacer que el programa sea más relevante para sus experiencias.</a:t>
            </a:r>
            <a:endParaRPr i="1" sz="17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09" name="Google Shape;1609;p161"/>
          <p:cNvSpPr/>
          <p:nvPr/>
        </p:nvSpPr>
        <p:spPr>
          <a:xfrm rot="-5400000">
            <a:off x="1921050" y="-1719825"/>
            <a:ext cx="480900" cy="43230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0" name="Google Shape;1610;p161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Cuestionario Sorpresa A-E-C-P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p162"/>
          <p:cNvSpPr txBox="1"/>
          <p:nvPr/>
        </p:nvSpPr>
        <p:spPr>
          <a:xfrm>
            <a:off x="269600" y="972075"/>
            <a:ext cx="79620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rgbClr val="DB3514"/>
                </a:solidFill>
              </a:defRPr>
            </a:pPr>
            <a:r>
              <a:t>Padre, madre o cuidador: Gracias por la plática. Agradezco el apoyo.</a:t>
            </a:r>
            <a:endParaRPr b="1" i="0" sz="1700" u="none" cap="none" strike="noStrike">
              <a:solidFill>
                <a:srgbClr val="DB351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5"/>
              </a:solidFill>
            </a:endParaRPr>
          </a:p>
          <a:p>
            <a:pPr indent="-349250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900"/>
              <a:buFont typeface="Noto Sans"/>
              <a:buChar char="●"/>
              <a:defRPr sz="19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Me alegro de haber podido ayudar. Recuerda que cuentas con apoyo y que no pasa nada si pides ayuda. </a:t>
            </a:r>
            <a:endParaRPr sz="19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49250" lvl="0" marL="179999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13D5C"/>
              </a:buClr>
              <a:buSzPts val="1900"/>
              <a:buFont typeface="Noto Sans"/>
              <a:buChar char="●"/>
              <a:defRPr sz="19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Con el tiempo vas a ir aprendiendo a resolver las dificultades. </a:t>
            </a:r>
            <a:endParaRPr sz="19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49250" lvl="0" marL="179999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13D5C"/>
              </a:buClr>
              <a:buSzPts val="1900"/>
              <a:buFont typeface="Noto Sans"/>
              <a:buChar char="●"/>
              <a:defRPr sz="19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No hay problema, eres una persona fuerte. No necesitas mucha ayuda. </a:t>
            </a:r>
            <a:endParaRPr sz="19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16" name="Google Shape;1616;p162"/>
          <p:cNvSpPr/>
          <p:nvPr/>
        </p:nvSpPr>
        <p:spPr>
          <a:xfrm rot="-5400000">
            <a:off x="1921050" y="-1719825"/>
            <a:ext cx="480900" cy="43230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7" name="Google Shape;1617;p162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Cuestionario Sorpresa A-E-C-P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163"/>
          <p:cNvSpPr txBox="1"/>
          <p:nvPr/>
        </p:nvSpPr>
        <p:spPr>
          <a:xfrm>
            <a:off x="269600" y="972075"/>
            <a:ext cx="7962000" cy="25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rgbClr val="DB3514"/>
                </a:solidFill>
              </a:defRPr>
            </a:pPr>
            <a:r>
              <a:t>Padre, madre o cuidador: Gracias por la plática. Agradezco el apoyo. </a:t>
            </a:r>
            <a:endParaRPr b="1" sz="1700">
              <a:solidFill>
                <a:srgbClr val="DB3514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5"/>
              </a:solidFill>
            </a:endParaRPr>
          </a:p>
          <a:p>
            <a:pPr indent="-349250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Noto Sans"/>
              <a:buChar char="●"/>
              <a:defRPr sz="1900">
                <a:solidFill>
                  <a:srgbClr val="00969B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Me alegro de haber podido ayudar. Recuerda que cuentas con apoyo y que no pasa nada si pides ayuda.</a:t>
            </a:r>
            <a:endParaRPr sz="1900">
              <a:solidFill>
                <a:srgbClr val="00969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228600" rtl="0" algn="l">
              <a:spcBef>
                <a:spcPts val="1000"/>
              </a:spcBef>
              <a:spcAft>
                <a:spcPts val="1000"/>
              </a:spcAft>
              <a:buNone/>
              <a:defRPr i="1" sz="17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Al enfatizar la empatía en nuestras respuestas, creamos un espacio en el que las personas se sienten escuchadas, apoyadas y motivadas a buscar ayuda cuando es necesario.</a:t>
            </a:r>
            <a:endParaRPr i="1" sz="17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23" name="Google Shape;1623;p163"/>
          <p:cNvSpPr/>
          <p:nvPr/>
        </p:nvSpPr>
        <p:spPr>
          <a:xfrm rot="-5400000">
            <a:off x="1921050" y="-1719825"/>
            <a:ext cx="480900" cy="43230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4" name="Google Shape;1624;p163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Cuestionario Sorpresa A-E-C-P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878"/>
        </a:solidFill>
      </p:bgPr>
    </p:bg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p164"/>
          <p:cNvSpPr txBox="1"/>
          <p:nvPr/>
        </p:nvSpPr>
        <p:spPr>
          <a:xfrm>
            <a:off x="387450" y="2943925"/>
            <a:ext cx="7821300" cy="14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chemeClr val="lt1"/>
                </a:solidFill>
              </a:defRPr>
            </a:pPr>
            <a:r>
              <a:t>Módulo 7: Salvaguarda y Protección</a:t>
            </a:r>
            <a:endParaRPr b="1"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165"/>
          <p:cNvSpPr txBox="1"/>
          <p:nvPr/>
        </p:nvSpPr>
        <p:spPr>
          <a:xfrm>
            <a:off x="269600" y="972075"/>
            <a:ext cx="79620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rgbClr val="DB3514"/>
                </a:solidFill>
              </a:defRPr>
            </a:pPr>
            <a:r>
              <a:t>¿Qué significa "salvaguardar"? </a:t>
            </a:r>
            <a:endParaRPr b="1" i="0" sz="1700" u="none" cap="none" strike="noStrike">
              <a:solidFill>
                <a:srgbClr val="DB351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pPr>
            <a:r>
              <a:t>Proteger la salud, el bienestar y los derechos humanos de todas las personas, garantizando una vida libre de daños, abusos y negligencias.</a:t>
            </a:r>
            <a:endParaRPr sz="1600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pPr>
            <a:r>
              <a:t>Independientemente de su edad, identidad de género, discapacidad, orientación sexual, religión u origen étnico, todas las personas que participan en nuestro programa tienen derecho a ser protegidas contra cualquier forma de daño, abuso, negligencia y explotación por parte de cualquier persona asociada.</a:t>
            </a:r>
            <a:endParaRPr b="0" i="0" sz="16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5" name="Google Shape;1635;p165"/>
          <p:cNvSpPr/>
          <p:nvPr/>
        </p:nvSpPr>
        <p:spPr>
          <a:xfrm rot="-5400000">
            <a:off x="1921050" y="-1719825"/>
            <a:ext cx="480900" cy="43230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6" name="Google Shape;1636;p165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Salvaguardar las Infancias y Adolescencias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p166"/>
          <p:cNvSpPr txBox="1"/>
          <p:nvPr/>
        </p:nvSpPr>
        <p:spPr>
          <a:xfrm>
            <a:off x="297300" y="790125"/>
            <a:ext cx="8549400" cy="4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rgbClr val="DB3514"/>
                </a:solidFill>
              </a:defRPr>
            </a:pPr>
            <a:r>
              <a:t>Comprender el abuso, la negligencia y la explotación</a:t>
            </a:r>
            <a:endParaRPr b="1" i="0" sz="1700" u="none" cap="none" strike="noStrike">
              <a:solidFill>
                <a:srgbClr val="DB351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pPr>
            <a:r>
              <a:rPr b="1"/>
              <a:t>El abuso</a:t>
            </a:r>
            <a:r>
              <a:t> se refiere a un acto deliberado de maltrato que puede dañar la seguridad, el bienestar, la dignidad y el desarrollo de la niña o niño. El abuso incluye todas las formas de maltrato físico, sexual, psicológico y emocional. (Definición de Save the Children)</a:t>
            </a:r>
            <a:endParaRPr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pPr>
            <a:r>
              <a:rPr b="1"/>
              <a:t>Violencia contra los niños </a:t>
            </a:r>
            <a:r>
              <a:t>se define como formas de violencia física o mental, daños y abusos, negligencia o trato negligente o malos tratos o explotación, incluidos los abusos sexuales. (Oficina del Alto Comisionado para los Derechos Humanos, 1990, Artículo 19)</a:t>
            </a:r>
            <a:endParaRPr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pPr>
            <a:r>
              <a:t> </a:t>
            </a:r>
            <a:r>
              <a:rPr b="1"/>
              <a:t>La explotación infantil </a:t>
            </a:r>
            <a:r>
              <a:t>se refiere a la utilización de la niña o niño para su beneficio económico o sexual, para su gratificación o lucro, que a menudo da lugar a un trato injusto, cruel y perjudicial para el niño. (Definición de Save the Children)</a:t>
            </a:r>
            <a:endParaRPr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5"/>
              </a:solidFill>
            </a:endParaRPr>
          </a:p>
        </p:txBody>
      </p:sp>
      <p:sp>
        <p:nvSpPr>
          <p:cNvPr id="1642" name="Google Shape;1642;p166"/>
          <p:cNvSpPr/>
          <p:nvPr/>
        </p:nvSpPr>
        <p:spPr>
          <a:xfrm rot="-5400000">
            <a:off x="1921050" y="-1719825"/>
            <a:ext cx="480900" cy="43230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3" name="Google Shape;1643;p166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Salvaguardar y Proteger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167"/>
          <p:cNvSpPr txBox="1"/>
          <p:nvPr/>
        </p:nvSpPr>
        <p:spPr>
          <a:xfrm>
            <a:off x="297300" y="790125"/>
            <a:ext cx="85494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rgbClr val="DB3514"/>
                </a:solidFill>
              </a:defRPr>
            </a:pPr>
            <a:r>
              <a:t>Informar sobre Acusaciones de Explotación y Denuncias de Abuso Sexual contra empleados de PLH: </a:t>
            </a:r>
            <a:endParaRPr b="1" i="0" sz="1700" u="none" cap="none" strike="noStrike">
              <a:solidFill>
                <a:srgbClr val="DB351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pPr>
            <a:r>
              <a:t>PLH y sus socios disponen de mecanismos y procedimientos seguros, confidenciales y accesibles para que el personal, los beneficiarios y las comunidades, incluidos los niños u niñas, informen sobre denuncias de Abuso y Explotación Sexual.</a:t>
            </a:r>
            <a:endParaRPr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accent5"/>
                </a:solidFill>
              </a:rPr>
              <a:t>Los miembros de PLH se comprometen a proteger la identidad, privacidad y seguridad de cualquier persona que presente denuncias sobre AES relacionadas con la organización.</a:t>
            </a:r>
            <a:br>
              <a:rPr lang="en-US">
                <a:solidFill>
                  <a:schemeClr val="accent5"/>
                </a:solidFill>
              </a:rPr>
            </a:br>
            <a:br>
              <a:rPr lang="en-US">
                <a:solidFill>
                  <a:schemeClr val="accent5"/>
                </a:solidFill>
              </a:rPr>
            </a:br>
            <a:r>
              <a:rPr b="1">
                <a:solidFill>
                  <a:schemeClr val="accent5"/>
                </a:solidFill>
              </a:rPr>
              <a:t>Si tienes alguna denuncia sobre AES contra PLH, puedes </a:t>
            </a:r>
            <a:r>
              <a:rPr b="1" u="sng">
                <a:solidFill>
                  <a:schemeClr val="hlink"/>
                </a:solidFill>
                <a:hlinkClick r:id="rId3"/>
              </a:rPr>
              <a:t>llenar este formulario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649" name="Google Shape;1649;p167"/>
          <p:cNvSpPr/>
          <p:nvPr/>
        </p:nvSpPr>
        <p:spPr>
          <a:xfrm rot="-5400000">
            <a:off x="1921050" y="-1719825"/>
            <a:ext cx="480900" cy="43230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0" name="Google Shape;1650;p167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Salvaguardar y Proteger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p168"/>
          <p:cNvSpPr txBox="1"/>
          <p:nvPr/>
        </p:nvSpPr>
        <p:spPr>
          <a:xfrm>
            <a:off x="4439075" y="287775"/>
            <a:ext cx="5567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>
                <a:solidFill>
                  <a:srgbClr val="DB3514"/>
                </a:solidFill>
              </a:defRPr>
            </a:pPr>
            <a:r>
              <a:t>Salvaguardar y Proteger en el chatbot de Crianza con Conciencia + </a:t>
            </a:r>
            <a:endParaRPr sz="1100">
              <a:solidFill>
                <a:schemeClr val="accent5"/>
              </a:solidFill>
            </a:endParaRPr>
          </a:p>
        </p:txBody>
      </p:sp>
      <p:sp>
        <p:nvSpPr>
          <p:cNvPr id="1656" name="Google Shape;1656;p168"/>
          <p:cNvSpPr/>
          <p:nvPr/>
        </p:nvSpPr>
        <p:spPr>
          <a:xfrm rot="-5400000">
            <a:off x="1921050" y="-1719825"/>
            <a:ext cx="480900" cy="43230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7" name="Google Shape;1657;p168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Salvaguardar y Proteger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8" name="Google Shape;1658;p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4716" y="756575"/>
            <a:ext cx="1709285" cy="3700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9" name="Google Shape;1659;p1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1010" y="756575"/>
            <a:ext cx="1709285" cy="3700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0" name="Google Shape;1660;p1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47304" y="756575"/>
            <a:ext cx="1709285" cy="3700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1" name="Google Shape;1661;p1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93981" y="756575"/>
            <a:ext cx="1709285" cy="3700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2" name="Google Shape;1662;p1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756575"/>
            <a:ext cx="1709285" cy="3700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169"/>
          <p:cNvSpPr txBox="1"/>
          <p:nvPr/>
        </p:nvSpPr>
        <p:spPr>
          <a:xfrm>
            <a:off x="297300" y="790125"/>
            <a:ext cx="8549400" cy="3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2000">
                <a:solidFill>
                  <a:srgbClr val="DB3514"/>
                </a:solidFill>
              </a:defRPr>
            </a:pPr>
            <a:r>
              <a:t>¿Cuál es tu responsabilidad durante la sesión de chat presencial y en línea? </a:t>
            </a:r>
            <a:endParaRPr b="1" i="0" sz="2000" u="none" cap="none" strike="noStrike">
              <a:solidFill>
                <a:srgbClr val="DB351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b="1" sz="1700">
                <a:solidFill>
                  <a:schemeClr val="accent5"/>
                </a:solidFill>
              </a:defRPr>
            </a:pPr>
            <a:r>
              <a:t>Conoce las Políticas de Salvaguarda para las Infancias y Adolescencias, además de los procedimientos de remisión de tu organización </a:t>
            </a:r>
            <a:endParaRPr b="1" sz="1700">
              <a:solidFill>
                <a:schemeClr val="accent5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0D3F5E"/>
              </a:buClr>
              <a:buSzPts val="1800"/>
              <a:buFont typeface="Roboto"/>
              <a:buChar char="●"/>
              <a:defRPr sz="1800">
                <a:solidFill>
                  <a:srgbClr val="0D3F5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defRPr>
            </a:pPr>
            <a:r>
              <a:t>Protocolo para saber a quién debes de informar dentro de tu organización y cómo recurrir a recursos externos como las autoridades locales o vías para derivar o canalizar un caso.</a:t>
            </a:r>
            <a:endParaRPr sz="1800">
              <a:solidFill>
                <a:srgbClr val="0D3F5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3F5E"/>
              </a:buClr>
              <a:buSzPts val="1800"/>
              <a:buFont typeface="Roboto"/>
              <a:buChar char="●"/>
              <a:defRPr sz="1800">
                <a:solidFill>
                  <a:srgbClr val="0D3F5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defRPr>
            </a:pPr>
            <a:r>
              <a:t>Asume la responsabilidad de responder ante revelaciones de abusos pasados o presentes.</a:t>
            </a:r>
            <a:endParaRPr sz="1800">
              <a:solidFill>
                <a:srgbClr val="0D3F5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3F5E"/>
              </a:buClr>
              <a:buSzPts val="1800"/>
              <a:buFont typeface="Roboto"/>
              <a:buChar char="●"/>
              <a:defRPr sz="1800">
                <a:solidFill>
                  <a:srgbClr val="0D3F5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defRPr>
            </a:pPr>
            <a:r>
              <a:t>Discute la situación con tu supervisor para acordar los pasos a seguir.</a:t>
            </a:r>
            <a:endParaRPr sz="1800">
              <a:solidFill>
                <a:srgbClr val="0D3F5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3F5E"/>
              </a:buClr>
              <a:buSzPts val="1800"/>
              <a:buFont typeface="Roboto"/>
              <a:buChar char="●"/>
              <a:defRPr sz="1800">
                <a:solidFill>
                  <a:srgbClr val="0D3F5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defRPr>
            </a:pPr>
            <a:r>
              <a:t>Recuerda que no se espera que resuelvas la situación tú solo o sola.</a:t>
            </a:r>
            <a:endParaRPr sz="1800">
              <a:solidFill>
                <a:srgbClr val="0D3F5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8" name="Google Shape;1668;p169"/>
          <p:cNvSpPr/>
          <p:nvPr/>
        </p:nvSpPr>
        <p:spPr>
          <a:xfrm rot="-5400000">
            <a:off x="1921050" y="-1719825"/>
            <a:ext cx="480900" cy="43230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9" name="Google Shape;1669;p169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Salvaguardar y Proteger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p170"/>
          <p:cNvSpPr txBox="1"/>
          <p:nvPr/>
        </p:nvSpPr>
        <p:spPr>
          <a:xfrm>
            <a:off x="297300" y="790125"/>
            <a:ext cx="8549400" cy="27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rgbClr val="DB3514"/>
                </a:solidFill>
              </a:defRPr>
            </a:pPr>
            <a:r>
              <a:t>¿Cuál es tu responsabilidad durante la sesión de chat presencial y en línea? </a:t>
            </a:r>
            <a:endParaRPr b="1" i="0" sz="1700" u="none" cap="none" strike="noStrike">
              <a:solidFill>
                <a:srgbClr val="DB351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pPr>
            <a:r>
              <a:t>Asegúrate de que los padres, madres y cuidadores sepan que eres alguien que puede ayudarles</a:t>
            </a:r>
            <a:endParaRPr b="1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  <a:defRPr sz="1500">
                <a:solidFill>
                  <a:srgbClr val="0D3F5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defRPr>
            </a:pPr>
            <a:r>
              <a:t>Los padres, madres y cuidadores que participan en tus sesiones deben saber que pueden acudir a ti en busca de ayuda, independientemente de cuándo se dieron los abusos.</a:t>
            </a:r>
            <a:endParaRPr sz="1500">
              <a:solidFill>
                <a:srgbClr val="0D3F5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  <a:defRPr sz="1500">
                <a:solidFill>
                  <a:srgbClr val="0D3F5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defRPr>
            </a:pPr>
            <a:r>
              <a:t>Debes asegurarte de que sepan que pueden confiar en ti y que les escucharás y apoyarás sin juzgarles ni hacerles daño.</a:t>
            </a:r>
            <a:endParaRPr sz="1500">
              <a:solidFill>
                <a:srgbClr val="0D3F5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endParaRPr sz="1500">
              <a:solidFill>
                <a:srgbClr val="0D3F5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5" name="Google Shape;1675;p170"/>
          <p:cNvSpPr/>
          <p:nvPr/>
        </p:nvSpPr>
        <p:spPr>
          <a:xfrm rot="-5400000">
            <a:off x="1921050" y="-1719825"/>
            <a:ext cx="480900" cy="43230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170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Salvaguardar y Proteger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171"/>
          <p:cNvSpPr txBox="1"/>
          <p:nvPr/>
        </p:nvSpPr>
        <p:spPr>
          <a:xfrm>
            <a:off x="297300" y="790125"/>
            <a:ext cx="8549400" cy="3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600">
                <a:solidFill>
                  <a:srgbClr val="DB3514"/>
                </a:solidFill>
              </a:defRPr>
            </a:pPr>
            <a:r>
              <a:t>¿Qué hacer cuando un participante revela un abuso, negligencia o explotación? </a:t>
            </a:r>
            <a:endParaRPr b="1" i="0" sz="1600" u="none" cap="none" strike="noStrike">
              <a:solidFill>
                <a:srgbClr val="DB351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accent5"/>
              </a:solidFill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4060"/>
              </a:buClr>
              <a:buSzPts val="1300"/>
              <a:buChar char="●"/>
              <a:defRPr sz="1300">
                <a:solidFill>
                  <a:srgbClr val="0B4060"/>
                </a:solidFill>
              </a:defRPr>
            </a:pPr>
            <a:r>
              <a:t>Proporcionar un entorno seguro en el que el participante pueda compartir su historia.</a:t>
            </a:r>
            <a:endParaRPr sz="1300">
              <a:solidFill>
                <a:srgbClr val="0B4060"/>
              </a:solidFill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300"/>
              <a:buChar char="●"/>
              <a:defRPr sz="1300">
                <a:solidFill>
                  <a:srgbClr val="0B4060"/>
                </a:solidFill>
              </a:defRPr>
            </a:pPr>
            <a:r>
              <a:t> Escuchar atentamente al participante y tomar notas: qué/cuándo/dónde/quién.</a:t>
            </a:r>
            <a:endParaRPr sz="1300">
              <a:solidFill>
                <a:srgbClr val="0B4060"/>
              </a:solidFill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300"/>
              <a:buChar char="●"/>
              <a:defRPr sz="1300">
                <a:solidFill>
                  <a:srgbClr val="0B4060"/>
                </a:solidFill>
              </a:defRPr>
            </a:pPr>
            <a:r>
              <a:t>Determinar si el participante está en peligro inmediato y qué ayuda está disponible.</a:t>
            </a:r>
            <a:endParaRPr sz="1300">
              <a:solidFill>
                <a:srgbClr val="0B4060"/>
              </a:solidFill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300"/>
              <a:buChar char="●"/>
              <a:defRPr sz="1300">
                <a:solidFill>
                  <a:srgbClr val="0B4060"/>
                </a:solidFill>
              </a:defRPr>
            </a:pPr>
            <a:r>
              <a:t>Asegurar que el participante siente que el facilitador le cree.</a:t>
            </a:r>
            <a:endParaRPr sz="1300">
              <a:solidFill>
                <a:srgbClr val="0B4060"/>
              </a:solidFill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300"/>
              <a:buChar char="●"/>
              <a:defRPr sz="1300">
                <a:solidFill>
                  <a:srgbClr val="0B4060"/>
                </a:solidFill>
              </a:defRPr>
            </a:pPr>
            <a:r>
              <a:t>Hacerle saber que ha hecho lo correcto compartiendo su historia con el facilitador.</a:t>
            </a:r>
            <a:endParaRPr sz="1300">
              <a:solidFill>
                <a:srgbClr val="0B4060"/>
              </a:solidFill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300"/>
              <a:buChar char="●"/>
              <a:defRPr sz="1300">
                <a:solidFill>
                  <a:srgbClr val="0B4060"/>
                </a:solidFill>
              </a:defRPr>
            </a:pPr>
            <a:r>
              <a:t>Ser comprensivo y no juzgar sus respuestas: ¡evita culpar en todo momento!</a:t>
            </a:r>
            <a:endParaRPr sz="1300">
              <a:solidFill>
                <a:srgbClr val="0B4060"/>
              </a:solidFill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300"/>
              <a:buChar char="●"/>
              <a:defRPr sz="1300">
                <a:solidFill>
                  <a:srgbClr val="0B4060"/>
                </a:solidFill>
              </a:defRPr>
            </a:pPr>
            <a:r>
              <a:t>Hacerle saber al participante que compartirás lo que te ha contado con tu supervisor para encontrar una forma de apoyarle y protegerle.</a:t>
            </a:r>
            <a:endParaRPr sz="1300">
              <a:solidFill>
                <a:srgbClr val="0B4060"/>
              </a:solidFill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4060"/>
              </a:buClr>
              <a:buSzPts val="1300"/>
              <a:buChar char="●"/>
              <a:defRPr sz="1300">
                <a:solidFill>
                  <a:srgbClr val="0B4060"/>
                </a:solidFill>
              </a:defRPr>
            </a:pPr>
            <a:r>
              <a:t>Explicar lo que harás a continuación. </a:t>
            </a:r>
            <a:endParaRPr sz="1300">
              <a:solidFill>
                <a:srgbClr val="0B4060"/>
              </a:solidFill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B4060"/>
              </a:buClr>
              <a:buSzPts val="1300"/>
              <a:buChar char="●"/>
              <a:defRPr sz="1300">
                <a:solidFill>
                  <a:srgbClr val="0B4060"/>
                </a:solidFill>
              </a:defRPr>
            </a:pPr>
            <a:r>
              <a:t>Avisar a tu supervisor. </a:t>
            </a:r>
            <a:endParaRPr>
              <a:solidFill>
                <a:srgbClr val="0D3F5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2" name="Google Shape;1682;p171"/>
          <p:cNvSpPr/>
          <p:nvPr/>
        </p:nvSpPr>
        <p:spPr>
          <a:xfrm rot="-5400000">
            <a:off x="1921050" y="-1719825"/>
            <a:ext cx="480900" cy="43230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3" name="Google Shape;1683;p171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Salvaguardar y Proteger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172"/>
          <p:cNvSpPr txBox="1"/>
          <p:nvPr/>
        </p:nvSpPr>
        <p:spPr>
          <a:xfrm>
            <a:off x="297300" y="790125"/>
            <a:ext cx="854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rgbClr val="DB3514"/>
                </a:solidFill>
              </a:defRPr>
            </a:pPr>
            <a:r>
              <a:t>Información sobre políticas de salvaguarda y protección en la App Formando Conciencia + </a:t>
            </a:r>
            <a:endParaRPr sz="1500">
              <a:solidFill>
                <a:srgbClr val="0D3F5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9" name="Google Shape;1689;p172"/>
          <p:cNvSpPr/>
          <p:nvPr/>
        </p:nvSpPr>
        <p:spPr>
          <a:xfrm rot="-5400000">
            <a:off x="1921050" y="-1719825"/>
            <a:ext cx="480900" cy="43230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0" name="Google Shape;1690;p172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Salvaguardar y Proteger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1" name="Google Shape;1691;p1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100" y="1296525"/>
            <a:ext cx="3512975" cy="345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2" name="Google Shape;1692;p1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0075" y="1573588"/>
            <a:ext cx="4836802" cy="2899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173"/>
          <p:cNvSpPr txBox="1"/>
          <p:nvPr/>
        </p:nvSpPr>
        <p:spPr>
          <a:xfrm>
            <a:off x="297300" y="973000"/>
            <a:ext cx="4025700" cy="22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2000">
                <a:solidFill>
                  <a:srgbClr val="DB3514"/>
                </a:solidFill>
              </a:defRPr>
            </a:pPr>
            <a:r>
              <a:t>¿Dónde encontrar la solución? </a:t>
            </a:r>
            <a:endParaRPr b="1" sz="2000">
              <a:solidFill>
                <a:srgbClr val="DB3514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 sz="19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Explorar la sección de Salvaguardar y Proteger en Formando Conciencia +</a:t>
            </a:r>
            <a:br>
              <a:rPr lang="en-US" sz="19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rPr>
            </a:br>
            <a:br>
              <a:rPr lang="en-US" sz="19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t>Informar a tu supervisor</a:t>
            </a:r>
            <a:endParaRPr sz="19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98" name="Google Shape;1698;p173"/>
          <p:cNvSpPr/>
          <p:nvPr/>
        </p:nvSpPr>
        <p:spPr>
          <a:xfrm rot="-5400000">
            <a:off x="1921050" y="-1719825"/>
            <a:ext cx="480900" cy="43230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9" name="Google Shape;1699;p173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Abordar los Retos y Desafíos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0" name="Google Shape;1700;p1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0200" y="385700"/>
            <a:ext cx="4239651" cy="4168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878"/>
        </a:solidFill>
      </p:bgPr>
    </p:bg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174"/>
          <p:cNvSpPr txBox="1"/>
          <p:nvPr/>
        </p:nvSpPr>
        <p:spPr>
          <a:xfrm>
            <a:off x="387450" y="2269675"/>
            <a:ext cx="8367000" cy="14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chemeClr val="lt1"/>
                </a:solidFill>
              </a:defRPr>
            </a:pPr>
            <a:r>
              <a:t>¿Cómo abordar los retos a los que podrías enfrentarte?</a:t>
            </a:r>
            <a:endParaRPr b="1"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175"/>
          <p:cNvSpPr txBox="1"/>
          <p:nvPr/>
        </p:nvSpPr>
        <p:spPr>
          <a:xfrm>
            <a:off x="297300" y="973000"/>
            <a:ext cx="4542900" cy="11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2000">
                <a:solidFill>
                  <a:srgbClr val="DB3514"/>
                </a:solidFill>
              </a:defRPr>
            </a:pPr>
            <a:r>
              <a:t>¿Dónde encontrar la solución? </a:t>
            </a:r>
            <a:endParaRPr b="1" sz="2000">
              <a:solidFill>
                <a:srgbClr val="DB3514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 sz="19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Explorar la sección de Preguntas Frecuentes de Formando Conciencia +</a:t>
            </a:r>
            <a:endParaRPr sz="2400">
              <a:solidFill>
                <a:srgbClr val="113D5C"/>
              </a:solidFill>
            </a:endParaRPr>
          </a:p>
        </p:txBody>
      </p:sp>
      <p:sp>
        <p:nvSpPr>
          <p:cNvPr id="1711" name="Google Shape;1711;p175"/>
          <p:cNvSpPr/>
          <p:nvPr/>
        </p:nvSpPr>
        <p:spPr>
          <a:xfrm rot="-5400000">
            <a:off x="1921050" y="-1719825"/>
            <a:ext cx="480900" cy="43230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2" name="Google Shape;1712;p175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Abordar los Retos y Desafíos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3" name="Google Shape;1713;p1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5475" y="139550"/>
            <a:ext cx="3561775" cy="451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176"/>
          <p:cNvSpPr txBox="1"/>
          <p:nvPr/>
        </p:nvSpPr>
        <p:spPr>
          <a:xfrm>
            <a:off x="297300" y="973000"/>
            <a:ext cx="4542900" cy="16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2000">
                <a:solidFill>
                  <a:srgbClr val="DB3514"/>
                </a:solidFill>
              </a:defRPr>
            </a:pPr>
            <a:r>
              <a:t>¿Dónde encontrar la solución? </a:t>
            </a:r>
            <a:endParaRPr b="1" sz="2000">
              <a:solidFill>
                <a:srgbClr val="DB3514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 sz="19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Explorar la sección Retos y Desafíos Comunes de Formando Conciencia +</a:t>
            </a:r>
            <a:endParaRPr sz="19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19" name="Google Shape;1719;p176"/>
          <p:cNvSpPr/>
          <p:nvPr/>
        </p:nvSpPr>
        <p:spPr>
          <a:xfrm rot="-5400000">
            <a:off x="1921050" y="-1719825"/>
            <a:ext cx="480900" cy="43230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0" name="Google Shape;1720;p176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Abordar los Retos y Desafíos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1" name="Google Shape;1721;p1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4900" y="1066950"/>
            <a:ext cx="4031775" cy="340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177"/>
          <p:cNvSpPr txBox="1"/>
          <p:nvPr/>
        </p:nvSpPr>
        <p:spPr>
          <a:xfrm>
            <a:off x="297300" y="1124850"/>
            <a:ext cx="85494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2000">
                <a:solidFill>
                  <a:srgbClr val="DB3514"/>
                </a:solidFill>
              </a:rPr>
              <a:t>What to do when: </a:t>
            </a:r>
            <a:endParaRPr b="1" sz="2000">
              <a:solidFill>
                <a:srgbClr val="DB351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2000">
              <a:solidFill>
                <a:srgbClr val="DB3514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rPr>
              <a:t>A parent needs support accessing </a:t>
            </a:r>
            <a:r>
              <a:rPr b="1" lang="en-US" sz="20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rPr>
              <a:t>ParentText,</a:t>
            </a:r>
            <a:r>
              <a:rPr b="1" lang="en-US" sz="20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rPr>
              <a:t> and I'm not sure how to answer their question.</a:t>
            </a:r>
            <a:endParaRPr b="1" sz="20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rPr>
              <a:t>Reach out to your supervisor </a:t>
            </a:r>
            <a:endParaRPr i="1" sz="20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27" name="Google Shape;1727;p177"/>
          <p:cNvSpPr/>
          <p:nvPr/>
        </p:nvSpPr>
        <p:spPr>
          <a:xfrm rot="-5400000">
            <a:off x="1921050" y="-1719825"/>
            <a:ext cx="480900" cy="43230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8" name="Google Shape;1728;p177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Addressing Challenges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178"/>
          <p:cNvSpPr txBox="1"/>
          <p:nvPr/>
        </p:nvSpPr>
        <p:spPr>
          <a:xfrm>
            <a:off x="297300" y="790125"/>
            <a:ext cx="4025700" cy="26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rgbClr val="DB3514"/>
                </a:solidFill>
              </a:defRPr>
            </a:pPr>
            <a:r>
              <a:t>Qué hacer cuando: </a:t>
            </a:r>
            <a:endParaRPr b="1" sz="1700">
              <a:solidFill>
                <a:srgbClr val="DB351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sz="1700">
              <a:solidFill>
                <a:srgbClr val="DB3514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7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Un participante no se compromete con las reglas generales</a:t>
            </a:r>
            <a:endParaRPr b="1" sz="17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  <a:defRPr i="1" sz="17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Sigue la guía de "Un padre, madre o cuidador no se compromete con las reglas generales" en Formando Conciencia +</a:t>
            </a:r>
            <a:endParaRPr i="1" sz="17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34" name="Google Shape;1734;p178"/>
          <p:cNvSpPr/>
          <p:nvPr/>
        </p:nvSpPr>
        <p:spPr>
          <a:xfrm rot="-5400000">
            <a:off x="1921050" y="-1719825"/>
            <a:ext cx="480900" cy="43230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5" name="Google Shape;1735;p178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Abordar los Retos y Desafíos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6" name="Google Shape;1736;p1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0475" y="832838"/>
            <a:ext cx="4430324" cy="3477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p179"/>
          <p:cNvSpPr txBox="1"/>
          <p:nvPr/>
        </p:nvSpPr>
        <p:spPr>
          <a:xfrm>
            <a:off x="297300" y="790125"/>
            <a:ext cx="4618200" cy="4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rgbClr val="DB3514"/>
                </a:solidFill>
              </a:defRPr>
            </a:pPr>
            <a:r>
              <a:t>Qué hacer cuando: </a:t>
            </a:r>
            <a:endParaRPr b="1" sz="1700">
              <a:solidFill>
                <a:srgbClr val="DB351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sz="1700">
              <a:solidFill>
                <a:srgbClr val="DB3514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7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Un padre, madre o cuidador tiene dificultades para participar en el Grupo de WhatsApp</a:t>
            </a:r>
            <a:endParaRPr b="1" sz="17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1" sz="17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  <a:defRPr i="1" sz="17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Explorar Preguntas Frecuentes en Formando Conciencia +: </a:t>
            </a:r>
            <a:endParaRPr i="1" sz="17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  <a:defRPr i="1" sz="17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Solo algunos padres, madres y cuidadores participan activamente en las sesiones de chat mientras que otros no responden.</a:t>
            </a:r>
            <a:endParaRPr i="1" sz="17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  <a:defRPr i="1" sz="17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¿Y si nadie participa?</a:t>
            </a:r>
            <a:endParaRPr i="1" sz="17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42" name="Google Shape;1742;p179"/>
          <p:cNvSpPr/>
          <p:nvPr/>
        </p:nvSpPr>
        <p:spPr>
          <a:xfrm rot="-5400000">
            <a:off x="1921050" y="-1719825"/>
            <a:ext cx="480900" cy="43230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3" name="Google Shape;1743;p179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Abordar los Retos y Desafíos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4" name="Google Shape;1744;p1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5500" y="1102550"/>
            <a:ext cx="3859026" cy="29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180"/>
          <p:cNvSpPr txBox="1"/>
          <p:nvPr/>
        </p:nvSpPr>
        <p:spPr>
          <a:xfrm>
            <a:off x="297300" y="790125"/>
            <a:ext cx="85494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rgbClr val="DB3514"/>
                </a:solidFill>
              </a:defRPr>
            </a:pPr>
            <a:r>
              <a:t>Qué hacer cuando: </a:t>
            </a:r>
            <a:endParaRPr b="1" sz="1700">
              <a:solidFill>
                <a:srgbClr val="DB351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sz="1700">
              <a:solidFill>
                <a:srgbClr val="DB3514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7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Un padre te provoca una reacción emocional ya sea en persona o en un grupo de WhatsApp. </a:t>
            </a:r>
            <a:endParaRPr b="1" sz="17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  <a:defRPr i="1" sz="17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 normal que nos afecten las experiencias de los padres, madres o cuidadores o las cosas que dicen durante el programa, sobre todo si se relacionan con nuestras propias vidas. </a:t>
            </a:r>
            <a:endParaRPr i="1" sz="17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  <a:defRPr i="1" sz="17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¡Haz una pausa! Un par respiraciones profundas pueden ser útiles para asegurarte de que respondas de manera constructiva en lugar de reaccionar negativamente en el momento.</a:t>
            </a:r>
            <a:endParaRPr i="1" sz="17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  <a:defRPr i="1" sz="17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Busca apoyo. Habla sobre el tema con tu supervisor o con un compañero de trabajo con el que te sientas cómodo haciéndolo. </a:t>
            </a:r>
            <a:endParaRPr i="1" sz="17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50" name="Google Shape;1750;p180"/>
          <p:cNvSpPr/>
          <p:nvPr/>
        </p:nvSpPr>
        <p:spPr>
          <a:xfrm rot="-5400000">
            <a:off x="1921050" y="-1719825"/>
            <a:ext cx="480900" cy="43230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p180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Abordar los Retos y Desafíos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p181"/>
          <p:cNvSpPr txBox="1"/>
          <p:nvPr/>
        </p:nvSpPr>
        <p:spPr>
          <a:xfrm>
            <a:off x="297300" y="790125"/>
            <a:ext cx="8549400" cy="25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rgbClr val="DB3514"/>
                </a:solidFill>
              </a:defRPr>
            </a:pPr>
            <a:r>
              <a:t>Qué hacer cuando: </a:t>
            </a:r>
            <a:endParaRPr b="1" sz="1700">
              <a:solidFill>
                <a:srgbClr val="DB351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sz="1700">
              <a:solidFill>
                <a:srgbClr val="DB3514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7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Te sientes nervioso y ansioso por impartir Crianza con Conciencia +</a:t>
            </a:r>
            <a:endParaRPr b="1" sz="17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  <a:defRPr i="1" sz="17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Siempre puedes hacer una pausa para controlar el nerviosismo o la ansiedad. </a:t>
            </a:r>
            <a:endParaRPr i="1" sz="17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  <a:defRPr i="1" sz="17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Prepárate bien revisando los materiales, ensayando la sesión de integración y pensando en las posibles preguntas que podrían hacer los padres, madres o cuidadores.</a:t>
            </a:r>
            <a:endParaRPr i="1" sz="17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57" name="Google Shape;1757;p181"/>
          <p:cNvSpPr/>
          <p:nvPr/>
        </p:nvSpPr>
        <p:spPr>
          <a:xfrm rot="-5400000">
            <a:off x="1921050" y="-1719825"/>
            <a:ext cx="480900" cy="43230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8" name="Google Shape;1758;p181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Abordar los Retos y Desafíos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69A"/>
        </a:solidFill>
      </p:bgPr>
    </p:bg>
    <p:spTree>
      <p:nvGrpSpPr>
        <p:cNvPr id="1762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p182"/>
          <p:cNvSpPr txBox="1"/>
          <p:nvPr/>
        </p:nvSpPr>
        <p:spPr>
          <a:xfrm>
            <a:off x="281975" y="3471125"/>
            <a:ext cx="7821300" cy="9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4400">
                <a:solidFill>
                  <a:schemeClr val="lt1"/>
                </a:solidFill>
              </a:defRPr>
            </a:pPr>
            <a:r>
              <a:t>¿Tienes preguntas?</a:t>
            </a:r>
            <a:endParaRPr b="1" sz="4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9FE4"/>
        </a:solidFill>
      </p:bgPr>
    </p:bg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183"/>
          <p:cNvSpPr txBox="1"/>
          <p:nvPr/>
        </p:nvSpPr>
        <p:spPr>
          <a:xfrm>
            <a:off x="281975" y="3471125"/>
            <a:ext cx="7821300" cy="9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4400">
                <a:solidFill>
                  <a:schemeClr val="lt1"/>
                </a:solidFill>
              </a:defRPr>
            </a:pPr>
            <a:r>
              <a:t>Ejercicio de Amabilidad y Cariño</a:t>
            </a:r>
            <a:endParaRPr b="1" sz="4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027C"/>
        </a:solidFill>
      </p:bgPr>
    </p:bg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p184"/>
          <p:cNvSpPr txBox="1"/>
          <p:nvPr/>
        </p:nvSpPr>
        <p:spPr>
          <a:xfrm>
            <a:off x="281975" y="3471125"/>
            <a:ext cx="7821300" cy="9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4400">
                <a:solidFill>
                  <a:schemeClr val="lt1"/>
                </a:solidFill>
              </a:defRPr>
            </a:pPr>
            <a:r>
              <a:t>Círculo de Agradecimiento</a:t>
            </a:r>
            <a:endParaRPr b="1" sz="4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185"/>
          <p:cNvSpPr txBox="1"/>
          <p:nvPr/>
        </p:nvSpPr>
        <p:spPr>
          <a:xfrm>
            <a:off x="297300" y="790125"/>
            <a:ext cx="8549400" cy="22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rgbClr val="DB3514"/>
                </a:solidFill>
              </a:defRPr>
            </a:pPr>
            <a:r>
              <a:t>Siguientes pasos </a:t>
            </a:r>
            <a:endParaRPr b="1" sz="1700">
              <a:solidFill>
                <a:srgbClr val="DB351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sz="1700">
              <a:solidFill>
                <a:srgbClr val="DB3514"/>
              </a:solidFill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13D5C"/>
              </a:buClr>
              <a:buSzPts val="1700"/>
              <a:buFont typeface="Noto Sans"/>
              <a:buChar char="●"/>
              <a:defRPr sz="17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Recibirás un certificado por completar la capacitación </a:t>
            </a:r>
            <a:endParaRPr sz="17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13D5C"/>
              </a:buClr>
              <a:buSzPts val="1700"/>
              <a:buFont typeface="Noto Sans"/>
              <a:buChar char="●"/>
              <a:defRPr sz="17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Recibirás un correo electrónico con el enlace para la App del Facilitador y para el Chatbot </a:t>
            </a:r>
            <a:endParaRPr sz="17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13D5C"/>
              </a:buClr>
              <a:buSzPts val="1700"/>
              <a:buFont typeface="Noto Sans"/>
              <a:buChar char="●"/>
              <a:defRPr sz="17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Dirigirás la sesión de integración e informarás sobre la asistencia a la sesión de integración </a:t>
            </a:r>
            <a:endParaRPr sz="17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79" name="Google Shape;1779;p185"/>
          <p:cNvSpPr/>
          <p:nvPr/>
        </p:nvSpPr>
        <p:spPr>
          <a:xfrm rot="-5400000">
            <a:off x="1921050" y="-1719825"/>
            <a:ext cx="480900" cy="43230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0" name="Google Shape;1780;p185"/>
          <p:cNvSpPr txBox="1"/>
          <p:nvPr/>
        </p:nvSpPr>
        <p:spPr>
          <a:xfrm>
            <a:off x="286225" y="197500"/>
            <a:ext cx="6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Cierre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5" name="Google Shape;1785;p186"/>
          <p:cNvPicPr preferRelativeResize="0"/>
          <p:nvPr/>
        </p:nvPicPr>
        <p:blipFill rotWithShape="1">
          <a:blip r:embed="rId3">
            <a:alphaModFix/>
          </a:blip>
          <a:srcRect b="20117" l="-3802" r="-7050" t="12168"/>
          <a:stretch/>
        </p:blipFill>
        <p:spPr>
          <a:xfrm>
            <a:off x="-355425" y="-9662"/>
            <a:ext cx="10258028" cy="5162826"/>
          </a:xfrm>
          <a:prstGeom prst="rect">
            <a:avLst/>
          </a:prstGeom>
          <a:noFill/>
          <a:ln>
            <a:noFill/>
          </a:ln>
        </p:spPr>
      </p:pic>
      <p:sp>
        <p:nvSpPr>
          <p:cNvPr id="1786" name="Google Shape;1786;p186"/>
          <p:cNvSpPr txBox="1"/>
          <p:nvPr/>
        </p:nvSpPr>
        <p:spPr>
          <a:xfrm>
            <a:off x="317900" y="3680350"/>
            <a:ext cx="14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700">
                <a:solidFill>
                  <a:srgbClr val="0B4060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¡GRACIAS!</a:t>
            </a:r>
            <a:endParaRPr b="1" i="0" sz="2300" u="none" cap="none" strike="noStrike">
              <a:solidFill>
                <a:srgbClr val="0B406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787" name="Google Shape;1787;p1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1675" y="381006"/>
            <a:ext cx="2099637" cy="837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8" name="Google Shape;1788;p186"/>
          <p:cNvPicPr preferRelativeResize="0"/>
          <p:nvPr/>
        </p:nvPicPr>
        <p:blipFill rotWithShape="1">
          <a:blip r:embed="rId5">
            <a:alphaModFix/>
          </a:blip>
          <a:srcRect b="1702" l="0" r="0" t="95001"/>
          <a:stretch/>
        </p:blipFill>
        <p:spPr>
          <a:xfrm>
            <a:off x="0" y="4970350"/>
            <a:ext cx="9212252" cy="214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ank">
  <a:themeElements>
    <a:clrScheme name="Custom 1">
      <a:dk1>
        <a:srgbClr val="0D3A5A"/>
      </a:dk1>
      <a:lt1>
        <a:srgbClr val="FEFFFF"/>
      </a:lt1>
      <a:dk2>
        <a:srgbClr val="02969A"/>
      </a:dk2>
      <a:lt2>
        <a:srgbClr val="FEFFFF"/>
      </a:lt2>
      <a:accent1>
        <a:srgbClr val="02969A"/>
      </a:accent1>
      <a:accent2>
        <a:srgbClr val="FE5E00"/>
      </a:accent2>
      <a:accent3>
        <a:srgbClr val="E3027C"/>
      </a:accent3>
      <a:accent4>
        <a:srgbClr val="ED0000"/>
      </a:accent4>
      <a:accent5>
        <a:srgbClr val="F2F2F2"/>
      </a:accent5>
      <a:accent6>
        <a:srgbClr val="0E3959"/>
      </a:accent6>
      <a:hlink>
        <a:srgbClr val="4E5CD7"/>
      </a:hlink>
      <a:folHlink>
        <a:srgbClr val="009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X PPT">
  <a:themeElements>
    <a:clrScheme name="PLH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0B1F0"/>
      </a:accent1>
      <a:accent2>
        <a:srgbClr val="FCA203"/>
      </a:accent2>
      <a:accent3>
        <a:srgbClr val="222299"/>
      </a:accent3>
      <a:accent4>
        <a:srgbClr val="D60066"/>
      </a:accent4>
      <a:accent5>
        <a:srgbClr val="0B4060"/>
      </a:accent5>
      <a:accent6>
        <a:srgbClr val="999999"/>
      </a:accent6>
      <a:hlink>
        <a:srgbClr val="30FFF5"/>
      </a:hlink>
      <a:folHlink>
        <a:srgbClr val="FF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PLH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0B1F0"/>
      </a:accent1>
      <a:accent2>
        <a:srgbClr val="FCA203"/>
      </a:accent2>
      <a:accent3>
        <a:srgbClr val="222299"/>
      </a:accent3>
      <a:accent4>
        <a:srgbClr val="D60066"/>
      </a:accent4>
      <a:accent5>
        <a:srgbClr val="0B4060"/>
      </a:accent5>
      <a:accent6>
        <a:srgbClr val="999999"/>
      </a:accent6>
      <a:hlink>
        <a:srgbClr val="30FFF5"/>
      </a:hlink>
      <a:folHlink>
        <a:srgbClr val="FF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MX PPT">
  <a:themeElements>
    <a:clrScheme name="PLH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0B1F0"/>
      </a:accent1>
      <a:accent2>
        <a:srgbClr val="FCA203"/>
      </a:accent2>
      <a:accent3>
        <a:srgbClr val="222299"/>
      </a:accent3>
      <a:accent4>
        <a:srgbClr val="D60066"/>
      </a:accent4>
      <a:accent5>
        <a:srgbClr val="0B4060"/>
      </a:accent5>
      <a:accent6>
        <a:srgbClr val="999999"/>
      </a:accent6>
      <a:hlink>
        <a:srgbClr val="30FFF5"/>
      </a:hlink>
      <a:folHlink>
        <a:srgbClr val="FF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