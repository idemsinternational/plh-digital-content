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10.xml"/>
  <Override ContentType="application/vnd.openxmlformats-officedocument.presentationml.comments+xml" PartName="/ppt/comments/comment17.xml"/>
  <Override ContentType="application/vnd.openxmlformats-officedocument.presentationml.comments+xml" PartName="/ppt/comments/comment8.xml"/>
  <Override ContentType="application/vnd.openxmlformats-officedocument.presentationml.comments+xml" PartName="/ppt/comments/comment6.xml"/>
  <Override ContentType="application/vnd.openxmlformats-officedocument.presentationml.comments+xml" PartName="/ppt/comments/comment19.xml"/>
  <Override ContentType="application/vnd.openxmlformats-officedocument.presentationml.comments+xml" PartName="/ppt/comments/comment3.xml"/>
  <Override ContentType="application/vnd.openxmlformats-officedocument.presentationml.comments+xml" PartName="/ppt/comments/comment15.xml"/>
  <Override ContentType="application/vnd.openxmlformats-officedocument.presentationml.comments+xml" PartName="/ppt/comments/comment13.xml"/>
  <Override ContentType="application/vnd.openxmlformats-officedocument.presentationml.comments+xml" PartName="/ppt/comments/comment16.xml"/>
  <Override ContentType="application/vnd.openxmlformats-officedocument.presentationml.comments+xml" PartName="/ppt/comments/comment1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5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9.xml"/>
  <Override ContentType="application/vnd.openxmlformats-officedocument.presentationml.comments+xml" PartName="/ppt/comments/comment18.xml"/>
  <Override ContentType="application/vnd.openxmlformats-officedocument.presentationml.comments+xml" PartName="/ppt/comments/comment12.xml"/>
  <Override ContentType="application/vnd.openxmlformats-officedocument.presentationml.comments+xml" PartName="/ppt/comments/comment14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4"/>
    <p:sldMasterId id="2147483697" r:id="rId5"/>
    <p:sldMasterId id="2147483698" r:id="rId6"/>
    <p:sldMasterId id="2147483699" r:id="rId7"/>
    <p:sldMasterId id="2147483700" r:id="rId8"/>
    <p:sldMasterId id="2147483701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</p:sldIdLst>
  <p:sldSz cy="5143500" cx="9144000"/>
  <p:notesSz cx="6858000" cy="9144000"/>
  <p:embeddedFontLst>
    <p:embeddedFont>
      <p:font typeface="Noto Sans Thin"/>
      <p:regular r:id="rId63"/>
      <p:bold r:id="rId64"/>
      <p:italic r:id="rId65"/>
      <p:boldItalic r:id="rId66"/>
    </p:embeddedFont>
    <p:embeddedFont>
      <p:font typeface="Noto Sans"/>
      <p:regular r:id="rId67"/>
      <p:bold r:id="rId68"/>
      <p:italic r:id="rId69"/>
      <p:boldItalic r:id="rId70"/>
    </p:embeddedFont>
    <p:embeddedFont>
      <p:font typeface="Noto Sans SemiBold"/>
      <p:regular r:id="rId71"/>
      <p:bold r:id="rId72"/>
      <p:italic r:id="rId73"/>
      <p:boldItalic r:id="rId74"/>
    </p:embeddedFont>
    <p:embeddedFont>
      <p:font typeface="Delicious Handrawn"/>
      <p:regular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9" name="Deepali Barapatre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0.xml"/><Relationship Id="rId42" Type="http://schemas.openxmlformats.org/officeDocument/2006/relationships/slide" Target="slides/slide32.xml"/><Relationship Id="rId41" Type="http://schemas.openxmlformats.org/officeDocument/2006/relationships/slide" Target="slides/slide31.xml"/><Relationship Id="rId44" Type="http://schemas.openxmlformats.org/officeDocument/2006/relationships/slide" Target="slides/slide34.xml"/><Relationship Id="rId43" Type="http://schemas.openxmlformats.org/officeDocument/2006/relationships/slide" Target="slides/slide33.xml"/><Relationship Id="rId46" Type="http://schemas.openxmlformats.org/officeDocument/2006/relationships/slide" Target="slides/slide36.xml"/><Relationship Id="rId45" Type="http://schemas.openxmlformats.org/officeDocument/2006/relationships/slide" Target="slides/slide35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48" Type="http://schemas.openxmlformats.org/officeDocument/2006/relationships/slide" Target="slides/slide38.xml"/><Relationship Id="rId47" Type="http://schemas.openxmlformats.org/officeDocument/2006/relationships/slide" Target="slides/slide37.xml"/><Relationship Id="rId49" Type="http://schemas.openxmlformats.org/officeDocument/2006/relationships/slide" Target="slides/slide39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73" Type="http://schemas.openxmlformats.org/officeDocument/2006/relationships/font" Target="fonts/NotoSansSemiBold-italic.fntdata"/><Relationship Id="rId72" Type="http://schemas.openxmlformats.org/officeDocument/2006/relationships/font" Target="fonts/NotoSansSemiBold-bold.fntdata"/><Relationship Id="rId31" Type="http://schemas.openxmlformats.org/officeDocument/2006/relationships/slide" Target="slides/slide21.xml"/><Relationship Id="rId75" Type="http://schemas.openxmlformats.org/officeDocument/2006/relationships/font" Target="fonts/DeliciousHandrawn-regular.fntdata"/><Relationship Id="rId30" Type="http://schemas.openxmlformats.org/officeDocument/2006/relationships/slide" Target="slides/slide20.xml"/><Relationship Id="rId74" Type="http://schemas.openxmlformats.org/officeDocument/2006/relationships/font" Target="fonts/NotoSansSemiBold-boldItalic.fntdata"/><Relationship Id="rId33" Type="http://schemas.openxmlformats.org/officeDocument/2006/relationships/slide" Target="slides/slide23.xml"/><Relationship Id="rId32" Type="http://schemas.openxmlformats.org/officeDocument/2006/relationships/slide" Target="slides/slide22.xml"/><Relationship Id="rId35" Type="http://schemas.openxmlformats.org/officeDocument/2006/relationships/slide" Target="slides/slide25.xml"/><Relationship Id="rId34" Type="http://schemas.openxmlformats.org/officeDocument/2006/relationships/slide" Target="slides/slide24.xml"/><Relationship Id="rId71" Type="http://schemas.openxmlformats.org/officeDocument/2006/relationships/font" Target="fonts/NotoSansSemiBold-regular.fntdata"/><Relationship Id="rId70" Type="http://schemas.openxmlformats.org/officeDocument/2006/relationships/font" Target="fonts/NotoSans-boldItalic.fntdata"/><Relationship Id="rId37" Type="http://schemas.openxmlformats.org/officeDocument/2006/relationships/slide" Target="slides/slide27.xml"/><Relationship Id="rId36" Type="http://schemas.openxmlformats.org/officeDocument/2006/relationships/slide" Target="slides/slide26.xml"/><Relationship Id="rId39" Type="http://schemas.openxmlformats.org/officeDocument/2006/relationships/slide" Target="slides/slide29.xml"/><Relationship Id="rId38" Type="http://schemas.openxmlformats.org/officeDocument/2006/relationships/slide" Target="slides/slide28.xml"/><Relationship Id="rId62" Type="http://schemas.openxmlformats.org/officeDocument/2006/relationships/slide" Target="slides/slide52.xml"/><Relationship Id="rId61" Type="http://schemas.openxmlformats.org/officeDocument/2006/relationships/slide" Target="slides/slide51.xml"/><Relationship Id="rId20" Type="http://schemas.openxmlformats.org/officeDocument/2006/relationships/slide" Target="slides/slide10.xml"/><Relationship Id="rId64" Type="http://schemas.openxmlformats.org/officeDocument/2006/relationships/font" Target="fonts/NotoSansThin-bold.fntdata"/><Relationship Id="rId63" Type="http://schemas.openxmlformats.org/officeDocument/2006/relationships/font" Target="fonts/NotoSansThin-regular.fntdata"/><Relationship Id="rId22" Type="http://schemas.openxmlformats.org/officeDocument/2006/relationships/slide" Target="slides/slide12.xml"/><Relationship Id="rId66" Type="http://schemas.openxmlformats.org/officeDocument/2006/relationships/font" Target="fonts/NotoSansThin-boldItalic.fntdata"/><Relationship Id="rId21" Type="http://schemas.openxmlformats.org/officeDocument/2006/relationships/slide" Target="slides/slide11.xml"/><Relationship Id="rId65" Type="http://schemas.openxmlformats.org/officeDocument/2006/relationships/font" Target="fonts/NotoSansThin-italic.fntdata"/><Relationship Id="rId24" Type="http://schemas.openxmlformats.org/officeDocument/2006/relationships/slide" Target="slides/slide14.xml"/><Relationship Id="rId68" Type="http://schemas.openxmlformats.org/officeDocument/2006/relationships/font" Target="fonts/NotoSans-bold.fntdata"/><Relationship Id="rId23" Type="http://schemas.openxmlformats.org/officeDocument/2006/relationships/slide" Target="slides/slide13.xml"/><Relationship Id="rId67" Type="http://schemas.openxmlformats.org/officeDocument/2006/relationships/font" Target="fonts/NotoSans-regular.fntdata"/><Relationship Id="rId60" Type="http://schemas.openxmlformats.org/officeDocument/2006/relationships/slide" Target="slides/slide50.xml"/><Relationship Id="rId26" Type="http://schemas.openxmlformats.org/officeDocument/2006/relationships/slide" Target="slides/slide16.xml"/><Relationship Id="rId25" Type="http://schemas.openxmlformats.org/officeDocument/2006/relationships/slide" Target="slides/slide15.xml"/><Relationship Id="rId69" Type="http://schemas.openxmlformats.org/officeDocument/2006/relationships/font" Target="fonts/NotoSans-italic.fntdata"/><Relationship Id="rId28" Type="http://schemas.openxmlformats.org/officeDocument/2006/relationships/slide" Target="slides/slide18.xml"/><Relationship Id="rId27" Type="http://schemas.openxmlformats.org/officeDocument/2006/relationships/slide" Target="slides/slide17.xml"/><Relationship Id="rId29" Type="http://schemas.openxmlformats.org/officeDocument/2006/relationships/slide" Target="slides/slide19.xml"/><Relationship Id="rId51" Type="http://schemas.openxmlformats.org/officeDocument/2006/relationships/slide" Target="slides/slide41.xml"/><Relationship Id="rId50" Type="http://schemas.openxmlformats.org/officeDocument/2006/relationships/slide" Target="slides/slide40.xml"/><Relationship Id="rId53" Type="http://schemas.openxmlformats.org/officeDocument/2006/relationships/slide" Target="slides/slide43.xml"/><Relationship Id="rId52" Type="http://schemas.openxmlformats.org/officeDocument/2006/relationships/slide" Target="slides/slide42.xml"/><Relationship Id="rId11" Type="http://schemas.openxmlformats.org/officeDocument/2006/relationships/slide" Target="slides/slide1.xml"/><Relationship Id="rId55" Type="http://schemas.openxmlformats.org/officeDocument/2006/relationships/slide" Target="slides/slide45.xml"/><Relationship Id="rId10" Type="http://schemas.openxmlformats.org/officeDocument/2006/relationships/notesMaster" Target="notesMasters/notesMaster1.xml"/><Relationship Id="rId54" Type="http://schemas.openxmlformats.org/officeDocument/2006/relationships/slide" Target="slides/slide44.xml"/><Relationship Id="rId13" Type="http://schemas.openxmlformats.org/officeDocument/2006/relationships/slide" Target="slides/slide3.xml"/><Relationship Id="rId57" Type="http://schemas.openxmlformats.org/officeDocument/2006/relationships/slide" Target="slides/slide47.xml"/><Relationship Id="rId12" Type="http://schemas.openxmlformats.org/officeDocument/2006/relationships/slide" Target="slides/slide2.xml"/><Relationship Id="rId56" Type="http://schemas.openxmlformats.org/officeDocument/2006/relationships/slide" Target="slides/slide46.xml"/><Relationship Id="rId15" Type="http://schemas.openxmlformats.org/officeDocument/2006/relationships/slide" Target="slides/slide5.xml"/><Relationship Id="rId59" Type="http://schemas.openxmlformats.org/officeDocument/2006/relationships/slide" Target="slides/slide49.xml"/><Relationship Id="rId14" Type="http://schemas.openxmlformats.org/officeDocument/2006/relationships/slide" Target="slides/slide4.xml"/><Relationship Id="rId58" Type="http://schemas.openxmlformats.org/officeDocument/2006/relationships/slide" Target="slides/slide48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19" Type="http://schemas.openxmlformats.org/officeDocument/2006/relationships/slide" Target="slides/slide9.xml"/><Relationship Id="rId18" Type="http://schemas.openxmlformats.org/officeDocument/2006/relationships/slide" Target="slides/slide8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06-19T09:25:30.360">
    <p:pos x="6000" y="0"/>
    <p:text>Updated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4-06-19T09:25:39.509">
    <p:pos x="6000" y="0"/>
    <p:text>New Slide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4-06-19T09:26:06.557">
    <p:pos x="6000" y="0"/>
    <p:text>New Slide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4-06-19T09:25:54.707">
    <p:pos x="6000" y="0"/>
    <p:text>New Slide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4-06-24T10:16:03.711">
    <p:pos x="6000" y="0"/>
    <p:text>Updated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4-06-24T09:51:18.618">
    <p:pos x="6000" y="0"/>
    <p:text>New Slide</p:tex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4-06-24T09:51:26.266">
    <p:pos x="6000" y="0"/>
    <p:text>New Slide</p:tex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4-06-24T09:51:38.289">
    <p:pos x="6000" y="0"/>
    <p:text>New Slide</p:text>
  </p:cm>
</p:cmLst>
</file>

<file path=ppt/comments/comment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9" dt="2024-06-24T09:51:46.832">
    <p:pos x="6000" y="0"/>
    <p:text>New Slide</p:text>
  </p:cm>
</p:cmLst>
</file>

<file path=ppt/comments/comment1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0" dt="2024-06-24T09:51:55.021">
    <p:pos x="6000" y="0"/>
    <p:text>New Slide</p:text>
  </p:cm>
</p:cmLst>
</file>

<file path=ppt/comments/comment1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1" dt="2024-06-24T09:52:02.597">
    <p:pos x="6000" y="0"/>
    <p:text>New Slide</p:text>
  </p:cm>
</p:cmLst>
</file>

<file path=ppt/comments/comment1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2" dt="2024-06-24T09:52:09.907">
    <p:pos x="6000" y="0"/>
    <p:text>New Slide</p:text>
  </p:cm>
</p:cmLst>
</file>

<file path=ppt/comments/comment1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3" dt="2024-06-24T09:54:15.704">
    <p:pos x="6000" y="0"/>
    <p:text>Updated</p:text>
  </p:cm>
</p:cmLst>
</file>

<file path=ppt/comments/comment1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4" dt="2024-06-24T09:54:23.305">
    <p:pos x="6000" y="0"/>
    <p:text>Updated</p:text>
  </p:cm>
</p:cmLst>
</file>

<file path=ppt/comments/comment1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5" dt="2024-06-24T09:57:27.316">
    <p:pos x="6000" y="0"/>
    <p:text>Updated</p:text>
  </p:cm>
</p:cmLst>
</file>

<file path=ppt/comments/comment1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6" dt="2024-06-24T09:58:27.922">
    <p:pos x="6000" y="0"/>
    <p:text>Actualizar</p:text>
  </p:cm>
</p:cmLst>
</file>

<file path=ppt/comments/comment1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7" dt="2024-06-24T10:01:01.593">
    <p:pos x="6000" y="0"/>
    <p:text>Update the onboarding video with a new one</p:text>
  </p:cm>
</p:cmLst>
</file>

<file path=ppt/comments/comment1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8" dt="2024-06-24T10:11:33.311">
    <p:pos x="6000" y="0"/>
    <p:text>New Slide</p:text>
  </p:cm>
</p:cmLst>
</file>

<file path=ppt/comments/comment1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9" dt="2024-06-24T10:12:19.754">
    <p:pos x="6000" y="0"/>
    <p:text>New Slide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bb847491d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0B406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0B4060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</a:p>
        </p:txBody>
      </p:sp>
      <p:sp>
        <p:nvSpPr>
          <p:cNvPr id="312" name="Google Shape;312;g2bb847491d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2bb847491d1_0_4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</a:p>
        </p:txBody>
      </p:sp>
      <p:sp>
        <p:nvSpPr>
          <p:cNvPr id="324" name="Google Shape;324;g2bb847491d1_0_4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bb8474946d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</a:p>
        </p:txBody>
      </p:sp>
      <p:sp>
        <p:nvSpPr>
          <p:cNvPr id="330" name="Google Shape;330;g2bb8474946d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e6cc90a07c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</a:p>
        </p:txBody>
      </p:sp>
      <p:sp>
        <p:nvSpPr>
          <p:cNvPr id="335" name="Google Shape;335;g2e6cc90a07c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bb847491d1_0_11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</a:p>
        </p:txBody>
      </p:sp>
      <p:sp>
        <p:nvSpPr>
          <p:cNvPr id="342" name="Google Shape;342;g2bb847491d1_0_1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bbec03bd81_0_2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349" name="Google Shape;349;g2bbec03bd81_0_2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bb847491d1_0_11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</a:p>
        </p:txBody>
      </p:sp>
      <p:sp>
        <p:nvSpPr>
          <p:cNvPr id="356" name="Google Shape;356;g2bb847491d1_0_11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e6cc90a07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g2e6cc90a07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e6cc90a07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g2e6cc90a07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2e6cc90a07c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2e6cc90a07c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005878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bb847491d1_0_1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g2bb847491d1_0_1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e7cf874afd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g2e7cf874afd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bb847491d1_0_1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g2bb847491d1_0_1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bb847491d1_0_1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g2bb847491d1_0_1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e7cf874afd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g2e7cf874afd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2e7cf874afd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g2e7cf874afd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e7cf874afd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g2e7cf874afd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2e7cf874afd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4" name="Google Shape;494;g2e7cf874afd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e7cf874afd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g2e7cf874afd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2e7cf874afd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g2e7cf874afd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e7cf874afd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g2e7cf874afd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2bb8474946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g2bb8474946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bb847491d1_0_1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g2bb847491d1_0_1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SzPts val="1100"/>
              <a:buNone/>
            </a:pP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2bb847491d1_0_1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g2bb847491d1_0_1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2bb847491d1_0_1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  <p:sp>
        <p:nvSpPr>
          <p:cNvPr id="625" name="Google Shape;625;g2bb847491d1_0_1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2bbec03bd81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</a:p>
        </p:txBody>
      </p:sp>
      <p:sp>
        <p:nvSpPr>
          <p:cNvPr id="633" name="Google Shape;633;g2bbec03bd81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2bbec03bd81_0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</a:p>
        </p:txBody>
      </p:sp>
      <p:sp>
        <p:nvSpPr>
          <p:cNvPr id="640" name="Google Shape;640;g2bbec03bd81_0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bbec03bd81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</a:p>
        </p:txBody>
      </p:sp>
      <p:sp>
        <p:nvSpPr>
          <p:cNvPr id="647" name="Google Shape;647;g2bbec03bd81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2c19238c79b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</a:p>
        </p:txBody>
      </p:sp>
      <p:sp>
        <p:nvSpPr>
          <p:cNvPr id="654" name="Google Shape;654;g2c19238c79b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2bb847491d1_0_13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56540" lvl="0" marL="18034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AutoNum type="arabicPeriod"/>
              <a:defRPr sz="1200" u="sng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Inicia un chat de WhatsApp con Crianza con Conciencia + chatbot</a:t>
            </a:r>
            <a:endParaRPr sz="1200" u="sng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179705" lvl="0" marL="360045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Dale a las personas participantes las siguientes instrucciones: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Abre o desbloquea tu teléfono.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30505" lvl="0" marL="360045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Guarda el número de teléfono del chatbot de Crianza con Conciencia + (+6-012-292-7434</a:t>
            </a:r>
            <a:r>
              <a:rPr>
                <a:highlight>
                  <a:srgbClr val="FFFFFF"/>
                </a:highlight>
              </a:rPr>
              <a:t>) </a:t>
            </a:r>
            <a:r>
              <a:t>como contacto.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669" name="Google Shape;669;g2bb847491d1_0_13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2bb847491d1_0_1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5" name="Google Shape;675;g2bb847491d1_0_1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2bb847491d1_0_13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0505" lvl="0" marL="360045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rgbClr val="113D5C"/>
              </a:buClr>
              <a:buSzPts val="800"/>
              <a:buFont typeface="Noto Sans"/>
              <a:buChar char="●"/>
            </a:pPr>
          </a:p>
        </p:txBody>
      </p:sp>
      <p:sp>
        <p:nvSpPr>
          <p:cNvPr id="694" name="Google Shape;694;g2bb847491d1_0_13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2bb847491d1_0_1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9" name="Google Shape;699;g2bb847491d1_0_1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2bb847491d1_0_1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g2bb847491d1_0_1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2bb847491d1_0_13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 sz="1200" u="sng">
              <a:solidFill>
                <a:schemeClr val="dk1"/>
              </a:solidFill>
            </a:endParaRPr>
          </a:p>
        </p:txBody>
      </p:sp>
      <p:sp>
        <p:nvSpPr>
          <p:cNvPr id="749" name="Google Shape;749;g2bb847491d1_0_13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g2bb8474946d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809999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Escriban el nombre de su niña o niño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809999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Género de la niña o del niño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809999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Fecha de nacimiento de la niña o del niño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100"/>
              <a:buNone/>
            </a:pPr>
            <a:endParaRPr b="1" sz="1200" u="sng">
              <a:solidFill>
                <a:schemeClr val="dk1"/>
              </a:solidFill>
            </a:endParaRPr>
          </a:p>
        </p:txBody>
      </p:sp>
      <p:sp>
        <p:nvSpPr>
          <p:cNvPr id="757" name="Google Shape;757;g2bb8474946d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bb8474946d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 sz="1200" u="sng">
              <a:solidFill>
                <a:schemeClr val="dk1"/>
              </a:solidFill>
            </a:endParaRPr>
          </a:p>
        </p:txBody>
      </p:sp>
      <p:sp>
        <p:nvSpPr>
          <p:cNvPr id="766" name="Google Shape;766;g2bb8474946d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bb847491d1_0_1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 sz="1200" u="sng">
              <a:solidFill>
                <a:schemeClr val="dk1"/>
              </a:solidFill>
            </a:endParaRPr>
          </a:p>
        </p:txBody>
      </p:sp>
      <p:sp>
        <p:nvSpPr>
          <p:cNvPr id="774" name="Google Shape;774;g2bb847491d1_0_1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g2bb847491d1_0_140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791" name="Google Shape;791;g2bb847491d1_0_14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bb847491d1_0_1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  <a:defRPr sz="1300">
                <a:solidFill>
                  <a:srgbClr val="E4007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Primera Habilidad de Crianza: El Autocuidado (5 min)</a:t>
            </a:r>
            <a:endParaRPr sz="1300">
              <a:solidFill>
                <a:srgbClr val="E4007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Instrucciones </a:t>
            </a:r>
            <a:endParaRPr sz="1200" u="sng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Comparte con los padres, las madres y los cuidadores que comenzaremos Crianza con Conciencia + aprendiendo un breve ejercicio de relajación.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 crianza puede ser difícil y es útil aprender un ejercicio de relajación que los padres, las madres y las personas cuidadoras puedan usar siempre que sientan enojo o estrés. Es una gran herramienta de crianza y una habilidad para la vida.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Dile a las personas participantes que sigan las indicaciones de Crianza con Conciencia +. Crianza con Conciencia + les pedirá que hagan el ejercicio de autocuidado.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Reproduce el video o el audio para todo el grupo y practiquen juntos el ejercicio.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Pregúntale a los padres, madres y personas cuidadoras si tienen alguna duda sobre el ejercicio.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4500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u="sng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6" name="Google Shape;796;g2bb847491d1_0_1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g2bb847491d1_0_14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300">
                <a:solidFill>
                  <a:srgbClr val="E4007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Revisión general de la primera sesión de Crianza con Conciencia + chatbot (5 min) </a:t>
            </a:r>
            <a:endParaRPr sz="1300">
              <a:solidFill>
                <a:srgbClr val="E4007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Resumen</a:t>
            </a:r>
            <a:endParaRPr sz="1200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Padres, madres y cuidadores explorarán la primera sesión en el chatbot para ver qué se incluye normalmente en una sesión de Crianza con Conciencia +.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Instrucciones</a:t>
            </a:r>
            <a:endParaRPr sz="1200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Pídele a los padres, madres y cuidadores que se tomen un momento y completen la primera sesión, "Pasar Tiempo Uno a Uno con Mi Niña o Niño/Adolescente" en sus teléfonos. Recuérdales que no se trata de obtener cada una de las respuestas correctas en el cuestionario de la sesión, sino que todos estamos aquí para aprender juntos.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Tras completar la sesión, pide que compartan sus experiencias con el resto del grupo. Discute los temas que se incluyeron en la sesión y las ideas que surgieron.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Comparte los siguientes puntos con los padres, las madres y personas cuidadores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Aunque no todas las sesiones incluirán cuestionarios y historietas, cada una de ellas incluirá tips o consejos.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 sesión de cada persona será un poco diferente, ya que se personalizan según el perfil de los padres, madres o cuidadores.</a:t>
            </a:r>
          </a:p>
        </p:txBody>
      </p:sp>
      <p:sp>
        <p:nvSpPr>
          <p:cNvPr id="802" name="Google Shape;802;g2bb847491d1_0_14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2bbec03bd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b="1" sz="1200" u="sng">
              <a:solidFill>
                <a:schemeClr val="dk1"/>
              </a:solidFill>
            </a:endParaRPr>
          </a:p>
        </p:txBody>
      </p:sp>
      <p:sp>
        <p:nvSpPr>
          <p:cNvPr id="807" name="Google Shape;807;g2bbec03bd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2bb847491d1_0_1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000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b="1" sz="1200" u="sng">
              <a:solidFill>
                <a:schemeClr val="dk1"/>
              </a:solidFill>
            </a:endParaRPr>
          </a:p>
        </p:txBody>
      </p:sp>
      <p:sp>
        <p:nvSpPr>
          <p:cNvPr id="826" name="Google Shape;826;g2bb847491d1_0_1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g2bbec03bd81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Resumen </a:t>
            </a:r>
            <a:endParaRPr sz="1200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las personas participantes pueden encontrarse con algunos desafíos al interactuar con Crianza con Conciencia + chatbot. Enséñales a las personas participantes cómo solucionar problemas con el chat automatizado.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 SemiBold"/>
                <a:ea typeface="Noto Sans SemiBold"/>
                <a:cs typeface="Noto Sans SemiBold"/>
                <a:sym typeface="Noto Sans SemiBold"/>
              </a:defRPr>
            </a:pPr>
            <a:r>
              <a:t>Instrucciones</a:t>
            </a:r>
            <a:endParaRPr sz="1200">
              <a:solidFill>
                <a:srgbClr val="113D5C"/>
              </a:solidFill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Pídele a las personas participantes que se muestren unos a otros cómo resolver los siguientes desafíos: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Estoy atorado en Crianza con Conciencia +, o no aparece el botón de "Siguiente".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1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○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Escribe y manda la palabra SIGUIENTE para navegar a tu siguiente actividad.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No sé cómo acceder al Menú Principal ni sé qué hace el Menú.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1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○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Escribe y manda la palabra MENÚ en cualquier momento para: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2" marL="13716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■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Seguir tu progreso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2" marL="13716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■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Cambiar la configuración (cómo/cuándo recibir mensajes, actualizar tus datos para contenido personalizado)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2" marL="13716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■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Volver a ver el video de integración y obtener tips para navegar en Crianza con Conciencia +.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2" marL="13716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■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Obtener ayuda para superar desafíos específicos al aplicar las habilidades aprendidas.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79400" lvl="0" marL="4572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800"/>
              <a:buFont typeface="Noto Sans Symbol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Tengo una emergencia y necesito ayuda urgente.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1" marL="91440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○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Escribe y manda la palabra AYUDA, en cualquier momento, para acceder a datos de contacto y recursos en tu comunidad en caso de necesitar ayuda relacionada con violencia familiar, violencia sexual, salud mental u otras emergencias.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Pregúntale a los padres, madres y personas cuidadoras si tienen alguna duda sobre el uso de Crianza con Conciencia + Chatbot </a:t>
            </a:r>
          </a:p>
        </p:txBody>
      </p:sp>
      <p:sp>
        <p:nvSpPr>
          <p:cNvPr id="832" name="Google Shape;832;g2bbec03bd81_0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2bbec03bd81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</a:p>
        </p:txBody>
      </p:sp>
      <p:sp>
        <p:nvSpPr>
          <p:cNvPr id="853" name="Google Shape;853;g2bbec03bd81_0_3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2bb847491d1_0_14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 i="1"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64" name="Google Shape;864;g2bb847491d1_0_14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2bb847491d1_0_1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9" name="Google Shape;869;g2bb847491d1_0_1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2bbec03bd81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6" name="Google Shape;886;g2bbec03bd81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g2bb847491d1_0_1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</a:pPr>
          </a:p>
        </p:txBody>
      </p:sp>
      <p:sp>
        <p:nvSpPr>
          <p:cNvPr id="910" name="Google Shape;910;g2bb847491d1_0_1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2e7cf874afd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None/>
            </a:pPr>
          </a:p>
        </p:txBody>
      </p:sp>
      <p:sp>
        <p:nvSpPr>
          <p:cNvPr id="927" name="Google Shape;927;g2e7cf874afd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2bb847491d1_0_14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35" name="Google Shape;935;g2bb847491d1_0_14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g2bb847491d1_0_14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940" name="Google Shape;940;g2bb847491d1_0_14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image" Target="../media/image1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jpg"/><Relationship Id="rId3" Type="http://schemas.openxmlformats.org/officeDocument/2006/relationships/image" Target="../media/image7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jpg"/><Relationship Id="rId3" Type="http://schemas.openxmlformats.org/officeDocument/2006/relationships/image" Target="../media/image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Relationship Id="rId3" Type="http://schemas.openxmlformats.org/officeDocument/2006/relationships/image" Target="../media/image32.png"/><Relationship Id="rId4" Type="http://schemas.openxmlformats.org/officeDocument/2006/relationships/image" Target="../media/image13.png"/><Relationship Id="rId5" Type="http://schemas.openxmlformats.org/officeDocument/2006/relationships/image" Target="../media/image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jpg"/><Relationship Id="rId3" Type="http://schemas.openxmlformats.org/officeDocument/2006/relationships/image" Target="../media/image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png"/><Relationship Id="rId3" Type="http://schemas.openxmlformats.org/officeDocument/2006/relationships/image" Target="../media/image28.png"/><Relationship Id="rId4" Type="http://schemas.openxmlformats.org/officeDocument/2006/relationships/image" Target="../media/image37.png"/><Relationship Id="rId5" Type="http://schemas.openxmlformats.org/officeDocument/2006/relationships/image" Target="../media/image6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0.png"/><Relationship Id="rId3" Type="http://schemas.openxmlformats.org/officeDocument/2006/relationships/image" Target="../media/image35.png"/><Relationship Id="rId4" Type="http://schemas.openxmlformats.org/officeDocument/2006/relationships/image" Target="../media/image23.png"/><Relationship Id="rId5" Type="http://schemas.openxmlformats.org/officeDocument/2006/relationships/image" Target="../media/image2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6.jpg"/><Relationship Id="rId3" Type="http://schemas.openxmlformats.org/officeDocument/2006/relationships/image" Target="../media/image7.png"/><Relationship Id="rId4" Type="http://schemas.openxmlformats.org/officeDocument/2006/relationships/image" Target="../media/image3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39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image" Target="../media/image10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image" Target="../media/image10.png"/><Relationship Id="rId6" Type="http://schemas.openxmlformats.org/officeDocument/2006/relationships/image" Target="../media/image50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4.png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7.png"/><Relationship Id="rId5" Type="http://schemas.openxmlformats.org/officeDocument/2006/relationships/image" Target="../media/image10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6.jpg"/><Relationship Id="rId3" Type="http://schemas.openxmlformats.org/officeDocument/2006/relationships/image" Target="../media/image7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49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508000" y="457200"/>
            <a:ext cx="6447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Trebuchet MS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08000" y="1620442"/>
            <a:ext cx="64476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5403850" y="4531022"/>
            <a:ext cx="684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508001" y="4531022"/>
            <a:ext cx="4723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42997" y="4531022"/>
            <a:ext cx="51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con columns">
  <p:cSld name="3 icon column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8"/>
          <p:cNvSpPr txBox="1"/>
          <p:nvPr>
            <p:ph type="ctrTitle"/>
          </p:nvPr>
        </p:nvSpPr>
        <p:spPr>
          <a:xfrm>
            <a:off x="379560" y="373588"/>
            <a:ext cx="838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8"/>
          <p:cNvSpPr txBox="1"/>
          <p:nvPr>
            <p:ph idx="1" type="subTitle"/>
          </p:nvPr>
        </p:nvSpPr>
        <p:spPr>
          <a:xfrm>
            <a:off x="379560" y="1066085"/>
            <a:ext cx="838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68" name="Google Shape;68;p18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69" name="Google Shape;6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8"/>
          <p:cNvSpPr txBox="1"/>
          <p:nvPr>
            <p:ph idx="2" type="body"/>
          </p:nvPr>
        </p:nvSpPr>
        <p:spPr>
          <a:xfrm>
            <a:off x="379852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8"/>
          <p:cNvSpPr txBox="1"/>
          <p:nvPr>
            <p:ph idx="3" type="body"/>
          </p:nvPr>
        </p:nvSpPr>
        <p:spPr>
          <a:xfrm>
            <a:off x="379852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8"/>
          <p:cNvSpPr txBox="1"/>
          <p:nvPr>
            <p:ph idx="4" type="body"/>
          </p:nvPr>
        </p:nvSpPr>
        <p:spPr>
          <a:xfrm>
            <a:off x="3491283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8"/>
          <p:cNvSpPr txBox="1"/>
          <p:nvPr>
            <p:ph idx="5" type="body"/>
          </p:nvPr>
        </p:nvSpPr>
        <p:spPr>
          <a:xfrm>
            <a:off x="3491283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8"/>
          <p:cNvSpPr txBox="1"/>
          <p:nvPr>
            <p:ph idx="6" type="body"/>
          </p:nvPr>
        </p:nvSpPr>
        <p:spPr>
          <a:xfrm>
            <a:off x="6517182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8"/>
          <p:cNvSpPr txBox="1"/>
          <p:nvPr>
            <p:ph idx="7" type="body"/>
          </p:nvPr>
        </p:nvSpPr>
        <p:spPr>
          <a:xfrm>
            <a:off x="6517182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3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76" name="Google Shape;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560" y="1764197"/>
            <a:ext cx="662548" cy="6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3641" y="1764197"/>
            <a:ext cx="662548" cy="6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3459851" y="1764200"/>
            <a:ext cx="662548" cy="662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 header 3">
    <p:bg>
      <p:bgPr>
        <a:solidFill>
          <a:schemeClr val="accent4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9"/>
          <p:cNvPicPr preferRelativeResize="0"/>
          <p:nvPr/>
        </p:nvPicPr>
        <p:blipFill rotWithShape="1">
          <a:blip r:embed="rId2">
            <a:alphaModFix/>
          </a:blip>
          <a:srcRect b="8506" l="21377" r="0" t="8257"/>
          <a:stretch/>
        </p:blipFill>
        <p:spPr>
          <a:xfrm>
            <a:off x="0" y="-1"/>
            <a:ext cx="485871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9"/>
          <p:cNvPicPr preferRelativeResize="0"/>
          <p:nvPr/>
        </p:nvPicPr>
        <p:blipFill rotWithShape="1">
          <a:blip r:embed="rId3">
            <a:alphaModFix/>
          </a:blip>
          <a:srcRect b="-340" l="-402" r="29870" t="8310"/>
          <a:stretch/>
        </p:blipFill>
        <p:spPr>
          <a:xfrm rot="5400000">
            <a:off x="4147775" y="147279"/>
            <a:ext cx="4335565" cy="5656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9"/>
          <p:cNvPicPr preferRelativeResize="0"/>
          <p:nvPr/>
        </p:nvPicPr>
        <p:blipFill rotWithShape="1">
          <a:blip r:embed="rId4">
            <a:alphaModFix/>
          </a:blip>
          <a:srcRect b="-333" l="55096" r="0" t="12506"/>
          <a:stretch/>
        </p:blipFill>
        <p:spPr>
          <a:xfrm rot="5400000">
            <a:off x="5800468" y="-1081238"/>
            <a:ext cx="2262292" cy="442477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9"/>
          <p:cNvSpPr txBox="1"/>
          <p:nvPr>
            <p:ph idx="1" type="body"/>
          </p:nvPr>
        </p:nvSpPr>
        <p:spPr>
          <a:xfrm>
            <a:off x="2530851" y="2620280"/>
            <a:ext cx="5045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84" name="Google Shape;8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664" y="1047036"/>
            <a:ext cx="2501451" cy="265586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9"/>
          <p:cNvSpPr txBox="1"/>
          <p:nvPr>
            <p:ph idx="2" type="body"/>
          </p:nvPr>
        </p:nvSpPr>
        <p:spPr>
          <a:xfrm>
            <a:off x="2530850" y="1865458"/>
            <a:ext cx="12909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lt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Quote">
  <p:cSld name="Single Quote">
    <p:bg>
      <p:bgPr>
        <a:solidFill>
          <a:schemeClr val="accen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0"/>
          <p:cNvPicPr preferRelativeResize="0"/>
          <p:nvPr/>
        </p:nvPicPr>
        <p:blipFill rotWithShape="1">
          <a:blip r:embed="rId3">
            <a:alphaModFix/>
          </a:blip>
          <a:srcRect b="0" l="0" r="0" t="35839"/>
          <a:stretch/>
        </p:blipFill>
        <p:spPr>
          <a:xfrm>
            <a:off x="874685" y="0"/>
            <a:ext cx="7394632" cy="474435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2080649" y="1091336"/>
            <a:ext cx="5045100" cy="17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b="0" i="0" sz="41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20"/>
          <p:cNvSpPr txBox="1"/>
          <p:nvPr>
            <p:ph idx="2" type="body"/>
          </p:nvPr>
        </p:nvSpPr>
        <p:spPr>
          <a:xfrm>
            <a:off x="1538434" y="423331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20"/>
          <p:cNvSpPr txBox="1"/>
          <p:nvPr>
            <p:ph idx="3" type="body"/>
          </p:nvPr>
        </p:nvSpPr>
        <p:spPr>
          <a:xfrm rot="10800000">
            <a:off x="6187920" y="1201375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20"/>
          <p:cNvSpPr txBox="1"/>
          <p:nvPr>
            <p:ph idx="4" type="body"/>
          </p:nvPr>
        </p:nvSpPr>
        <p:spPr>
          <a:xfrm>
            <a:off x="2080649" y="3044123"/>
            <a:ext cx="50451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Quote">
  <p:cSld name="Single Quote">
    <p:bg>
      <p:bgPr>
        <a:solidFill>
          <a:schemeClr val="accen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2"/>
          <p:cNvPicPr preferRelativeResize="0"/>
          <p:nvPr/>
        </p:nvPicPr>
        <p:blipFill rotWithShape="1">
          <a:blip r:embed="rId3">
            <a:alphaModFix/>
          </a:blip>
          <a:srcRect b="0" l="0" r="0" t="35839"/>
          <a:stretch/>
        </p:blipFill>
        <p:spPr>
          <a:xfrm>
            <a:off x="874685" y="0"/>
            <a:ext cx="7394632" cy="474435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2"/>
          <p:cNvSpPr txBox="1"/>
          <p:nvPr>
            <p:ph idx="1" type="body"/>
          </p:nvPr>
        </p:nvSpPr>
        <p:spPr>
          <a:xfrm>
            <a:off x="2080649" y="1091336"/>
            <a:ext cx="5045100" cy="17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b="0" i="0" sz="41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22"/>
          <p:cNvSpPr txBox="1"/>
          <p:nvPr>
            <p:ph idx="2" type="body"/>
          </p:nvPr>
        </p:nvSpPr>
        <p:spPr>
          <a:xfrm>
            <a:off x="1538434" y="423331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22"/>
          <p:cNvSpPr txBox="1"/>
          <p:nvPr>
            <p:ph idx="3" type="body"/>
          </p:nvPr>
        </p:nvSpPr>
        <p:spPr>
          <a:xfrm rot="10800000">
            <a:off x="6187920" y="1201375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22"/>
          <p:cNvSpPr txBox="1"/>
          <p:nvPr>
            <p:ph idx="4" type="body"/>
          </p:nvPr>
        </p:nvSpPr>
        <p:spPr>
          <a:xfrm>
            <a:off x="2080649" y="3044123"/>
            <a:ext cx="50451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 header 1">
    <p:bg>
      <p:bgPr>
        <a:solidFill>
          <a:schemeClr val="accen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3"/>
          <p:cNvPicPr preferRelativeResize="0"/>
          <p:nvPr/>
        </p:nvPicPr>
        <p:blipFill rotWithShape="1">
          <a:blip r:embed="rId2">
            <a:alphaModFix/>
          </a:blip>
          <a:srcRect b="8506" l="21377" r="0" t="8257"/>
          <a:stretch/>
        </p:blipFill>
        <p:spPr>
          <a:xfrm>
            <a:off x="0" y="-1"/>
            <a:ext cx="485871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3"/>
          <p:cNvPicPr preferRelativeResize="0"/>
          <p:nvPr/>
        </p:nvPicPr>
        <p:blipFill rotWithShape="1">
          <a:blip r:embed="rId3">
            <a:alphaModFix/>
          </a:blip>
          <a:srcRect b="-340" l="-402" r="29870" t="8310"/>
          <a:stretch/>
        </p:blipFill>
        <p:spPr>
          <a:xfrm rot="5400000">
            <a:off x="4147775" y="147279"/>
            <a:ext cx="4335565" cy="5656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3"/>
          <p:cNvPicPr preferRelativeResize="0"/>
          <p:nvPr/>
        </p:nvPicPr>
        <p:blipFill rotWithShape="1">
          <a:blip r:embed="rId4">
            <a:alphaModFix/>
          </a:blip>
          <a:srcRect b="-333" l="55096" r="0" t="12506"/>
          <a:stretch/>
        </p:blipFill>
        <p:spPr>
          <a:xfrm rot="5400000">
            <a:off x="5800468" y="-1081238"/>
            <a:ext cx="2262292" cy="442477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3"/>
          <p:cNvSpPr txBox="1"/>
          <p:nvPr>
            <p:ph idx="1" type="body"/>
          </p:nvPr>
        </p:nvSpPr>
        <p:spPr>
          <a:xfrm>
            <a:off x="2530851" y="2620280"/>
            <a:ext cx="5045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06" name="Google Shape;10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664" y="1047036"/>
            <a:ext cx="2501451" cy="2655861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3"/>
          <p:cNvSpPr txBox="1"/>
          <p:nvPr>
            <p:ph idx="2" type="body"/>
          </p:nvPr>
        </p:nvSpPr>
        <p:spPr>
          <a:xfrm>
            <a:off x="2530850" y="1865458"/>
            <a:ext cx="12909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lt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uble Quote">
  <p:cSld name="Double Quote">
    <p:bg>
      <p:bgPr>
        <a:solidFill>
          <a:schemeClr val="accen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4"/>
          <p:cNvPicPr preferRelativeResize="0"/>
          <p:nvPr/>
        </p:nvPicPr>
        <p:blipFill rotWithShape="1">
          <a:blip r:embed="rId3">
            <a:alphaModFix/>
          </a:blip>
          <a:srcRect b="0" l="0" r="0" t="35839"/>
          <a:stretch/>
        </p:blipFill>
        <p:spPr>
          <a:xfrm>
            <a:off x="247136" y="0"/>
            <a:ext cx="5693655" cy="365301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4"/>
          <p:cNvSpPr txBox="1"/>
          <p:nvPr>
            <p:ph idx="1" type="body"/>
          </p:nvPr>
        </p:nvSpPr>
        <p:spPr>
          <a:xfrm>
            <a:off x="1142703" y="657429"/>
            <a:ext cx="41073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2" name="Google Shape;112;p24"/>
          <p:cNvSpPr txBox="1"/>
          <p:nvPr>
            <p:ph idx="2" type="body"/>
          </p:nvPr>
        </p:nvSpPr>
        <p:spPr>
          <a:xfrm>
            <a:off x="600488" y="-10576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24"/>
          <p:cNvSpPr txBox="1"/>
          <p:nvPr>
            <p:ph idx="3" type="body"/>
          </p:nvPr>
        </p:nvSpPr>
        <p:spPr>
          <a:xfrm rot="10800000">
            <a:off x="4426591" y="424950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24"/>
          <p:cNvSpPr txBox="1"/>
          <p:nvPr>
            <p:ph idx="4" type="body"/>
          </p:nvPr>
        </p:nvSpPr>
        <p:spPr>
          <a:xfrm>
            <a:off x="1142703" y="2346877"/>
            <a:ext cx="37635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15" name="Google Shape;115;p24"/>
          <p:cNvPicPr preferRelativeResize="0"/>
          <p:nvPr/>
        </p:nvPicPr>
        <p:blipFill rotWithShape="1">
          <a:blip r:embed="rId3">
            <a:alphaModFix/>
          </a:blip>
          <a:srcRect b="0" l="0" r="0" t="35839"/>
          <a:stretch/>
        </p:blipFill>
        <p:spPr>
          <a:xfrm rot="10800000">
            <a:off x="4021812" y="1855558"/>
            <a:ext cx="5124644" cy="328794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4"/>
          <p:cNvSpPr txBox="1"/>
          <p:nvPr>
            <p:ph idx="5" type="body"/>
          </p:nvPr>
        </p:nvSpPr>
        <p:spPr>
          <a:xfrm>
            <a:off x="5277206" y="3137535"/>
            <a:ext cx="3281400" cy="14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24"/>
          <p:cNvSpPr txBox="1"/>
          <p:nvPr>
            <p:ph idx="6" type="body"/>
          </p:nvPr>
        </p:nvSpPr>
        <p:spPr>
          <a:xfrm>
            <a:off x="4835583" y="2541543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4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24"/>
          <p:cNvSpPr txBox="1"/>
          <p:nvPr>
            <p:ph idx="7" type="body"/>
          </p:nvPr>
        </p:nvSpPr>
        <p:spPr>
          <a:xfrm rot="10800000">
            <a:off x="7086331" y="2860365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4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9" name="Google Shape;119;p24"/>
          <p:cNvSpPr txBox="1"/>
          <p:nvPr>
            <p:ph idx="8" type="body"/>
          </p:nvPr>
        </p:nvSpPr>
        <p:spPr>
          <a:xfrm>
            <a:off x="5311076" y="4688285"/>
            <a:ext cx="37635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 header 2">
    <p:bg>
      <p:bgPr>
        <a:solidFill>
          <a:schemeClr val="accent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5"/>
          <p:cNvPicPr preferRelativeResize="0"/>
          <p:nvPr/>
        </p:nvPicPr>
        <p:blipFill rotWithShape="1">
          <a:blip r:embed="rId2">
            <a:alphaModFix/>
          </a:blip>
          <a:srcRect b="8506" l="21377" r="0" t="8257"/>
          <a:stretch/>
        </p:blipFill>
        <p:spPr>
          <a:xfrm>
            <a:off x="0" y="-1"/>
            <a:ext cx="485871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5"/>
          <p:cNvPicPr preferRelativeResize="0"/>
          <p:nvPr/>
        </p:nvPicPr>
        <p:blipFill rotWithShape="1">
          <a:blip r:embed="rId3">
            <a:alphaModFix/>
          </a:blip>
          <a:srcRect b="-340" l="-402" r="29870" t="8310"/>
          <a:stretch/>
        </p:blipFill>
        <p:spPr>
          <a:xfrm rot="5400000">
            <a:off x="4147775" y="147279"/>
            <a:ext cx="4335565" cy="5656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5"/>
          <p:cNvPicPr preferRelativeResize="0"/>
          <p:nvPr/>
        </p:nvPicPr>
        <p:blipFill rotWithShape="1">
          <a:blip r:embed="rId4">
            <a:alphaModFix/>
          </a:blip>
          <a:srcRect b="-333" l="55096" r="0" t="12506"/>
          <a:stretch/>
        </p:blipFill>
        <p:spPr>
          <a:xfrm rot="5400000">
            <a:off x="5800468" y="-1081238"/>
            <a:ext cx="2262292" cy="4424771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5"/>
          <p:cNvSpPr txBox="1"/>
          <p:nvPr>
            <p:ph idx="1" type="body"/>
          </p:nvPr>
        </p:nvSpPr>
        <p:spPr>
          <a:xfrm>
            <a:off x="2530851" y="2620280"/>
            <a:ext cx="5045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25" name="Google Shape;12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664" y="1047036"/>
            <a:ext cx="2501451" cy="265586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5"/>
          <p:cNvSpPr txBox="1"/>
          <p:nvPr>
            <p:ph idx="2" type="body"/>
          </p:nvPr>
        </p:nvSpPr>
        <p:spPr>
          <a:xfrm>
            <a:off x="2530850" y="1865458"/>
            <a:ext cx="12909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lt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4">
  <p:cSld name="Section header 4">
    <p:bg>
      <p:bgPr>
        <a:solidFill>
          <a:schemeClr val="dk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6"/>
          <p:cNvPicPr preferRelativeResize="0"/>
          <p:nvPr/>
        </p:nvPicPr>
        <p:blipFill rotWithShape="1">
          <a:blip r:embed="rId2">
            <a:alphaModFix/>
          </a:blip>
          <a:srcRect b="8506" l="21377" r="0" t="8257"/>
          <a:stretch/>
        </p:blipFill>
        <p:spPr>
          <a:xfrm>
            <a:off x="0" y="-1"/>
            <a:ext cx="485871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6"/>
          <p:cNvPicPr preferRelativeResize="0"/>
          <p:nvPr/>
        </p:nvPicPr>
        <p:blipFill rotWithShape="1">
          <a:blip r:embed="rId3">
            <a:alphaModFix/>
          </a:blip>
          <a:srcRect b="-340" l="-402" r="29870" t="8310"/>
          <a:stretch/>
        </p:blipFill>
        <p:spPr>
          <a:xfrm rot="5400000">
            <a:off x="4147775" y="147279"/>
            <a:ext cx="4335565" cy="5656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6"/>
          <p:cNvPicPr preferRelativeResize="0"/>
          <p:nvPr/>
        </p:nvPicPr>
        <p:blipFill rotWithShape="1">
          <a:blip r:embed="rId4">
            <a:alphaModFix/>
          </a:blip>
          <a:srcRect b="-333" l="55096" r="0" t="12506"/>
          <a:stretch/>
        </p:blipFill>
        <p:spPr>
          <a:xfrm rot="5400000">
            <a:off x="5800468" y="-1081238"/>
            <a:ext cx="2262292" cy="442477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6"/>
          <p:cNvSpPr txBox="1"/>
          <p:nvPr>
            <p:ph idx="1" type="body"/>
          </p:nvPr>
        </p:nvSpPr>
        <p:spPr>
          <a:xfrm>
            <a:off x="2530851" y="2620280"/>
            <a:ext cx="5045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32" name="Google Shape;13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664" y="1047036"/>
            <a:ext cx="2501451" cy="2655861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6"/>
          <p:cNvSpPr txBox="1"/>
          <p:nvPr>
            <p:ph idx="2" type="body"/>
          </p:nvPr>
        </p:nvSpPr>
        <p:spPr>
          <a:xfrm>
            <a:off x="2530850" y="1865458"/>
            <a:ext cx="12909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lt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no image">
  <p:cSld name="Cover no image">
    <p:bg>
      <p:bgPr>
        <a:solidFill>
          <a:schemeClr val="accen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7"/>
          <p:cNvPicPr preferRelativeResize="0"/>
          <p:nvPr/>
        </p:nvPicPr>
        <p:blipFill rotWithShape="1">
          <a:blip r:embed="rId3">
            <a:alphaModFix/>
          </a:blip>
          <a:srcRect b="42290" l="19517" r="0" t="8258"/>
          <a:stretch/>
        </p:blipFill>
        <p:spPr>
          <a:xfrm>
            <a:off x="0" y="0"/>
            <a:ext cx="8372024" cy="5143501"/>
          </a:xfrm>
          <a:prstGeom prst="rect">
            <a:avLst/>
          </a:prstGeom>
          <a:noFill/>
          <a:ln>
            <a:noFill/>
          </a:ln>
          <a:effectLst>
            <a:outerShdw blurRad="411778" sx="102000" rotWithShape="0" algn="ctr" sy="102000">
              <a:srgbClr val="000000">
                <a:alpha val="40000"/>
              </a:srgbClr>
            </a:outerShdw>
          </a:effectLst>
        </p:spPr>
      </p:pic>
      <p:sp>
        <p:nvSpPr>
          <p:cNvPr id="137" name="Google Shape;137;p27"/>
          <p:cNvSpPr txBox="1"/>
          <p:nvPr>
            <p:ph idx="1" type="body"/>
          </p:nvPr>
        </p:nvSpPr>
        <p:spPr>
          <a:xfrm>
            <a:off x="585997" y="2308601"/>
            <a:ext cx="69927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" name="Google Shape;138;p27"/>
          <p:cNvSpPr txBox="1"/>
          <p:nvPr>
            <p:ph idx="2" type="body"/>
          </p:nvPr>
        </p:nvSpPr>
        <p:spPr>
          <a:xfrm>
            <a:off x="585997" y="3028884"/>
            <a:ext cx="12909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39" name="Google Shape;13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997" y="740829"/>
            <a:ext cx="3014053" cy="119675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7"/>
          <p:cNvSpPr txBox="1"/>
          <p:nvPr>
            <p:ph idx="3" type="body"/>
          </p:nvPr>
        </p:nvSpPr>
        <p:spPr>
          <a:xfrm>
            <a:off x="585997" y="3576929"/>
            <a:ext cx="46098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1" name="Google Shape;141;p27"/>
          <p:cNvSpPr/>
          <p:nvPr/>
        </p:nvSpPr>
        <p:spPr>
          <a:xfrm>
            <a:off x="0" y="4402671"/>
            <a:ext cx="9144000" cy="74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ver with image">
  <p:cSld name="1_Cover with image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/>
          <p:nvPr>
            <p:ph idx="2" type="pic"/>
          </p:nvPr>
        </p:nvSpPr>
        <p:spPr>
          <a:xfrm>
            <a:off x="61" y="0"/>
            <a:ext cx="3704100" cy="44031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28"/>
          <p:cNvSpPr/>
          <p:nvPr>
            <p:ph idx="3" type="pic"/>
          </p:nvPr>
        </p:nvSpPr>
        <p:spPr>
          <a:xfrm>
            <a:off x="5439966" y="0"/>
            <a:ext cx="3704100" cy="4403100"/>
          </a:xfrm>
          <a:prstGeom prst="rect">
            <a:avLst/>
          </a:prstGeom>
          <a:noFill/>
          <a:ln>
            <a:noFill/>
          </a:ln>
        </p:spPr>
      </p:sp>
      <p:pic>
        <p:nvPicPr>
          <p:cNvPr id="145" name="Google Shape;145;p28"/>
          <p:cNvPicPr preferRelativeResize="0"/>
          <p:nvPr/>
        </p:nvPicPr>
        <p:blipFill rotWithShape="1">
          <a:blip r:embed="rId2">
            <a:alphaModFix/>
          </a:blip>
          <a:srcRect b="42290" l="19517" r="0" t="8258"/>
          <a:stretch/>
        </p:blipFill>
        <p:spPr>
          <a:xfrm>
            <a:off x="0" y="0"/>
            <a:ext cx="8372024" cy="5143501"/>
          </a:xfrm>
          <a:prstGeom prst="rect">
            <a:avLst/>
          </a:prstGeom>
          <a:noFill/>
          <a:ln>
            <a:noFill/>
          </a:ln>
          <a:effectLst>
            <a:outerShdw blurRad="411778" sx="102000" rotWithShape="0" algn="ctr" sy="102000">
              <a:srgbClr val="000000">
                <a:alpha val="40000"/>
              </a:srgbClr>
            </a:outerShdw>
          </a:effectLst>
        </p:spPr>
      </p:pic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585997" y="2308601"/>
            <a:ext cx="6992700" cy="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" name="Google Shape;147;p28"/>
          <p:cNvSpPr txBox="1"/>
          <p:nvPr>
            <p:ph idx="4" type="body"/>
          </p:nvPr>
        </p:nvSpPr>
        <p:spPr>
          <a:xfrm>
            <a:off x="585997" y="3028884"/>
            <a:ext cx="12909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lt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48" name="Google Shape;14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997" y="740829"/>
            <a:ext cx="3014053" cy="1196756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8"/>
          <p:cNvSpPr txBox="1"/>
          <p:nvPr>
            <p:ph idx="5" type="body"/>
          </p:nvPr>
        </p:nvSpPr>
        <p:spPr>
          <a:xfrm>
            <a:off x="585997" y="3576929"/>
            <a:ext cx="4609800" cy="2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p28"/>
          <p:cNvSpPr/>
          <p:nvPr/>
        </p:nvSpPr>
        <p:spPr>
          <a:xfrm>
            <a:off x="0" y="4402671"/>
            <a:ext cx="9144000" cy="74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 header 3">
    <p:bg>
      <p:bgPr>
        <a:solidFill>
          <a:schemeClr val="accent4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29"/>
          <p:cNvPicPr preferRelativeResize="0"/>
          <p:nvPr/>
        </p:nvPicPr>
        <p:blipFill rotWithShape="1">
          <a:blip r:embed="rId2">
            <a:alphaModFix/>
          </a:blip>
          <a:srcRect b="8506" l="21377" r="0" t="8257"/>
          <a:stretch/>
        </p:blipFill>
        <p:spPr>
          <a:xfrm>
            <a:off x="0" y="-1"/>
            <a:ext cx="485871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9"/>
          <p:cNvPicPr preferRelativeResize="0"/>
          <p:nvPr/>
        </p:nvPicPr>
        <p:blipFill rotWithShape="1">
          <a:blip r:embed="rId3">
            <a:alphaModFix/>
          </a:blip>
          <a:srcRect b="-340" l="-402" r="29870" t="8310"/>
          <a:stretch/>
        </p:blipFill>
        <p:spPr>
          <a:xfrm rot="5400000">
            <a:off x="4147775" y="147279"/>
            <a:ext cx="4335565" cy="5656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9"/>
          <p:cNvPicPr preferRelativeResize="0"/>
          <p:nvPr/>
        </p:nvPicPr>
        <p:blipFill rotWithShape="1">
          <a:blip r:embed="rId4">
            <a:alphaModFix/>
          </a:blip>
          <a:srcRect b="-333" l="55096" r="0" t="12506"/>
          <a:stretch/>
        </p:blipFill>
        <p:spPr>
          <a:xfrm rot="5400000">
            <a:off x="5800468" y="-1081238"/>
            <a:ext cx="2262292" cy="442477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2530851" y="2620280"/>
            <a:ext cx="5045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56" name="Google Shape;15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664" y="1047036"/>
            <a:ext cx="2501451" cy="265586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9"/>
          <p:cNvSpPr txBox="1"/>
          <p:nvPr>
            <p:ph idx="2" type="body"/>
          </p:nvPr>
        </p:nvSpPr>
        <p:spPr>
          <a:xfrm>
            <a:off x="2530850" y="1865458"/>
            <a:ext cx="12909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lt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text box">
  <p:cSld name="Single text box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ctrTitle"/>
          </p:nvPr>
        </p:nvSpPr>
        <p:spPr>
          <a:xfrm>
            <a:off x="379560" y="373588"/>
            <a:ext cx="838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0" name="Google Shape;160;p30"/>
          <p:cNvSpPr txBox="1"/>
          <p:nvPr>
            <p:ph idx="1" type="subTitle"/>
          </p:nvPr>
        </p:nvSpPr>
        <p:spPr>
          <a:xfrm>
            <a:off x="379560" y="1066085"/>
            <a:ext cx="838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30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2" name="Google Shape;162;p30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63" name="Google Shape;163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0"/>
          <p:cNvSpPr txBox="1"/>
          <p:nvPr>
            <p:ph idx="2" type="body"/>
          </p:nvPr>
        </p:nvSpPr>
        <p:spPr>
          <a:xfrm>
            <a:off x="379853" y="1663303"/>
            <a:ext cx="8384700" cy="26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uble text box slide">
  <p:cSld name="Double text box slide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ctrTitle"/>
          </p:nvPr>
        </p:nvSpPr>
        <p:spPr>
          <a:xfrm>
            <a:off x="379560" y="373588"/>
            <a:ext cx="838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7" name="Google Shape;167;p31"/>
          <p:cNvSpPr txBox="1"/>
          <p:nvPr>
            <p:ph idx="1" type="subTitle"/>
          </p:nvPr>
        </p:nvSpPr>
        <p:spPr>
          <a:xfrm>
            <a:off x="379560" y="1066085"/>
            <a:ext cx="838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31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69" name="Google Shape;169;p31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0" name="Google Shape;170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1"/>
          <p:cNvSpPr txBox="1"/>
          <p:nvPr>
            <p:ph idx="2" type="body"/>
          </p:nvPr>
        </p:nvSpPr>
        <p:spPr>
          <a:xfrm>
            <a:off x="379853" y="1663303"/>
            <a:ext cx="3955800" cy="26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2" name="Google Shape;172;p31"/>
          <p:cNvSpPr txBox="1"/>
          <p:nvPr>
            <p:ph idx="3" type="body"/>
          </p:nvPr>
        </p:nvSpPr>
        <p:spPr>
          <a:xfrm>
            <a:off x="4808494" y="1663303"/>
            <a:ext cx="3955800" cy="26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ft text box and image">
  <p:cSld name="Left text box and image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2"/>
          <p:cNvSpPr txBox="1"/>
          <p:nvPr>
            <p:ph type="ctrTitle"/>
          </p:nvPr>
        </p:nvSpPr>
        <p:spPr>
          <a:xfrm>
            <a:off x="379560" y="373588"/>
            <a:ext cx="3851700" cy="19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5" name="Google Shape;175;p32"/>
          <p:cNvSpPr txBox="1"/>
          <p:nvPr>
            <p:ph idx="1" type="subTitle"/>
          </p:nvPr>
        </p:nvSpPr>
        <p:spPr>
          <a:xfrm>
            <a:off x="379560" y="2454773"/>
            <a:ext cx="3851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6" name="Google Shape;176;p32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7" name="Google Shape;177;p32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8" name="Google Shape;178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2"/>
          <p:cNvSpPr txBox="1"/>
          <p:nvPr>
            <p:ph idx="2" type="body"/>
          </p:nvPr>
        </p:nvSpPr>
        <p:spPr>
          <a:xfrm>
            <a:off x="379560" y="3184902"/>
            <a:ext cx="38517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238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048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048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32"/>
          <p:cNvSpPr/>
          <p:nvPr>
            <p:ph idx="3" type="pic"/>
          </p:nvPr>
        </p:nvSpPr>
        <p:spPr>
          <a:xfrm>
            <a:off x="4572000" y="373589"/>
            <a:ext cx="4192500" cy="418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numbered columns">
  <p:cSld name="3 numbered columns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/>
          <p:nvPr>
            <p:ph type="ctrTitle"/>
          </p:nvPr>
        </p:nvSpPr>
        <p:spPr>
          <a:xfrm>
            <a:off x="379560" y="373588"/>
            <a:ext cx="838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3" name="Google Shape;183;p33"/>
          <p:cNvSpPr txBox="1"/>
          <p:nvPr>
            <p:ph idx="1" type="subTitle"/>
          </p:nvPr>
        </p:nvSpPr>
        <p:spPr>
          <a:xfrm>
            <a:off x="379560" y="1066085"/>
            <a:ext cx="838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4" name="Google Shape;184;p33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5" name="Google Shape;185;p33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6" name="Google Shape;186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3"/>
          <p:cNvSpPr txBox="1"/>
          <p:nvPr>
            <p:ph idx="2" type="body"/>
          </p:nvPr>
        </p:nvSpPr>
        <p:spPr>
          <a:xfrm>
            <a:off x="379852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8" name="Google Shape;188;p33"/>
          <p:cNvSpPr txBox="1"/>
          <p:nvPr>
            <p:ph idx="3" type="body"/>
          </p:nvPr>
        </p:nvSpPr>
        <p:spPr>
          <a:xfrm>
            <a:off x="379852" y="2043463"/>
            <a:ext cx="2258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9" name="Google Shape;189;p33"/>
          <p:cNvSpPr txBox="1"/>
          <p:nvPr>
            <p:ph idx="4" type="body"/>
          </p:nvPr>
        </p:nvSpPr>
        <p:spPr>
          <a:xfrm>
            <a:off x="379852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0" name="Google Shape;190;p33"/>
          <p:cNvSpPr txBox="1"/>
          <p:nvPr>
            <p:ph idx="5" type="body"/>
          </p:nvPr>
        </p:nvSpPr>
        <p:spPr>
          <a:xfrm>
            <a:off x="3491283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1" name="Google Shape;191;p33"/>
          <p:cNvSpPr txBox="1"/>
          <p:nvPr>
            <p:ph idx="6" type="body"/>
          </p:nvPr>
        </p:nvSpPr>
        <p:spPr>
          <a:xfrm>
            <a:off x="3491283" y="2043463"/>
            <a:ext cx="2258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2" name="Google Shape;192;p33"/>
          <p:cNvSpPr txBox="1"/>
          <p:nvPr>
            <p:ph idx="7" type="body"/>
          </p:nvPr>
        </p:nvSpPr>
        <p:spPr>
          <a:xfrm>
            <a:off x="3491283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3" name="Google Shape;193;p33"/>
          <p:cNvSpPr txBox="1"/>
          <p:nvPr>
            <p:ph idx="8" type="body"/>
          </p:nvPr>
        </p:nvSpPr>
        <p:spPr>
          <a:xfrm>
            <a:off x="6517182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4" name="Google Shape;194;p33"/>
          <p:cNvSpPr txBox="1"/>
          <p:nvPr>
            <p:ph idx="9" type="body"/>
          </p:nvPr>
        </p:nvSpPr>
        <p:spPr>
          <a:xfrm>
            <a:off x="6517182" y="2043463"/>
            <a:ext cx="22587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accent3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5" name="Google Shape;195;p33"/>
          <p:cNvSpPr txBox="1"/>
          <p:nvPr>
            <p:ph idx="13" type="body"/>
          </p:nvPr>
        </p:nvSpPr>
        <p:spPr>
          <a:xfrm>
            <a:off x="6517182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3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numbered columns">
  <p:cSld name="4 numbered columns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/>
          <p:nvPr>
            <p:ph type="ctrTitle"/>
          </p:nvPr>
        </p:nvSpPr>
        <p:spPr>
          <a:xfrm>
            <a:off x="379560" y="373588"/>
            <a:ext cx="838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8" name="Google Shape;198;p34"/>
          <p:cNvSpPr txBox="1"/>
          <p:nvPr>
            <p:ph idx="1" type="subTitle"/>
          </p:nvPr>
        </p:nvSpPr>
        <p:spPr>
          <a:xfrm>
            <a:off x="379560" y="1066085"/>
            <a:ext cx="838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9" name="Google Shape;199;p34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00" name="Google Shape;200;p34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01" name="Google Shape;201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4"/>
          <p:cNvSpPr txBox="1"/>
          <p:nvPr>
            <p:ph idx="2" type="body"/>
          </p:nvPr>
        </p:nvSpPr>
        <p:spPr>
          <a:xfrm>
            <a:off x="379853" y="2906768"/>
            <a:ext cx="19359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3" name="Google Shape;203;p34"/>
          <p:cNvSpPr txBox="1"/>
          <p:nvPr>
            <p:ph idx="3" type="body"/>
          </p:nvPr>
        </p:nvSpPr>
        <p:spPr>
          <a:xfrm>
            <a:off x="379853" y="2043463"/>
            <a:ext cx="193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4" name="Google Shape;204;p34"/>
          <p:cNvSpPr txBox="1"/>
          <p:nvPr>
            <p:ph idx="4" type="body"/>
          </p:nvPr>
        </p:nvSpPr>
        <p:spPr>
          <a:xfrm>
            <a:off x="379853" y="2516342"/>
            <a:ext cx="193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5" name="Google Shape;205;p34"/>
          <p:cNvSpPr txBox="1"/>
          <p:nvPr>
            <p:ph idx="5" type="body"/>
          </p:nvPr>
        </p:nvSpPr>
        <p:spPr>
          <a:xfrm>
            <a:off x="2522204" y="2906768"/>
            <a:ext cx="19359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6" name="Google Shape;206;p34"/>
          <p:cNvSpPr txBox="1"/>
          <p:nvPr>
            <p:ph idx="6" type="body"/>
          </p:nvPr>
        </p:nvSpPr>
        <p:spPr>
          <a:xfrm>
            <a:off x="2522204" y="2043463"/>
            <a:ext cx="193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7" name="Google Shape;207;p34"/>
          <p:cNvSpPr txBox="1"/>
          <p:nvPr>
            <p:ph idx="7" type="body"/>
          </p:nvPr>
        </p:nvSpPr>
        <p:spPr>
          <a:xfrm>
            <a:off x="2522204" y="2516342"/>
            <a:ext cx="193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8" name="Google Shape;208;p34"/>
          <p:cNvSpPr txBox="1"/>
          <p:nvPr>
            <p:ph idx="8" type="body"/>
          </p:nvPr>
        </p:nvSpPr>
        <p:spPr>
          <a:xfrm>
            <a:off x="4685789" y="2906768"/>
            <a:ext cx="19359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9" name="Google Shape;209;p34"/>
          <p:cNvSpPr txBox="1"/>
          <p:nvPr>
            <p:ph idx="9" type="body"/>
          </p:nvPr>
        </p:nvSpPr>
        <p:spPr>
          <a:xfrm>
            <a:off x="4685789" y="2043463"/>
            <a:ext cx="193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accent3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0" name="Google Shape;210;p34"/>
          <p:cNvSpPr txBox="1"/>
          <p:nvPr>
            <p:ph idx="13" type="body"/>
          </p:nvPr>
        </p:nvSpPr>
        <p:spPr>
          <a:xfrm>
            <a:off x="4685789" y="2516342"/>
            <a:ext cx="193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3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1" name="Google Shape;211;p34"/>
          <p:cNvSpPr txBox="1"/>
          <p:nvPr>
            <p:ph idx="14" type="body"/>
          </p:nvPr>
        </p:nvSpPr>
        <p:spPr>
          <a:xfrm>
            <a:off x="6838193" y="2906768"/>
            <a:ext cx="19359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2" name="Google Shape;212;p34"/>
          <p:cNvSpPr txBox="1"/>
          <p:nvPr>
            <p:ph idx="15" type="body"/>
          </p:nvPr>
        </p:nvSpPr>
        <p:spPr>
          <a:xfrm>
            <a:off x="6838193" y="2043463"/>
            <a:ext cx="193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b="0" i="0" sz="3000" u="none" cap="none" strike="noStrike">
                <a:solidFill>
                  <a:schemeClr val="dk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3" name="Google Shape;213;p34"/>
          <p:cNvSpPr txBox="1"/>
          <p:nvPr>
            <p:ph idx="16" type="body"/>
          </p:nvPr>
        </p:nvSpPr>
        <p:spPr>
          <a:xfrm>
            <a:off x="6838193" y="2516342"/>
            <a:ext cx="193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con columns">
  <p:cSld name="3 icon columns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type="ctrTitle"/>
          </p:nvPr>
        </p:nvSpPr>
        <p:spPr>
          <a:xfrm>
            <a:off x="379560" y="373588"/>
            <a:ext cx="838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6" name="Google Shape;216;p35"/>
          <p:cNvSpPr txBox="1"/>
          <p:nvPr>
            <p:ph idx="1" type="subTitle"/>
          </p:nvPr>
        </p:nvSpPr>
        <p:spPr>
          <a:xfrm>
            <a:off x="379560" y="1066085"/>
            <a:ext cx="838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7" name="Google Shape;217;p35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18" name="Google Shape;218;p35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19" name="Google Shape;219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5"/>
          <p:cNvSpPr txBox="1"/>
          <p:nvPr>
            <p:ph idx="2" type="body"/>
          </p:nvPr>
        </p:nvSpPr>
        <p:spPr>
          <a:xfrm>
            <a:off x="379852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1" name="Google Shape;221;p35"/>
          <p:cNvSpPr txBox="1"/>
          <p:nvPr>
            <p:ph idx="3" type="body"/>
          </p:nvPr>
        </p:nvSpPr>
        <p:spPr>
          <a:xfrm>
            <a:off x="379852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2" name="Google Shape;222;p35"/>
          <p:cNvSpPr txBox="1"/>
          <p:nvPr>
            <p:ph idx="4" type="body"/>
          </p:nvPr>
        </p:nvSpPr>
        <p:spPr>
          <a:xfrm>
            <a:off x="3491283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3" name="Google Shape;223;p35"/>
          <p:cNvSpPr txBox="1"/>
          <p:nvPr>
            <p:ph idx="5" type="body"/>
          </p:nvPr>
        </p:nvSpPr>
        <p:spPr>
          <a:xfrm>
            <a:off x="3491283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4" name="Google Shape;224;p35"/>
          <p:cNvSpPr txBox="1"/>
          <p:nvPr>
            <p:ph idx="6" type="body"/>
          </p:nvPr>
        </p:nvSpPr>
        <p:spPr>
          <a:xfrm>
            <a:off x="6517182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5" name="Google Shape;225;p35"/>
          <p:cNvSpPr txBox="1"/>
          <p:nvPr>
            <p:ph idx="7" type="body"/>
          </p:nvPr>
        </p:nvSpPr>
        <p:spPr>
          <a:xfrm>
            <a:off x="6517182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3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26" name="Google Shape;22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560" y="1764197"/>
            <a:ext cx="662548" cy="6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3641" y="1764197"/>
            <a:ext cx="662548" cy="6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3459851" y="1764200"/>
            <a:ext cx="662548" cy="662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Icon columns">
  <p:cSld name="4 Icon columns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6"/>
          <p:cNvSpPr txBox="1"/>
          <p:nvPr>
            <p:ph type="ctrTitle"/>
          </p:nvPr>
        </p:nvSpPr>
        <p:spPr>
          <a:xfrm>
            <a:off x="379560" y="373588"/>
            <a:ext cx="838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1" name="Google Shape;231;p36"/>
          <p:cNvSpPr txBox="1"/>
          <p:nvPr>
            <p:ph idx="1" type="subTitle"/>
          </p:nvPr>
        </p:nvSpPr>
        <p:spPr>
          <a:xfrm>
            <a:off x="379560" y="1066085"/>
            <a:ext cx="838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2" name="Google Shape;232;p36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33" name="Google Shape;233;p36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34" name="Google Shape;234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6"/>
          <p:cNvSpPr txBox="1"/>
          <p:nvPr>
            <p:ph idx="2" type="body"/>
          </p:nvPr>
        </p:nvSpPr>
        <p:spPr>
          <a:xfrm>
            <a:off x="379853" y="2906768"/>
            <a:ext cx="19359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6" name="Google Shape;236;p36"/>
          <p:cNvSpPr txBox="1"/>
          <p:nvPr>
            <p:ph idx="3" type="body"/>
          </p:nvPr>
        </p:nvSpPr>
        <p:spPr>
          <a:xfrm>
            <a:off x="379853" y="2516342"/>
            <a:ext cx="193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7" name="Google Shape;237;p36"/>
          <p:cNvSpPr txBox="1"/>
          <p:nvPr>
            <p:ph idx="4" type="body"/>
          </p:nvPr>
        </p:nvSpPr>
        <p:spPr>
          <a:xfrm>
            <a:off x="2522204" y="2906768"/>
            <a:ext cx="19359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8" name="Google Shape;238;p36"/>
          <p:cNvSpPr txBox="1"/>
          <p:nvPr>
            <p:ph idx="5" type="body"/>
          </p:nvPr>
        </p:nvSpPr>
        <p:spPr>
          <a:xfrm>
            <a:off x="2522204" y="2516342"/>
            <a:ext cx="193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9" name="Google Shape;239;p36"/>
          <p:cNvSpPr txBox="1"/>
          <p:nvPr>
            <p:ph idx="6" type="body"/>
          </p:nvPr>
        </p:nvSpPr>
        <p:spPr>
          <a:xfrm>
            <a:off x="4685789" y="2906768"/>
            <a:ext cx="19359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0" name="Google Shape;240;p36"/>
          <p:cNvSpPr txBox="1"/>
          <p:nvPr>
            <p:ph idx="7" type="body"/>
          </p:nvPr>
        </p:nvSpPr>
        <p:spPr>
          <a:xfrm>
            <a:off x="4685789" y="2516342"/>
            <a:ext cx="193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3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1" name="Google Shape;241;p36"/>
          <p:cNvSpPr txBox="1"/>
          <p:nvPr>
            <p:ph idx="8" type="body"/>
          </p:nvPr>
        </p:nvSpPr>
        <p:spPr>
          <a:xfrm>
            <a:off x="6838193" y="2906768"/>
            <a:ext cx="19359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2" name="Google Shape;242;p36"/>
          <p:cNvSpPr txBox="1"/>
          <p:nvPr>
            <p:ph idx="9" type="body"/>
          </p:nvPr>
        </p:nvSpPr>
        <p:spPr>
          <a:xfrm>
            <a:off x="6838193" y="2516342"/>
            <a:ext cx="1935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43" name="Google Shape;24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560" y="1764197"/>
            <a:ext cx="662548" cy="6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4849" y="1764197"/>
            <a:ext cx="662548" cy="6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2522207" y="1764200"/>
            <a:ext cx="662548" cy="6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0800000">
            <a:off x="6811364" y="1764200"/>
            <a:ext cx="662548" cy="662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 header 3">
    <p:bg>
      <p:bgPr>
        <a:solidFill>
          <a:schemeClr val="accent4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41"/>
          <p:cNvPicPr preferRelativeResize="0"/>
          <p:nvPr/>
        </p:nvPicPr>
        <p:blipFill rotWithShape="1">
          <a:blip r:embed="rId2">
            <a:alphaModFix/>
          </a:blip>
          <a:srcRect b="8506" l="21377" r="0" t="8257"/>
          <a:stretch/>
        </p:blipFill>
        <p:spPr>
          <a:xfrm>
            <a:off x="0" y="-1"/>
            <a:ext cx="485871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41"/>
          <p:cNvPicPr preferRelativeResize="0"/>
          <p:nvPr/>
        </p:nvPicPr>
        <p:blipFill rotWithShape="1">
          <a:blip r:embed="rId3">
            <a:alphaModFix/>
          </a:blip>
          <a:srcRect b="-340" l="-402" r="29870" t="8310"/>
          <a:stretch/>
        </p:blipFill>
        <p:spPr>
          <a:xfrm rot="5400000">
            <a:off x="4147775" y="147279"/>
            <a:ext cx="4335565" cy="5656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1"/>
          <p:cNvPicPr preferRelativeResize="0"/>
          <p:nvPr/>
        </p:nvPicPr>
        <p:blipFill rotWithShape="1">
          <a:blip r:embed="rId4">
            <a:alphaModFix/>
          </a:blip>
          <a:srcRect b="-333" l="55096" r="0" t="12506"/>
          <a:stretch/>
        </p:blipFill>
        <p:spPr>
          <a:xfrm rot="5400000">
            <a:off x="5800468" y="-1081238"/>
            <a:ext cx="2262292" cy="4424771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41"/>
          <p:cNvSpPr txBox="1"/>
          <p:nvPr>
            <p:ph idx="1" type="body"/>
          </p:nvPr>
        </p:nvSpPr>
        <p:spPr>
          <a:xfrm>
            <a:off x="2530851" y="2620280"/>
            <a:ext cx="5045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60" name="Google Shape;260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5664" y="1047036"/>
            <a:ext cx="2501451" cy="2655861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41"/>
          <p:cNvSpPr txBox="1"/>
          <p:nvPr>
            <p:ph idx="2" type="body"/>
          </p:nvPr>
        </p:nvSpPr>
        <p:spPr>
          <a:xfrm>
            <a:off x="2530850" y="1865458"/>
            <a:ext cx="1290900" cy="7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b="0" i="0" sz="5000" u="none" cap="none" strike="noStrike">
                <a:solidFill>
                  <a:schemeClr val="lt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con columns">
  <p:cSld name="3 icon columns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2"/>
          <p:cNvSpPr txBox="1"/>
          <p:nvPr>
            <p:ph type="ctrTitle"/>
          </p:nvPr>
        </p:nvSpPr>
        <p:spPr>
          <a:xfrm>
            <a:off x="379560" y="373588"/>
            <a:ext cx="83850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Delicious Handrawn"/>
              <a:buNone/>
              <a:defRPr b="0" i="0" sz="4500" u="none" cap="none" strike="noStrike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4" name="Google Shape;264;p42"/>
          <p:cNvSpPr txBox="1"/>
          <p:nvPr>
            <p:ph idx="1" type="subTitle"/>
          </p:nvPr>
        </p:nvSpPr>
        <p:spPr>
          <a:xfrm>
            <a:off x="379560" y="1066085"/>
            <a:ext cx="838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lv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5" name="Google Shape;265;p42"/>
          <p:cNvSpPr txBox="1"/>
          <p:nvPr>
            <p:ph idx="12" type="sldNum"/>
          </p:nvPr>
        </p:nvSpPr>
        <p:spPr>
          <a:xfrm>
            <a:off x="8691769" y="4892041"/>
            <a:ext cx="452400" cy="1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66" name="Google Shape;266;p42"/>
          <p:cNvCxnSpPr/>
          <p:nvPr/>
        </p:nvCxnSpPr>
        <p:spPr>
          <a:xfrm>
            <a:off x="0" y="4769912"/>
            <a:ext cx="9144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67" name="Google Shape;267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53190" y="4859506"/>
            <a:ext cx="238578" cy="25330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2"/>
          <p:cNvSpPr txBox="1"/>
          <p:nvPr>
            <p:ph idx="2" type="body"/>
          </p:nvPr>
        </p:nvSpPr>
        <p:spPr>
          <a:xfrm>
            <a:off x="379852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9" name="Google Shape;269;p42"/>
          <p:cNvSpPr txBox="1"/>
          <p:nvPr>
            <p:ph idx="3" type="body"/>
          </p:nvPr>
        </p:nvSpPr>
        <p:spPr>
          <a:xfrm>
            <a:off x="379852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0" name="Google Shape;270;p42"/>
          <p:cNvSpPr txBox="1"/>
          <p:nvPr>
            <p:ph idx="4" type="body"/>
          </p:nvPr>
        </p:nvSpPr>
        <p:spPr>
          <a:xfrm>
            <a:off x="3491283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1" name="Google Shape;271;p42"/>
          <p:cNvSpPr txBox="1"/>
          <p:nvPr>
            <p:ph idx="5" type="body"/>
          </p:nvPr>
        </p:nvSpPr>
        <p:spPr>
          <a:xfrm>
            <a:off x="3491283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2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2" name="Google Shape;272;p42"/>
          <p:cNvSpPr txBox="1"/>
          <p:nvPr>
            <p:ph idx="6" type="body"/>
          </p:nvPr>
        </p:nvSpPr>
        <p:spPr>
          <a:xfrm>
            <a:off x="6517182" y="2906768"/>
            <a:ext cx="2258700" cy="1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3" name="Google Shape;273;p42"/>
          <p:cNvSpPr txBox="1"/>
          <p:nvPr>
            <p:ph idx="7" type="body"/>
          </p:nvPr>
        </p:nvSpPr>
        <p:spPr>
          <a:xfrm>
            <a:off x="6517182" y="2516342"/>
            <a:ext cx="22587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accent3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048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2984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2984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b="0" i="0" sz="11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274" name="Google Shape;27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560" y="1764197"/>
            <a:ext cx="662548" cy="6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3641" y="1764197"/>
            <a:ext cx="662548" cy="6625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3459851" y="1764200"/>
            <a:ext cx="662548" cy="6625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Quote">
  <p:cSld name="Single Quote">
    <p:bg>
      <p:bgPr>
        <a:solidFill>
          <a:schemeClr val="accent1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43"/>
          <p:cNvPicPr preferRelativeResize="0"/>
          <p:nvPr/>
        </p:nvPicPr>
        <p:blipFill rotWithShape="1">
          <a:blip r:embed="rId3">
            <a:alphaModFix/>
          </a:blip>
          <a:srcRect b="0" l="0" r="0" t="35839"/>
          <a:stretch/>
        </p:blipFill>
        <p:spPr>
          <a:xfrm>
            <a:off x="874685" y="0"/>
            <a:ext cx="7394632" cy="474435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43"/>
          <p:cNvSpPr txBox="1"/>
          <p:nvPr>
            <p:ph idx="1" type="body"/>
          </p:nvPr>
        </p:nvSpPr>
        <p:spPr>
          <a:xfrm>
            <a:off x="2080649" y="1091336"/>
            <a:ext cx="5045100" cy="17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Arial"/>
              <a:buNone/>
              <a:defRPr b="0" i="0" sz="41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1" name="Google Shape;281;p43"/>
          <p:cNvSpPr txBox="1"/>
          <p:nvPr>
            <p:ph idx="2" type="body"/>
          </p:nvPr>
        </p:nvSpPr>
        <p:spPr>
          <a:xfrm>
            <a:off x="1538434" y="423331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2" name="Google Shape;282;p43"/>
          <p:cNvSpPr txBox="1"/>
          <p:nvPr>
            <p:ph idx="3" type="body"/>
          </p:nvPr>
        </p:nvSpPr>
        <p:spPr>
          <a:xfrm rot="10800000">
            <a:off x="6187920" y="1201375"/>
            <a:ext cx="4797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5000"/>
              <a:buFont typeface="Arial"/>
              <a:buNone/>
              <a:defRPr b="0" i="0" sz="15000" u="none" cap="none" strike="noStrike">
                <a:solidFill>
                  <a:schemeClr val="accent2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3" name="Google Shape;283;p43"/>
          <p:cNvSpPr txBox="1"/>
          <p:nvPr>
            <p:ph idx="4" type="body"/>
          </p:nvPr>
        </p:nvSpPr>
        <p:spPr>
          <a:xfrm>
            <a:off x="2080649" y="3044123"/>
            <a:ext cx="5045100" cy="2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 title and description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7"/>
          <p:cNvSpPr txBox="1"/>
          <p:nvPr>
            <p:ph idx="12" type="sldNum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3" name="Google Shape;293;p47"/>
          <p:cNvSpPr/>
          <p:nvPr/>
        </p:nvSpPr>
        <p:spPr>
          <a:xfrm>
            <a:off x="8907236" y="0"/>
            <a:ext cx="236700" cy="5143500"/>
          </a:xfrm>
          <a:prstGeom prst="rect">
            <a:avLst/>
          </a:prstGeom>
          <a:solidFill>
            <a:srgbClr val="1B30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47"/>
          <p:cNvSpPr/>
          <p:nvPr/>
        </p:nvSpPr>
        <p:spPr>
          <a:xfrm>
            <a:off x="0" y="0"/>
            <a:ext cx="236700" cy="710400"/>
          </a:xfrm>
          <a:prstGeom prst="rect">
            <a:avLst/>
          </a:prstGeom>
          <a:solidFill>
            <a:srgbClr val="1B30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title and description">
  <p:cSld name="1_Section title and description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 showMasterSp="0">
  <p:cSld name="Title &amp; Bullets">
    <p:bg>
      <p:bgPr>
        <a:solidFill>
          <a:schemeClr val="l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8" name="Google Shape;298;p50"/>
          <p:cNvCxnSpPr/>
          <p:nvPr/>
        </p:nvCxnSpPr>
        <p:spPr>
          <a:xfrm flipH="1">
            <a:off x="0" y="4816973"/>
            <a:ext cx="8077200" cy="1170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50"/>
          <p:cNvSpPr txBox="1"/>
          <p:nvPr/>
        </p:nvSpPr>
        <p:spPr>
          <a:xfrm>
            <a:off x="6280602" y="4861798"/>
            <a:ext cx="2743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0C3F6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0C3F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0" name="Google Shape;300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068234" y="4624571"/>
            <a:ext cx="499409" cy="4206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01" name="Google Shape;301;p50"/>
          <p:cNvCxnSpPr/>
          <p:nvPr/>
        </p:nvCxnSpPr>
        <p:spPr>
          <a:xfrm rot="10800000">
            <a:off x="8521800" y="4828880"/>
            <a:ext cx="622200" cy="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Diagram or Organization Chart">
  <p:cSld name="1_Title and Diagram or Organization Chart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2.xml"/><Relationship Id="rId17" Type="http://schemas.openxmlformats.org/officeDocument/2006/relationships/theme" Target="../theme/theme6.xml"/><Relationship Id="rId1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5.xml"/><Relationship Id="rId8" Type="http://schemas.openxmlformats.org/officeDocument/2006/relationships/slideLayout" Target="../slideLayouts/slideLayout26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theme" Target="../theme/theme2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49.png"/><Relationship Id="rId2" Type="http://schemas.openxmlformats.org/officeDocument/2006/relationships/slideLayout" Target="../slideLayouts/slideLayout40.xml"/><Relationship Id="rId3" Type="http://schemas.openxmlformats.org/officeDocument/2006/relationships/slideLayout" Target="../slideLayouts/slideLayout41.xml"/><Relationship Id="rId4" Type="http://schemas.openxmlformats.org/officeDocument/2006/relationships/slideLayout" Target="../slideLayouts/slideLayout42.xml"/><Relationship Id="rId9" Type="http://schemas.openxmlformats.org/officeDocument/2006/relationships/theme" Target="../theme/theme3.xml"/><Relationship Id="rId5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4.xml"/><Relationship Id="rId7" Type="http://schemas.openxmlformats.org/officeDocument/2006/relationships/slideLayout" Target="../slideLayouts/slideLayout45.xml"/><Relationship Id="rId8" Type="http://schemas.openxmlformats.org/officeDocument/2006/relationships/slideLayout" Target="../slideLayouts/slideLayout46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8.xml"/><Relationship Id="rId4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15"/>
          <p:cNvCxnSpPr/>
          <p:nvPr/>
        </p:nvCxnSpPr>
        <p:spPr>
          <a:xfrm flipH="1">
            <a:off x="0" y="4816973"/>
            <a:ext cx="8077200" cy="1170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" name="Google Shape;59;p15"/>
          <p:cNvSpPr txBox="1"/>
          <p:nvPr/>
        </p:nvSpPr>
        <p:spPr>
          <a:xfrm>
            <a:off x="6280602" y="4861798"/>
            <a:ext cx="2743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0C3F6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0C3F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" name="Google Shape;60;p15"/>
          <p:cNvCxnSpPr/>
          <p:nvPr/>
        </p:nvCxnSpPr>
        <p:spPr>
          <a:xfrm rot="10800000">
            <a:off x="8521800" y="4828880"/>
            <a:ext cx="622200" cy="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61" name="Google Shape;61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58723" y="4631300"/>
            <a:ext cx="363065" cy="383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2"/>
    <p:sldLayoutId id="2147483662" r:id="rId3"/>
    <p:sldLayoutId id="2147483663" r:id="rId4"/>
    <p:sldLayoutId id="2147483664" r:id="rId5"/>
    <p:sldLayoutId id="2147483665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9" name="Google Shape;249;p38"/>
          <p:cNvCxnSpPr/>
          <p:nvPr/>
        </p:nvCxnSpPr>
        <p:spPr>
          <a:xfrm flipH="1">
            <a:off x="0" y="4816973"/>
            <a:ext cx="8077200" cy="1170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p38"/>
          <p:cNvSpPr txBox="1"/>
          <p:nvPr/>
        </p:nvSpPr>
        <p:spPr>
          <a:xfrm>
            <a:off x="6280602" y="4861798"/>
            <a:ext cx="2743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0C3F6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0C3F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1" name="Google Shape;251;p38"/>
          <p:cNvCxnSpPr/>
          <p:nvPr/>
        </p:nvCxnSpPr>
        <p:spPr>
          <a:xfrm rot="10800000">
            <a:off x="8521800" y="4828880"/>
            <a:ext cx="622200" cy="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52" name="Google Shape;252;p3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158723" y="4631300"/>
            <a:ext cx="363065" cy="383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2" r:id="rId2"/>
    <p:sldLayoutId id="2147483683" r:id="rId3"/>
    <p:sldLayoutId id="2147483684" r:id="rId4"/>
    <p:sldLayoutId id="2147483685" r:id="rId5"/>
    <p:sldLayoutId id="2147483686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5" name="Google Shape;285;p44"/>
          <p:cNvCxnSpPr/>
          <p:nvPr/>
        </p:nvCxnSpPr>
        <p:spPr>
          <a:xfrm flipH="1">
            <a:off x="0" y="4816973"/>
            <a:ext cx="8077200" cy="1170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44"/>
          <p:cNvSpPr txBox="1"/>
          <p:nvPr/>
        </p:nvSpPr>
        <p:spPr>
          <a:xfrm>
            <a:off x="6280602" y="4861798"/>
            <a:ext cx="2743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0C3F6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0C3F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4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68234" y="4624571"/>
            <a:ext cx="499409" cy="4206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8" name="Google Shape;288;p44"/>
          <p:cNvCxnSpPr/>
          <p:nvPr/>
        </p:nvCxnSpPr>
        <p:spPr>
          <a:xfrm rot="10800000">
            <a:off x="8521800" y="4828880"/>
            <a:ext cx="622200" cy="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4" name="Google Shape;304;p52"/>
          <p:cNvCxnSpPr/>
          <p:nvPr/>
        </p:nvCxnSpPr>
        <p:spPr>
          <a:xfrm flipH="1">
            <a:off x="0" y="4816973"/>
            <a:ext cx="8077200" cy="1170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5" name="Google Shape;305;p52"/>
          <p:cNvSpPr txBox="1"/>
          <p:nvPr/>
        </p:nvSpPr>
        <p:spPr>
          <a:xfrm>
            <a:off x="6280602" y="4861798"/>
            <a:ext cx="2743200" cy="2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rgbClr val="0C3F6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0C3F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6" name="Google Shape;306;p52"/>
          <p:cNvCxnSpPr/>
          <p:nvPr/>
        </p:nvCxnSpPr>
        <p:spPr>
          <a:xfrm rot="10800000">
            <a:off x="8521800" y="4828880"/>
            <a:ext cx="622200" cy="0"/>
          </a:xfrm>
          <a:prstGeom prst="straightConnector1">
            <a:avLst/>
          </a:prstGeom>
          <a:noFill/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07" name="Google Shape;307;p5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097460" y="4610201"/>
            <a:ext cx="424318" cy="43503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94" r:id="rId2"/>
    <p:sldLayoutId id="2147483695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6.jp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60.png"/><Relationship Id="rId7" Type="http://schemas.openxmlformats.org/officeDocument/2006/relationships/image" Target="../media/image4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2.xml"/><Relationship Id="rId4" Type="http://schemas.openxmlformats.org/officeDocument/2006/relationships/image" Target="../media/image3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3.xml"/><Relationship Id="rId4" Type="http://schemas.openxmlformats.org/officeDocument/2006/relationships/image" Target="../media/image38.png"/><Relationship Id="rId5" Type="http://schemas.openxmlformats.org/officeDocument/2006/relationships/image" Target="../media/image48.png"/><Relationship Id="rId6" Type="http://schemas.openxmlformats.org/officeDocument/2006/relationships/image" Target="../media/image54.png"/><Relationship Id="rId7" Type="http://schemas.openxmlformats.org/officeDocument/2006/relationships/image" Target="../media/image58.png"/><Relationship Id="rId8" Type="http://schemas.openxmlformats.org/officeDocument/2006/relationships/image" Target="../media/image7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4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2.jpg"/><Relationship Id="rId4" Type="http://schemas.openxmlformats.org/officeDocument/2006/relationships/image" Target="../media/image42.png"/><Relationship Id="rId5" Type="http://schemas.openxmlformats.org/officeDocument/2006/relationships/image" Target="../media/image55.png"/><Relationship Id="rId6" Type="http://schemas.openxmlformats.org/officeDocument/2006/relationships/image" Target="../media/image68.png"/><Relationship Id="rId7" Type="http://schemas.openxmlformats.org/officeDocument/2006/relationships/image" Target="../media/image64.png"/><Relationship Id="rId8" Type="http://schemas.openxmlformats.org/officeDocument/2006/relationships/image" Target="../media/image6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6.png"/><Relationship Id="rId4" Type="http://schemas.openxmlformats.org/officeDocument/2006/relationships/image" Target="../media/image51.png"/><Relationship Id="rId5" Type="http://schemas.openxmlformats.org/officeDocument/2006/relationships/image" Target="../media/image5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2.xml"/><Relationship Id="rId3" Type="http://schemas.openxmlformats.org/officeDocument/2006/relationships/comments" Target="../comments/comment5.xml"/><Relationship Id="rId4" Type="http://schemas.openxmlformats.org/officeDocument/2006/relationships/image" Target="../media/image51.png"/><Relationship Id="rId5" Type="http://schemas.openxmlformats.org/officeDocument/2006/relationships/image" Target="../media/image6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6.png"/><Relationship Id="rId4" Type="http://schemas.openxmlformats.org/officeDocument/2006/relationships/image" Target="../media/image62.png"/><Relationship Id="rId5" Type="http://schemas.openxmlformats.org/officeDocument/2006/relationships/image" Target="../media/image63.jpg"/><Relationship Id="rId6" Type="http://schemas.openxmlformats.org/officeDocument/2006/relationships/image" Target="../media/image6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7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5.xml"/><Relationship Id="rId3" Type="http://schemas.openxmlformats.org/officeDocument/2006/relationships/comments" Target="../comments/comment6.xml"/><Relationship Id="rId4" Type="http://schemas.openxmlformats.org/officeDocument/2006/relationships/image" Target="../media/image66.png"/><Relationship Id="rId5" Type="http://schemas.openxmlformats.org/officeDocument/2006/relationships/image" Target="../media/image10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6.xml"/><Relationship Id="rId3" Type="http://schemas.openxmlformats.org/officeDocument/2006/relationships/comments" Target="../comments/comment7.xml"/><Relationship Id="rId4" Type="http://schemas.openxmlformats.org/officeDocument/2006/relationships/image" Target="../media/image66.png"/><Relationship Id="rId5" Type="http://schemas.openxmlformats.org/officeDocument/2006/relationships/image" Target="../media/image95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8.xml"/><Relationship Id="rId4" Type="http://schemas.openxmlformats.org/officeDocument/2006/relationships/image" Target="../media/image66.png"/><Relationship Id="rId5" Type="http://schemas.openxmlformats.org/officeDocument/2006/relationships/image" Target="../media/image9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8.xml"/><Relationship Id="rId3" Type="http://schemas.openxmlformats.org/officeDocument/2006/relationships/comments" Target="../comments/comment9.xml"/><Relationship Id="rId4" Type="http://schemas.openxmlformats.org/officeDocument/2006/relationships/image" Target="../media/image66.png"/><Relationship Id="rId5" Type="http://schemas.openxmlformats.org/officeDocument/2006/relationships/image" Target="../media/image9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19.xml"/><Relationship Id="rId3" Type="http://schemas.openxmlformats.org/officeDocument/2006/relationships/comments" Target="../comments/comment10.xml"/><Relationship Id="rId4" Type="http://schemas.openxmlformats.org/officeDocument/2006/relationships/image" Target="../media/image66.png"/><Relationship Id="rId5" Type="http://schemas.openxmlformats.org/officeDocument/2006/relationships/image" Target="../media/image9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0.xml"/><Relationship Id="rId3" Type="http://schemas.openxmlformats.org/officeDocument/2006/relationships/comments" Target="../comments/comment11.xml"/><Relationship Id="rId4" Type="http://schemas.openxmlformats.org/officeDocument/2006/relationships/image" Target="../media/image66.png"/><Relationship Id="rId5" Type="http://schemas.openxmlformats.org/officeDocument/2006/relationships/image" Target="../media/image7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1.xml"/><Relationship Id="rId3" Type="http://schemas.openxmlformats.org/officeDocument/2006/relationships/comments" Target="../comments/comment12.xml"/><Relationship Id="rId4" Type="http://schemas.openxmlformats.org/officeDocument/2006/relationships/image" Target="../media/image66.png"/><Relationship Id="rId5" Type="http://schemas.openxmlformats.org/officeDocument/2006/relationships/image" Target="../media/image109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2.xml"/><Relationship Id="rId3" Type="http://schemas.openxmlformats.org/officeDocument/2006/relationships/comments" Target="../comments/comment13.xml"/><Relationship Id="rId4" Type="http://schemas.openxmlformats.org/officeDocument/2006/relationships/image" Target="../media/image5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3.xml"/><Relationship Id="rId3" Type="http://schemas.openxmlformats.org/officeDocument/2006/relationships/comments" Target="../comments/comment14.xml"/><Relationship Id="rId4" Type="http://schemas.openxmlformats.org/officeDocument/2006/relationships/image" Target="../media/image5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4.xml"/><Relationship Id="rId3" Type="http://schemas.openxmlformats.org/officeDocument/2006/relationships/comments" Target="../comments/comment15.xml"/><Relationship Id="rId4" Type="http://schemas.openxmlformats.org/officeDocument/2006/relationships/image" Target="../media/image74.png"/><Relationship Id="rId5" Type="http://schemas.openxmlformats.org/officeDocument/2006/relationships/image" Target="../media/image56.png"/><Relationship Id="rId6" Type="http://schemas.openxmlformats.org/officeDocument/2006/relationships/image" Target="../media/image51.png"/><Relationship Id="rId7" Type="http://schemas.openxmlformats.org/officeDocument/2006/relationships/image" Target="../media/image75.png"/><Relationship Id="rId8" Type="http://schemas.openxmlformats.org/officeDocument/2006/relationships/image" Target="../media/image5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5.xml"/><Relationship Id="rId3" Type="http://schemas.openxmlformats.org/officeDocument/2006/relationships/comments" Target="../comments/comment16.xml"/><Relationship Id="rId4" Type="http://schemas.openxmlformats.org/officeDocument/2006/relationships/image" Target="../media/image7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3.jpg"/><Relationship Id="rId4" Type="http://schemas.openxmlformats.org/officeDocument/2006/relationships/image" Target="../media/image84.jpg"/><Relationship Id="rId5" Type="http://schemas.openxmlformats.org/officeDocument/2006/relationships/image" Target="../media/image89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66.png"/><Relationship Id="rId4" Type="http://schemas.openxmlformats.org/officeDocument/2006/relationships/image" Target="../media/image79.jpg"/><Relationship Id="rId5" Type="http://schemas.openxmlformats.org/officeDocument/2006/relationships/image" Target="../media/image82.jpg"/><Relationship Id="rId6" Type="http://schemas.openxmlformats.org/officeDocument/2006/relationships/image" Target="../media/image85.jpg"/><Relationship Id="rId7" Type="http://schemas.openxmlformats.org/officeDocument/2006/relationships/image" Target="../media/image8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6.png"/><Relationship Id="rId4" Type="http://schemas.openxmlformats.org/officeDocument/2006/relationships/image" Target="../media/image81.png"/><Relationship Id="rId5" Type="http://schemas.openxmlformats.org/officeDocument/2006/relationships/image" Target="../media/image86.png"/><Relationship Id="rId6" Type="http://schemas.openxmlformats.org/officeDocument/2006/relationships/image" Target="../media/image90.jpg"/><Relationship Id="rId7" Type="http://schemas.openxmlformats.org/officeDocument/2006/relationships/image" Target="../media/image94.png"/><Relationship Id="rId8" Type="http://schemas.openxmlformats.org/officeDocument/2006/relationships/image" Target="../media/image98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6.png"/><Relationship Id="rId4" Type="http://schemas.openxmlformats.org/officeDocument/2006/relationships/image" Target="../media/image81.png"/><Relationship Id="rId9" Type="http://schemas.openxmlformats.org/officeDocument/2006/relationships/image" Target="../media/image106.jpg"/><Relationship Id="rId5" Type="http://schemas.openxmlformats.org/officeDocument/2006/relationships/image" Target="../media/image94.png"/><Relationship Id="rId6" Type="http://schemas.openxmlformats.org/officeDocument/2006/relationships/image" Target="../media/image98.jpg"/><Relationship Id="rId7" Type="http://schemas.openxmlformats.org/officeDocument/2006/relationships/image" Target="../media/image101.jpg"/><Relationship Id="rId8" Type="http://schemas.openxmlformats.org/officeDocument/2006/relationships/image" Target="../media/image96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0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28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05.png"/><Relationship Id="rId4" Type="http://schemas.openxmlformats.org/officeDocument/2006/relationships/image" Target="../media/image112.png"/><Relationship Id="rId5" Type="http://schemas.openxmlformats.org/officeDocument/2006/relationships/image" Target="../media/image10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6.png"/><Relationship Id="rId4" Type="http://schemas.openxmlformats.org/officeDocument/2006/relationships/hyperlink" Target="http://drive.google.com/file/d/1FQQxC5RjLoeRiL61vXZ6Uc-NAlLDLhwK/view" TargetMode="External"/><Relationship Id="rId5" Type="http://schemas.openxmlformats.org/officeDocument/2006/relationships/image" Target="../media/image11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14.png"/><Relationship Id="rId4" Type="http://schemas.openxmlformats.org/officeDocument/2006/relationships/image" Target="../media/image124.jpg"/><Relationship Id="rId5" Type="http://schemas.openxmlformats.org/officeDocument/2006/relationships/image" Target="../media/image123.jpg"/><Relationship Id="rId6" Type="http://schemas.openxmlformats.org/officeDocument/2006/relationships/image" Target="../media/image125.jpg"/><Relationship Id="rId7" Type="http://schemas.openxmlformats.org/officeDocument/2006/relationships/image" Target="../media/image127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3.xml"/><Relationship Id="rId3" Type="http://schemas.openxmlformats.org/officeDocument/2006/relationships/comments" Target="../comments/comment17.xml"/><Relationship Id="rId4" Type="http://schemas.openxmlformats.org/officeDocument/2006/relationships/image" Target="../media/image66.png"/><Relationship Id="rId5" Type="http://schemas.openxmlformats.org/officeDocument/2006/relationships/hyperlink" Target="http://drive.google.com/file/d/1P7TuzdbdlOyAThClX12FdEnFVrKakBQg/view" TargetMode="External"/><Relationship Id="rId6" Type="http://schemas.openxmlformats.org/officeDocument/2006/relationships/image" Target="../media/image115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5.xml"/><Relationship Id="rId3" Type="http://schemas.openxmlformats.org/officeDocument/2006/relationships/comments" Target="../comments/comment18.xml"/><Relationship Id="rId4" Type="http://schemas.openxmlformats.org/officeDocument/2006/relationships/image" Target="../media/image119.png"/><Relationship Id="rId5" Type="http://schemas.openxmlformats.org/officeDocument/2006/relationships/image" Target="../media/image120.png"/><Relationship Id="rId6" Type="http://schemas.openxmlformats.org/officeDocument/2006/relationships/image" Target="../media/image11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17.png"/><Relationship Id="rId4" Type="http://schemas.openxmlformats.org/officeDocument/2006/relationships/image" Target="../media/image11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17.png"/><Relationship Id="rId4" Type="http://schemas.openxmlformats.org/officeDocument/2006/relationships/image" Target="../media/image110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10.png"/><Relationship Id="rId4" Type="http://schemas.openxmlformats.org/officeDocument/2006/relationships/image" Target="../media/image12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0.xml"/><Relationship Id="rId3" Type="http://schemas.openxmlformats.org/officeDocument/2006/relationships/comments" Target="../comments/comment19.xml"/><Relationship Id="rId4" Type="http://schemas.openxmlformats.org/officeDocument/2006/relationships/image" Target="../media/image92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9.png"/><Relationship Id="rId4" Type="http://schemas.openxmlformats.org/officeDocument/2006/relationships/image" Target="../media/image43.png"/><Relationship Id="rId5" Type="http://schemas.openxmlformats.org/officeDocument/2006/relationships/image" Target="../media/image60.png"/><Relationship Id="rId6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55"/>
          <p:cNvPicPr preferRelativeResize="0"/>
          <p:nvPr/>
        </p:nvPicPr>
        <p:blipFill rotWithShape="1">
          <a:blip r:embed="rId3">
            <a:alphaModFix/>
          </a:blip>
          <a:srcRect b="20112" l="-3802" r="-7050" t="12664"/>
          <a:stretch/>
        </p:blipFill>
        <p:spPr>
          <a:xfrm>
            <a:off x="-355675" y="-100325"/>
            <a:ext cx="10177577" cy="4813224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55"/>
          <p:cNvSpPr txBox="1"/>
          <p:nvPr/>
        </p:nvSpPr>
        <p:spPr>
          <a:xfrm>
            <a:off x="233675" y="3392425"/>
            <a:ext cx="3405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3700">
                <a:solidFill>
                  <a:srgbClr val="0B4060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¡Te damos la bienvenida a la Sesión de Integración!</a:t>
            </a:r>
            <a:endParaRPr b="1" sz="1700">
              <a:solidFill>
                <a:srgbClr val="0B406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316" name="Google Shape;316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71675" y="256756"/>
            <a:ext cx="2099637" cy="837099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55"/>
          <p:cNvSpPr/>
          <p:nvPr/>
        </p:nvSpPr>
        <p:spPr>
          <a:xfrm>
            <a:off x="0" y="4681125"/>
            <a:ext cx="9180300" cy="53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67996" y="4712900"/>
            <a:ext cx="1076954" cy="387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5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72850" y="4681125"/>
            <a:ext cx="931226" cy="475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55"/>
          <p:cNvPicPr preferRelativeResize="0"/>
          <p:nvPr/>
        </p:nvPicPr>
        <p:blipFill rotWithShape="1">
          <a:blip r:embed="rId7">
            <a:alphaModFix/>
          </a:blip>
          <a:srcRect b="1066" l="0" r="0" t="1076"/>
          <a:stretch/>
        </p:blipFill>
        <p:spPr>
          <a:xfrm>
            <a:off x="4493375" y="4766300"/>
            <a:ext cx="1261374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55"/>
          <p:cNvSpPr txBox="1"/>
          <p:nvPr/>
        </p:nvSpPr>
        <p:spPr>
          <a:xfrm>
            <a:off x="1096950" y="4796475"/>
            <a:ext cx="5572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>
                <a:solidFill>
                  <a:schemeClr val="dk1"/>
                </a:solidFill>
                <a:latin typeface="Noto Sans Thin"/>
                <a:ea typeface="Noto Sans Thin"/>
                <a:cs typeface="Noto Sans Thin"/>
                <a:sym typeface="Noto Sans Thin"/>
              </a:defRPr>
            </a:pPr>
            <a:r>
              <a:t>Un programa desarrollado por:</a:t>
            </a:r>
            <a:endParaRPr b="0" i="0" sz="1700" u="none" cap="none" strike="noStrike">
              <a:solidFill>
                <a:schemeClr val="dk1"/>
              </a:solidFill>
              <a:latin typeface="Noto Sans Thin"/>
              <a:ea typeface="Noto Sans Thin"/>
              <a:cs typeface="Noto Sans Thin"/>
              <a:sym typeface="Noto Sans Thi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6"/>
          <p:cNvSpPr txBox="1"/>
          <p:nvPr>
            <p:ph idx="1" type="body"/>
          </p:nvPr>
        </p:nvSpPr>
        <p:spPr>
          <a:xfrm>
            <a:off x="5476175" y="139725"/>
            <a:ext cx="3518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elicious Handrawn"/>
              <a:buNone/>
              <a:defRPr sz="5000"/>
            </a:pPr>
            <a:r>
              <a:t>Presentaciones</a:t>
            </a:r>
            <a:endParaRPr sz="5000"/>
          </a:p>
        </p:txBody>
      </p:sp>
      <p:sp>
        <p:nvSpPr>
          <p:cNvPr id="327" name="Google Shape;327;p56"/>
          <p:cNvSpPr txBox="1"/>
          <p:nvPr/>
        </p:nvSpPr>
        <p:spPr>
          <a:xfrm>
            <a:off x="4866900" y="2425850"/>
            <a:ext cx="39153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Noto Sans"/>
              <a:buChar char="●"/>
              <a:defRPr sz="19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Comparte tu nombre</a:t>
            </a:r>
            <a:endParaRPr sz="19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Noto Sans"/>
              <a:buChar char="●"/>
              <a:defRPr sz="19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¿Cuántas niñas, niños o adolescentes estás criando? </a:t>
            </a:r>
            <a:endParaRPr sz="19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492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Font typeface="Noto Sans"/>
              <a:buChar char="●"/>
              <a:defRPr sz="19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Una actividad que disfrutas hacer con tus niñas, niños o adolescentes</a:t>
            </a:r>
            <a:endParaRPr sz="19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7"/>
          <p:cNvSpPr txBox="1"/>
          <p:nvPr>
            <p:ph idx="1" type="body"/>
          </p:nvPr>
        </p:nvSpPr>
        <p:spPr>
          <a:xfrm>
            <a:off x="5371175" y="2399175"/>
            <a:ext cx="29727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elicious Handrawn"/>
              <a:buNone/>
              <a:defRPr sz="5500"/>
            </a:pPr>
            <a:r>
              <a:t>Conociéndonos</a:t>
            </a:r>
            <a:endParaRPr sz="5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8"/>
          <p:cNvSpPr txBox="1"/>
          <p:nvPr>
            <p:ph idx="1" type="body"/>
          </p:nvPr>
        </p:nvSpPr>
        <p:spPr>
          <a:xfrm>
            <a:off x="1439025" y="497650"/>
            <a:ext cx="56085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Delicious Handrawn"/>
              <a:buNone/>
            </a:pPr>
            <a:r>
              <a:t>Acerca de</a:t>
            </a:r>
          </a:p>
        </p:txBody>
      </p:sp>
      <p:pic>
        <p:nvPicPr>
          <p:cNvPr id="338" name="Google Shape;338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60072" y="111299"/>
            <a:ext cx="2577825" cy="10235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58"/>
          <p:cNvSpPr txBox="1"/>
          <p:nvPr/>
        </p:nvSpPr>
        <p:spPr>
          <a:xfrm>
            <a:off x="1540975" y="1395125"/>
            <a:ext cx="5982900" cy="19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9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¿Qué es Crianza con Conciencia+? </a:t>
            </a:r>
            <a:endParaRPr b="1" i="0" sz="1900" u="none" cap="none" strike="noStrik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oto Sans"/>
              <a:buChar char="●"/>
              <a:defRPr sz="17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Un Programa para Fortalecer a las Familias</a:t>
            </a:r>
            <a:endParaRPr sz="17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oto Sans"/>
              <a:buChar char="●"/>
              <a:defRPr sz="17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Prácticas Basadas en Evidencia: Construidas sobre décadas de investigación.</a:t>
            </a:r>
            <a:endParaRPr sz="17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365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Noto Sans"/>
              <a:buChar char="●"/>
              <a:defRPr sz="17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Enfoque en Derechos Humanos y Perspectivas de Género</a:t>
            </a:r>
            <a:endParaRPr sz="17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9"/>
          <p:cNvSpPr txBox="1"/>
          <p:nvPr>
            <p:ph idx="1" type="body"/>
          </p:nvPr>
        </p:nvSpPr>
        <p:spPr>
          <a:xfrm>
            <a:off x="1439025" y="497650"/>
            <a:ext cx="56085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Delicious Handrawn"/>
              <a:buNone/>
            </a:pPr>
            <a:r>
              <a:t>Acerca de</a:t>
            </a:r>
          </a:p>
        </p:txBody>
      </p:sp>
      <p:pic>
        <p:nvPicPr>
          <p:cNvPr id="345" name="Google Shape;34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0072" y="111299"/>
            <a:ext cx="2577825" cy="10235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59"/>
          <p:cNvSpPr txBox="1"/>
          <p:nvPr/>
        </p:nvSpPr>
        <p:spPr>
          <a:xfrm>
            <a:off x="1523050" y="1538475"/>
            <a:ext cx="5982900" cy="13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9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¿Para quién es Crianza con Conciencia+? </a:t>
            </a:r>
            <a:endParaRPr i="0" sz="1600" u="none" cap="none" strike="noStrik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  <a:defRPr sz="19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Para padres, madres y cuidadores como TÚ, con niñas, niños y adolescentes (NNA) de </a:t>
            </a:r>
            <a:r>
              <a:rPr u="sng"/>
              <a:t>2 a 17 años.</a:t>
            </a:r>
            <a:endParaRPr i="0" sz="1900" u="none" cap="none" strike="noStrik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0"/>
          <p:cNvSpPr txBox="1"/>
          <p:nvPr>
            <p:ph idx="1" type="body"/>
          </p:nvPr>
        </p:nvSpPr>
        <p:spPr>
          <a:xfrm>
            <a:off x="1439025" y="497650"/>
            <a:ext cx="56085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Delicious Handrawn"/>
              <a:buNone/>
            </a:pPr>
            <a:r>
              <a:t>Acerca de</a:t>
            </a:r>
          </a:p>
        </p:txBody>
      </p:sp>
      <p:pic>
        <p:nvPicPr>
          <p:cNvPr id="352" name="Google Shape;352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60072" y="111299"/>
            <a:ext cx="2577825" cy="10235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60"/>
          <p:cNvSpPr txBox="1"/>
          <p:nvPr/>
        </p:nvSpPr>
        <p:spPr>
          <a:xfrm>
            <a:off x="1830300" y="1349400"/>
            <a:ext cx="5483400" cy="24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7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¿A qué nos referimos cuando decimos "padres y madres"?</a:t>
            </a:r>
            <a:endParaRPr i="0" u="none" cap="none" strike="noStrik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  <a:defRPr sz="17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Padres, Madres y Crianza incluye a todos los cuidadores responsables del bienestar de tu niño, niña o adolescente. Entre los cuidadores se incluyen a padres y madres no biológicos como tíos, tías, hermanos, hermanas primos, primas y madres o padres adoptivos.</a:t>
            </a:r>
            <a:endParaRPr i="0" sz="1700" u="none" cap="none" strike="noStrike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1"/>
          <p:cNvSpPr txBox="1"/>
          <p:nvPr>
            <p:ph idx="1" type="body"/>
          </p:nvPr>
        </p:nvSpPr>
        <p:spPr>
          <a:xfrm>
            <a:off x="1037250" y="382650"/>
            <a:ext cx="4859100" cy="18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Delicious Handrawn"/>
              <a:buNone/>
            </a:pPr>
            <a:r>
              <a:t>¿Cuál es el objetivo de</a:t>
            </a: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Delicious Handrawn"/>
              <a:buNone/>
            </a:p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Delicious Handrawn"/>
              <a:buNone/>
            </a:p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Delicious Handrawn"/>
              <a:buNone/>
            </a:pPr>
            <a:r>
              <a:t>                              ?</a:t>
            </a:r>
          </a:p>
        </p:txBody>
      </p:sp>
      <p:pic>
        <p:nvPicPr>
          <p:cNvPr id="359" name="Google Shape;35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7672" y="1048374"/>
            <a:ext cx="2577825" cy="102355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61"/>
          <p:cNvSpPr txBox="1"/>
          <p:nvPr/>
        </p:nvSpPr>
        <p:spPr>
          <a:xfrm>
            <a:off x="4659250" y="3006725"/>
            <a:ext cx="4334400" cy="16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"/>
              <a:buChar char="●"/>
              <a:defRPr sz="11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Construir relaciones llenas de cariño, transparencia y confianza entre los cuidadores y sus niños, niñas y adolescentes.</a:t>
            </a:r>
            <a:endParaRPr sz="11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2984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Noto Sans"/>
              <a:buChar char="●"/>
              <a:defRPr sz="11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Apoyar las relaciones sanas y positivas para procurar la Seguridad y Salud y favorecer el desarrollo de niños, niñas y adolescentes.</a:t>
            </a:r>
            <a:endParaRPr sz="11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2"/>
          <p:cNvSpPr/>
          <p:nvPr/>
        </p:nvSpPr>
        <p:spPr>
          <a:xfrm rot="-5400000">
            <a:off x="2810425" y="-2578375"/>
            <a:ext cx="475200" cy="60960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62"/>
          <p:cNvSpPr txBox="1"/>
          <p:nvPr/>
        </p:nvSpPr>
        <p:spPr>
          <a:xfrm>
            <a:off x="286210" y="2286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Sobre Crianza con Conciencia+ </a:t>
            </a:r>
            <a:endParaRPr i="0" sz="24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367" name="Google Shape;367;p62"/>
          <p:cNvSpPr txBox="1"/>
          <p:nvPr/>
        </p:nvSpPr>
        <p:spPr>
          <a:xfrm>
            <a:off x="286200" y="842325"/>
            <a:ext cx="8292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Cuando tienes una relación saludable y positiva con tu niña, niño o adolescente, puedes: </a:t>
            </a:r>
            <a:endParaRPr sz="2100">
              <a:solidFill>
                <a:srgbClr val="00969B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368" name="Google Shape;368;p62"/>
          <p:cNvSpPr txBox="1"/>
          <p:nvPr/>
        </p:nvSpPr>
        <p:spPr>
          <a:xfrm>
            <a:off x="1016901" y="1531050"/>
            <a:ext cx="77523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0B4060"/>
                </a:solidFill>
              </a:defRPr>
            </a:pPr>
            <a:r>
              <a:t>Desarrollar un vínculo fuerte entre ustedes</a:t>
            </a:r>
            <a:endParaRPr sz="1700">
              <a:solidFill>
                <a:srgbClr val="0B406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B4060"/>
              </a:solidFill>
            </a:endParaRPr>
          </a:p>
        </p:txBody>
      </p:sp>
      <p:sp>
        <p:nvSpPr>
          <p:cNvPr id="369" name="Google Shape;369;p62"/>
          <p:cNvSpPr txBox="1"/>
          <p:nvPr/>
        </p:nvSpPr>
        <p:spPr>
          <a:xfrm>
            <a:off x="1016901" y="2307442"/>
            <a:ext cx="77523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0B4060"/>
                </a:solidFill>
              </a:defRPr>
            </a:pPr>
            <a:r>
              <a:t>Promover y garantizar sus derechos humanos</a:t>
            </a:r>
            <a:endParaRPr sz="1700">
              <a:solidFill>
                <a:srgbClr val="0B406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B4060"/>
              </a:solidFill>
            </a:endParaRPr>
          </a:p>
        </p:txBody>
      </p:sp>
      <p:sp>
        <p:nvSpPr>
          <p:cNvPr id="370" name="Google Shape;370;p62"/>
          <p:cNvSpPr txBox="1"/>
          <p:nvPr/>
        </p:nvSpPr>
        <p:spPr>
          <a:xfrm>
            <a:off x="1016901" y="3860225"/>
            <a:ext cx="77523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0B4060"/>
                </a:solidFill>
              </a:defRPr>
            </a:pPr>
            <a:r>
              <a:t>Ayudarles a comportarse de manera responsable y respetuosa</a:t>
            </a:r>
            <a:endParaRPr sz="1300">
              <a:solidFill>
                <a:srgbClr val="0B4060"/>
              </a:solidFill>
            </a:endParaRPr>
          </a:p>
        </p:txBody>
      </p:sp>
      <p:pic>
        <p:nvPicPr>
          <p:cNvPr id="371" name="Google Shape;371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825" y="1593775"/>
            <a:ext cx="465150" cy="46515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62"/>
          <p:cNvSpPr txBox="1"/>
          <p:nvPr/>
        </p:nvSpPr>
        <p:spPr>
          <a:xfrm>
            <a:off x="1016901" y="3083833"/>
            <a:ext cx="77523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rgbClr val="0B4060"/>
                </a:solidFill>
              </a:defRPr>
            </a:pPr>
            <a:r>
              <a:t>Apoyar mejor su crecimiento y su desarrollo</a:t>
            </a:r>
            <a:endParaRPr sz="1700">
              <a:solidFill>
                <a:srgbClr val="0B406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rgbClr val="0B4060"/>
              </a:solidFill>
            </a:endParaRPr>
          </a:p>
        </p:txBody>
      </p:sp>
      <p:pic>
        <p:nvPicPr>
          <p:cNvPr id="373" name="Google Shape;373;p6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3825" y="2269367"/>
            <a:ext cx="465150" cy="46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6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3825" y="3064700"/>
            <a:ext cx="465150" cy="46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6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3825" y="3860025"/>
            <a:ext cx="465150" cy="46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6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818699" y="1593775"/>
            <a:ext cx="2950500" cy="22128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3"/>
          <p:cNvSpPr/>
          <p:nvPr/>
        </p:nvSpPr>
        <p:spPr>
          <a:xfrm rot="-5400000">
            <a:off x="3191875" y="-2959825"/>
            <a:ext cx="475200" cy="68589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63"/>
          <p:cNvSpPr txBox="1"/>
          <p:nvPr/>
        </p:nvSpPr>
        <p:spPr>
          <a:xfrm>
            <a:off x="286210" y="228606"/>
            <a:ext cx="88578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21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Opiniones de otras madres, padres o personas cuidadoras sobre Crianza con Conciencia+</a:t>
            </a:r>
            <a:endParaRPr sz="2400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383" name="Google Shape;383;p63"/>
          <p:cNvSpPr txBox="1"/>
          <p:nvPr/>
        </p:nvSpPr>
        <p:spPr>
          <a:xfrm>
            <a:off x="178675" y="779600"/>
            <a:ext cx="82926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>
              <a:solidFill>
                <a:srgbClr val="00969B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384" name="Google Shape;384;p63"/>
          <p:cNvSpPr/>
          <p:nvPr/>
        </p:nvSpPr>
        <p:spPr>
          <a:xfrm>
            <a:off x="256825" y="881838"/>
            <a:ext cx="8136300" cy="1693500"/>
          </a:xfrm>
          <a:prstGeom prst="wedgeRoundRectCallout">
            <a:avLst>
              <a:gd fmla="val -20815" name="adj1"/>
              <a:gd fmla="val 50534" name="adj2"/>
              <a:gd fmla="val 0" name="adj3"/>
            </a:avLst>
          </a:prstGeom>
          <a:solidFill>
            <a:srgbClr val="E402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"Este programa sería beneficioso para muchas madres, padres o personas cuidadoras. Como madres, a menudo experimentamos sentimientos de agobio, como si tuviéramos el peso del mundo encima, lo que nos dificulta el poder pensar, con claridad, en ideas nuevas o estrategias para conectar con nuestras niñas y niños de forma diferente. Es muy valioso poder contar con programas como Crianza con Conciencia+ , que nos ofrece recursos lúdicos y atractivos para interrumpir la rutina, mejorar nuestras prácticas de crianza y disfrutar de tiempo de calidad con nuestras niñas y nuestros niños."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5" name="Google Shape;385;p63"/>
          <p:cNvSpPr/>
          <p:nvPr/>
        </p:nvSpPr>
        <p:spPr>
          <a:xfrm>
            <a:off x="256825" y="2749975"/>
            <a:ext cx="8136300" cy="1881600"/>
          </a:xfrm>
          <a:prstGeom prst="wedgeRoundRectCallout">
            <a:avLst>
              <a:gd fmla="val 22055" name="adj1"/>
              <a:gd fmla="val 49523" name="adj2"/>
              <a:gd fmla="val 0" name="adj3"/>
            </a:avLst>
          </a:prstGeom>
          <a:solidFill>
            <a:srgbClr val="FF5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2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 “A mí me parecieron todas las sesiones súper interesantes. Todos los videos, cada uno, trataba de verlos detenidamente, para llevarlos a la práctica…El Tiempo Uno a Uno me ha servido demasiado, bueno todo yo creo…”  "A mí me pareció que todo estaba bien, en el tiempo, en que no estábamos tan presionadas, porque a mí también me llegaba el mensaje, pero en ese momento no podía, me esperaba a lo mejor una media hora a que ya me pudiera sentar y ya poder observar la sesión o contestarla pero ya con tranquilidad, sin andar a las prisas…y pues tratar de tener mejor como los 5 minutitos, que a lo mejor hasta era menos de 5 minutitos, pero estar concentrada en las actividades y en lo que nos proponían hacer."</a:t>
            </a:r>
            <a:endParaRPr sz="12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4"/>
          <p:cNvSpPr txBox="1"/>
          <p:nvPr/>
        </p:nvSpPr>
        <p:spPr>
          <a:xfrm>
            <a:off x="425925" y="1326750"/>
            <a:ext cx="5772600" cy="27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100">
                <a:solidFill>
                  <a:srgbClr val="FF5E00"/>
                </a:solidFill>
                <a:latin typeface="Delicious Handrawn"/>
                <a:ea typeface="Delicious Handrawn"/>
                <a:cs typeface="Delicious Handrawn"/>
                <a:sym typeface="Delicious Handrawn"/>
              </a:rPr>
              <a:t>Es un programa innovador sobre estrategias de crianza positiva y bienestar emocional con un enfoque de juego y actividades prácticas </a:t>
            </a:r>
            <a:r>
              <a:rPr sz="1200">
                <a:solidFill>
                  <a:srgbClr val="053C5E"/>
                </a:solidFill>
                <a:latin typeface="Calibri"/>
                <a:ea typeface="Calibri"/>
                <a:cs typeface="Calibri"/>
                <a:sym typeface="Calibri"/>
              </a:rPr>
              <a:t>que se pueden llevar a cabo en el hogar con </a:t>
            </a:r>
            <a:r>
              <a:rPr sz="2000">
                <a:solidFill>
                  <a:srgbClr val="DC127D"/>
                </a:solidFill>
                <a:latin typeface="Delicious Handrawn"/>
                <a:ea typeface="Delicious Handrawn"/>
                <a:cs typeface="Delicious Handrawn"/>
                <a:sym typeface="Delicious Handrawn"/>
              </a:rPr>
              <a:t>5 minutos al día</a:t>
            </a:r>
            <a:r>
              <a:rPr sz="1200">
                <a:solidFill>
                  <a:srgbClr val="053C5E"/>
                </a:solidFill>
                <a:latin typeface="Calibri"/>
                <a:ea typeface="Calibri"/>
                <a:cs typeface="Calibri"/>
                <a:sym typeface="Calibri"/>
              </a:rPr>
              <a:t> para fortalecer las habilidades de crianza de personas cuidadoras, con el fin de mejorar las relaciones y la comunicación con las niñas, niños y adolescentes.</a:t>
            </a:r>
            <a:endParaRPr sz="1200">
              <a:solidFill>
                <a:srgbClr val="053C5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rgbClr val="053C5E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391" name="Google Shape;391;p64"/>
          <p:cNvPicPr preferRelativeResize="0"/>
          <p:nvPr/>
        </p:nvPicPr>
        <p:blipFill rotWithShape="1">
          <a:blip r:embed="rId3">
            <a:alphaModFix/>
          </a:blip>
          <a:srcRect b="1701" l="0" r="0" t="95001"/>
          <a:stretch/>
        </p:blipFill>
        <p:spPr>
          <a:xfrm>
            <a:off x="0" y="4970350"/>
            <a:ext cx="9212252" cy="214652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64"/>
          <p:cNvSpPr/>
          <p:nvPr/>
        </p:nvSpPr>
        <p:spPr>
          <a:xfrm rot="2700000">
            <a:off x="-395642" y="527863"/>
            <a:ext cx="1840882" cy="380565"/>
          </a:xfrm>
          <a:prstGeom prst="parallelogram">
            <a:avLst>
              <a:gd fmla="val 109000" name="adj"/>
            </a:avLst>
          </a:prstGeom>
          <a:solidFill>
            <a:srgbClr val="008E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64"/>
          <p:cNvSpPr/>
          <p:nvPr/>
        </p:nvSpPr>
        <p:spPr>
          <a:xfrm rot="2700000">
            <a:off x="-135044" y="159075"/>
            <a:ext cx="1840882" cy="380565"/>
          </a:xfrm>
          <a:prstGeom prst="parallelogram">
            <a:avLst>
              <a:gd fmla="val 109000" name="adj"/>
            </a:avLst>
          </a:prstGeom>
          <a:solidFill>
            <a:srgbClr val="008E9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64"/>
          <p:cNvSpPr/>
          <p:nvPr/>
        </p:nvSpPr>
        <p:spPr>
          <a:xfrm>
            <a:off x="6224313" y="453750"/>
            <a:ext cx="2788800" cy="2849100"/>
          </a:xfrm>
          <a:prstGeom prst="ellipse">
            <a:avLst/>
          </a:prstGeom>
          <a:solidFill>
            <a:srgbClr val="DC12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b="1" sz="1600">
                <a:solidFill>
                  <a:schemeClr val="lt1"/>
                </a:solidFill>
              </a:defRPr>
            </a:pPr>
            <a:r>
              <a:t>Atiende a familias con niñas, niños y adolescentes de 2 a 17 años</a:t>
            </a:r>
            <a:endParaRPr b="1" sz="1600">
              <a:solidFill>
                <a:schemeClr val="lt1"/>
              </a:solidFill>
            </a:endParaRPr>
          </a:p>
        </p:txBody>
      </p:sp>
      <p:pic>
        <p:nvPicPr>
          <p:cNvPr id="395" name="Google Shape;395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27050" y="192474"/>
            <a:ext cx="2592225" cy="103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64"/>
          <p:cNvSpPr/>
          <p:nvPr/>
        </p:nvSpPr>
        <p:spPr>
          <a:xfrm>
            <a:off x="6335675" y="3649401"/>
            <a:ext cx="2297400" cy="1363800"/>
          </a:xfrm>
          <a:prstGeom prst="rect">
            <a:avLst/>
          </a:prstGeom>
          <a:solidFill>
            <a:srgbClr val="D60066"/>
          </a:solidFill>
          <a:ln cap="flat" cmpd="sng" w="9525">
            <a:solidFill>
              <a:srgbClr val="D600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97" name="Google Shape;397;p64"/>
          <p:cNvSpPr/>
          <p:nvPr/>
        </p:nvSpPr>
        <p:spPr>
          <a:xfrm>
            <a:off x="3380525" y="3649425"/>
            <a:ext cx="2378100" cy="1363800"/>
          </a:xfrm>
          <a:prstGeom prst="rect">
            <a:avLst/>
          </a:prstGeom>
          <a:solidFill>
            <a:srgbClr val="02969A"/>
          </a:solidFill>
          <a:ln cap="flat" cmpd="sng" w="9525">
            <a:solidFill>
              <a:srgbClr val="0296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398" name="Google Shape;398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11614" y="3678250"/>
            <a:ext cx="469499" cy="402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41869" y="3725330"/>
            <a:ext cx="469531" cy="4027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6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4401" y="3647355"/>
            <a:ext cx="2378099" cy="1365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6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83363" y="3678265"/>
            <a:ext cx="469499" cy="402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64"/>
          <p:cNvPicPr preferRelativeResize="0"/>
          <p:nvPr/>
        </p:nvPicPr>
        <p:blipFill rotWithShape="1">
          <a:blip r:embed="rId7">
            <a:alphaModFix/>
          </a:blip>
          <a:srcRect b="12134" l="0" r="0" t="18483"/>
          <a:stretch/>
        </p:blipFill>
        <p:spPr>
          <a:xfrm>
            <a:off x="3382638" y="3678277"/>
            <a:ext cx="2297400" cy="1231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64"/>
          <p:cNvPicPr preferRelativeResize="0"/>
          <p:nvPr/>
        </p:nvPicPr>
        <p:blipFill rotWithShape="1">
          <a:blip r:embed="rId8">
            <a:alphaModFix/>
          </a:blip>
          <a:srcRect b="18488" l="0" r="0" t="13984"/>
          <a:stretch/>
        </p:blipFill>
        <p:spPr>
          <a:xfrm>
            <a:off x="6209813" y="3648386"/>
            <a:ext cx="2448425" cy="136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5"/>
          <p:cNvSpPr/>
          <p:nvPr/>
        </p:nvSpPr>
        <p:spPr>
          <a:xfrm rot="-5400000">
            <a:off x="2810425" y="-2578375"/>
            <a:ext cx="475200" cy="60960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65"/>
          <p:cNvSpPr txBox="1"/>
          <p:nvPr/>
        </p:nvSpPr>
        <p:spPr>
          <a:xfrm>
            <a:off x="286210" y="2286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Sobre Crianza con Conciencia +</a:t>
            </a:r>
            <a:endParaRPr i="0" sz="24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410" name="Google Shape;410;p65"/>
          <p:cNvSpPr txBox="1"/>
          <p:nvPr/>
        </p:nvSpPr>
        <p:spPr>
          <a:xfrm>
            <a:off x="231525" y="2272875"/>
            <a:ext cx="7596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Pregunta de Referencia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65"/>
          <p:cNvSpPr/>
          <p:nvPr/>
        </p:nvSpPr>
        <p:spPr>
          <a:xfrm>
            <a:off x="702350" y="1426188"/>
            <a:ext cx="2291100" cy="2291100"/>
          </a:xfrm>
          <a:prstGeom prst="ellipse">
            <a:avLst/>
          </a:prstGeom>
          <a:solidFill>
            <a:srgbClr val="013D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65"/>
          <p:cNvSpPr/>
          <p:nvPr/>
        </p:nvSpPr>
        <p:spPr>
          <a:xfrm>
            <a:off x="3464475" y="1426188"/>
            <a:ext cx="2291100" cy="2291100"/>
          </a:xfrm>
          <a:prstGeom prst="ellipse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65"/>
          <p:cNvSpPr/>
          <p:nvPr/>
        </p:nvSpPr>
        <p:spPr>
          <a:xfrm>
            <a:off x="6226600" y="1426188"/>
            <a:ext cx="2291100" cy="2291100"/>
          </a:xfrm>
          <a:prstGeom prst="ellipse">
            <a:avLst/>
          </a:prstGeom>
          <a:solidFill>
            <a:srgbClr val="E402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4" name="Google Shape;414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9825" y="1705675"/>
            <a:ext cx="716150" cy="71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65"/>
          <p:cNvSpPr txBox="1"/>
          <p:nvPr/>
        </p:nvSpPr>
        <p:spPr>
          <a:xfrm>
            <a:off x="1191500" y="2572450"/>
            <a:ext cx="1312800" cy="5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b="1" sz="1300">
                <a:solidFill>
                  <a:schemeClr val="lt1"/>
                </a:solidFill>
              </a:defRPr>
            </a:pPr>
            <a:r>
              <a:t>Sesión presencial de integración</a:t>
            </a:r>
            <a:endParaRPr b="1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1950" y="1639550"/>
            <a:ext cx="716150" cy="71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65"/>
          <p:cNvSpPr txBox="1"/>
          <p:nvPr/>
        </p:nvSpPr>
        <p:spPr>
          <a:xfrm>
            <a:off x="3890400" y="2222800"/>
            <a:ext cx="13632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>
                <a:solidFill>
                  <a:schemeClr val="lt1"/>
                </a:solidFill>
              </a:defRPr>
            </a:pPr>
            <a:r>
              <a:rPr sz="1400">
                <a:latin typeface="Arial"/>
                <a:ea typeface="Arial"/>
                <a:cs typeface="Arial"/>
                <a:sym typeface="Arial"/>
              </a:rPr>
              <a:t>Aprendiendo a través del </a:t>
            </a:r>
            <a:r>
              <a:t> Curso de WhatsApp de Crianza con Conciencia+</a:t>
            </a: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8" name="Google Shape;418;p65"/>
          <p:cNvPicPr preferRelativeResize="0"/>
          <p:nvPr/>
        </p:nvPicPr>
        <p:blipFill rotWithShape="1">
          <a:blip r:embed="rId5">
            <a:alphaModFix/>
          </a:blip>
          <a:srcRect b="2606" l="0" r="0" t="2606"/>
          <a:stretch/>
        </p:blipFill>
        <p:spPr>
          <a:xfrm>
            <a:off x="7141575" y="1764175"/>
            <a:ext cx="599150" cy="59915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65"/>
          <p:cNvSpPr txBox="1"/>
          <p:nvPr/>
        </p:nvSpPr>
        <p:spPr>
          <a:xfrm>
            <a:off x="6428500" y="2408200"/>
            <a:ext cx="1887300" cy="8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>
                <a:solidFill>
                  <a:schemeClr val="lt1"/>
                </a:solidFill>
              </a:defRPr>
            </a:pPr>
            <a:r>
              <a:t>Apoyo en un Grupo de WhatsApp </a:t>
            </a:r>
            <a:r>
              <a:rPr i="1"/>
              <a:t>separado</a:t>
            </a:r>
            <a:r>
              <a:t> y moderado por un Facilitador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6"/>
          <p:cNvSpPr/>
          <p:nvPr/>
        </p:nvSpPr>
        <p:spPr>
          <a:xfrm rot="-5400000">
            <a:off x="2810425" y="-2578375"/>
            <a:ext cx="475200" cy="60960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66"/>
          <p:cNvSpPr txBox="1"/>
          <p:nvPr/>
        </p:nvSpPr>
        <p:spPr>
          <a:xfrm>
            <a:off x="286210" y="2286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Sobre Crianza con Conciencia +</a:t>
            </a:r>
            <a:endParaRPr i="0" sz="24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426" name="Google Shape;426;p66"/>
          <p:cNvSpPr txBox="1"/>
          <p:nvPr/>
        </p:nvSpPr>
        <p:spPr>
          <a:xfrm>
            <a:off x="3060150" y="1101400"/>
            <a:ext cx="5401200" cy="12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Todos los días recibirás estrategias de crianza a través del chat automatizado de WhatsApp que te ayudarán a mejorar la relación con tu niño, niña o adolescente.</a:t>
            </a:r>
            <a:endParaRPr sz="1700">
              <a:solidFill>
                <a:srgbClr val="FF5E00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>
                <a:solidFill>
                  <a:srgbClr val="FF5E00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¡Solo te tomará 5 minutos al día!</a:t>
            </a:r>
            <a:endParaRPr b="0" i="0" sz="15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66"/>
          <p:cNvSpPr/>
          <p:nvPr/>
        </p:nvSpPr>
        <p:spPr>
          <a:xfrm>
            <a:off x="494550" y="1423200"/>
            <a:ext cx="2297100" cy="2297100"/>
          </a:xfrm>
          <a:prstGeom prst="ellipse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8" name="Google Shape;428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5025" y="1639550"/>
            <a:ext cx="716150" cy="71615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66"/>
          <p:cNvSpPr txBox="1"/>
          <p:nvPr/>
        </p:nvSpPr>
        <p:spPr>
          <a:xfrm>
            <a:off x="685000" y="2222125"/>
            <a:ext cx="18996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>
                <a:solidFill>
                  <a:schemeClr val="lt1"/>
                </a:solidFill>
              </a:defRPr>
            </a:pPr>
            <a:r>
              <a:t>Aprendiendo a través del Curso de WhatsApp de Crianza con Conciencia+</a:t>
            </a:r>
            <a:endParaRPr b="1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66"/>
          <p:cNvSpPr/>
          <p:nvPr/>
        </p:nvSpPr>
        <p:spPr>
          <a:xfrm rot="-1878446">
            <a:off x="6658101" y="3518384"/>
            <a:ext cx="888820" cy="251092"/>
          </a:xfrm>
          <a:custGeom>
            <a:rect b="b" l="l" r="r" t="t"/>
            <a:pathLst>
              <a:path extrusionOk="0" h="501826" w="1776375">
                <a:moveTo>
                  <a:pt x="0" y="0"/>
                </a:moveTo>
                <a:lnTo>
                  <a:pt x="1776374" y="0"/>
                </a:lnTo>
                <a:lnTo>
                  <a:pt x="1776374" y="501826"/>
                </a:lnTo>
                <a:lnTo>
                  <a:pt x="0" y="5018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1" name="Google Shape;431;p66"/>
          <p:cNvSpPr txBox="1"/>
          <p:nvPr/>
        </p:nvSpPr>
        <p:spPr>
          <a:xfrm>
            <a:off x="3154055" y="4151323"/>
            <a:ext cx="127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98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PASO 1</a:t>
            </a:r>
            <a:endParaRPr b="1" sz="700">
              <a:solidFill>
                <a:schemeClr val="accent3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432" name="Google Shape;432;p66"/>
          <p:cNvSpPr txBox="1"/>
          <p:nvPr/>
        </p:nvSpPr>
        <p:spPr>
          <a:xfrm>
            <a:off x="3060150" y="3305725"/>
            <a:ext cx="14661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0F0D"/>
                </a:solidFill>
              </a:defRPr>
            </a:pPr>
            <a:r>
              <a:t>Respondes a una serie de preguntas sobre ti</a:t>
            </a:r>
            <a:endParaRPr sz="1100"/>
          </a:p>
        </p:txBody>
      </p:sp>
      <p:sp>
        <p:nvSpPr>
          <p:cNvPr id="433" name="Google Shape;433;p66"/>
          <p:cNvSpPr/>
          <p:nvPr/>
        </p:nvSpPr>
        <p:spPr>
          <a:xfrm rot="-1831404">
            <a:off x="4375501" y="3801425"/>
            <a:ext cx="891877" cy="251955"/>
          </a:xfrm>
          <a:custGeom>
            <a:rect b="b" l="l" r="r" t="t"/>
            <a:pathLst>
              <a:path extrusionOk="0" h="501826" w="1776375">
                <a:moveTo>
                  <a:pt x="1776375" y="0"/>
                </a:moveTo>
                <a:lnTo>
                  <a:pt x="0" y="0"/>
                </a:lnTo>
                <a:lnTo>
                  <a:pt x="0" y="501826"/>
                </a:lnTo>
                <a:lnTo>
                  <a:pt x="1776375" y="501826"/>
                </a:lnTo>
                <a:lnTo>
                  <a:pt x="1776375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34" name="Google Shape;434;p66"/>
          <p:cNvSpPr txBox="1"/>
          <p:nvPr/>
        </p:nvSpPr>
        <p:spPr>
          <a:xfrm>
            <a:off x="5342642" y="3847148"/>
            <a:ext cx="1278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98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3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PASO 2</a:t>
            </a:r>
            <a:endParaRPr b="1" sz="700">
              <a:solidFill>
                <a:schemeClr val="accent3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435" name="Google Shape;435;p66"/>
          <p:cNvSpPr txBox="1"/>
          <p:nvPr/>
        </p:nvSpPr>
        <p:spPr>
          <a:xfrm>
            <a:off x="5257187" y="3031775"/>
            <a:ext cx="14661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rgbClr val="100F0D"/>
                </a:solidFill>
              </a:defRPr>
            </a:pPr>
            <a:r>
              <a:t>Primera habilidad de crianza positiva: Haz una Pausa</a:t>
            </a:r>
            <a:endParaRPr sz="1100"/>
          </a:p>
        </p:txBody>
      </p:sp>
      <p:sp>
        <p:nvSpPr>
          <p:cNvPr id="436" name="Google Shape;436;p66"/>
          <p:cNvSpPr txBox="1"/>
          <p:nvPr/>
        </p:nvSpPr>
        <p:spPr>
          <a:xfrm>
            <a:off x="7586780" y="3071373"/>
            <a:ext cx="12783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98"/>
              </a:lnSpc>
              <a:spcBef>
                <a:spcPts val="0"/>
              </a:spcBef>
              <a:spcAft>
                <a:spcPts val="0"/>
              </a:spcAft>
              <a:buNone/>
              <a:defRPr sz="1700">
                <a:solidFill>
                  <a:schemeClr val="accent3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¡Comienza el Curso Básico!</a:t>
            </a:r>
            <a:endParaRPr sz="1000">
              <a:solidFill>
                <a:schemeClr val="accent3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7762"/>
            <a:ext cx="9143999" cy="5219026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67"/>
          <p:cNvSpPr txBox="1"/>
          <p:nvPr/>
        </p:nvSpPr>
        <p:spPr>
          <a:xfrm>
            <a:off x="1145988" y="543325"/>
            <a:ext cx="685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lt1"/>
                </a:solidFill>
                <a:highlight>
                  <a:srgbClr val="0E3A5A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Curso Básico: Mejorar mi relación con mi niña, niño o adolescente</a:t>
            </a:r>
            <a:endParaRPr i="0" sz="2400" u="none" cap="none" strike="noStrike">
              <a:solidFill>
                <a:schemeClr val="lt1"/>
              </a:solidFill>
              <a:highlight>
                <a:srgbClr val="0E3A5A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443" name="Google Shape;443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488" y="1367885"/>
            <a:ext cx="2538769" cy="1905014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67"/>
          <p:cNvSpPr txBox="1"/>
          <p:nvPr/>
        </p:nvSpPr>
        <p:spPr>
          <a:xfrm>
            <a:off x="466838" y="3465246"/>
            <a:ext cx="2606100" cy="76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900">
                <a:solidFill>
                  <a:srgbClr val="0B4060"/>
                </a:solidFill>
                <a:highlight>
                  <a:schemeClr val="lt1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Sesión 1: Pasar Tiempo Uno a Uno</a:t>
            </a:r>
            <a:endParaRPr b="0" i="0" sz="1900" u="none" cap="none" strike="noStrike">
              <a:solidFill>
                <a:srgbClr val="0B4060"/>
              </a:solidFill>
              <a:highlight>
                <a:schemeClr val="lt1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445" name="Google Shape;445;p67"/>
          <p:cNvPicPr preferRelativeResize="0"/>
          <p:nvPr/>
        </p:nvPicPr>
        <p:blipFill rotWithShape="1">
          <a:blip r:embed="rId5">
            <a:alphaModFix/>
          </a:blip>
          <a:srcRect b="0" l="59" r="49" t="0"/>
          <a:stretch/>
        </p:blipFill>
        <p:spPr>
          <a:xfrm>
            <a:off x="3302603" y="1367885"/>
            <a:ext cx="2538769" cy="190501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67"/>
          <p:cNvSpPr txBox="1"/>
          <p:nvPr/>
        </p:nvSpPr>
        <p:spPr>
          <a:xfrm>
            <a:off x="3268950" y="3465250"/>
            <a:ext cx="2606100" cy="47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900">
                <a:solidFill>
                  <a:srgbClr val="0B4060"/>
                </a:solidFill>
                <a:highlight>
                  <a:schemeClr val="lt1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Sesión 2: Dar Reconocimiento</a:t>
            </a:r>
            <a:endParaRPr b="0" i="0" sz="1900" u="none" cap="none" strike="noStrike">
              <a:solidFill>
                <a:srgbClr val="0B4060"/>
              </a:solidFill>
              <a:highlight>
                <a:schemeClr val="lt1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447" name="Google Shape;447;p67"/>
          <p:cNvPicPr preferRelativeResize="0"/>
          <p:nvPr/>
        </p:nvPicPr>
        <p:blipFill rotWithShape="1">
          <a:blip r:embed="rId6">
            <a:alphaModFix/>
          </a:blip>
          <a:srcRect b="0" l="59" r="49" t="0"/>
          <a:stretch/>
        </p:blipFill>
        <p:spPr>
          <a:xfrm>
            <a:off x="6104718" y="1367885"/>
            <a:ext cx="2538769" cy="1905015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67"/>
          <p:cNvSpPr txBox="1"/>
          <p:nvPr/>
        </p:nvSpPr>
        <p:spPr>
          <a:xfrm>
            <a:off x="6071068" y="3465246"/>
            <a:ext cx="2606100" cy="76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900">
                <a:solidFill>
                  <a:srgbClr val="0B4060"/>
                </a:solidFill>
                <a:highlight>
                  <a:schemeClr val="lt1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Sesión 3: Crear una Rutina para el Tiempo Uno a Uno</a:t>
            </a:r>
            <a:endParaRPr b="0" i="0" sz="1900" u="none" cap="none" strike="noStrike">
              <a:solidFill>
                <a:srgbClr val="0B4060"/>
              </a:solidFill>
              <a:highlight>
                <a:schemeClr val="lt1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449" name="Google Shape;449;p67"/>
          <p:cNvSpPr txBox="1"/>
          <p:nvPr/>
        </p:nvSpPr>
        <p:spPr>
          <a:xfrm>
            <a:off x="466838" y="4344446"/>
            <a:ext cx="2606100" cy="646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0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Crear confianza, respeto y una relación positiva entre tú y tu niño, niña o adolescente</a:t>
            </a:r>
            <a:endParaRPr sz="1000" u="none" cap="none" strike="noStrike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0" name="Google Shape;450;p67"/>
          <p:cNvSpPr txBox="1"/>
          <p:nvPr/>
        </p:nvSpPr>
        <p:spPr>
          <a:xfrm>
            <a:off x="3235263" y="4344446"/>
            <a:ext cx="26061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0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Hacer que tu niño, niña o adolescente quiera comportarse de la manera esperada con mayor frecuencia</a:t>
            </a:r>
            <a:endParaRPr sz="1000" u="none" cap="none" strike="noStrike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51" name="Google Shape;451;p67"/>
          <p:cNvSpPr txBox="1"/>
          <p:nvPr/>
        </p:nvSpPr>
        <p:spPr>
          <a:xfrm>
            <a:off x="6071038" y="4344446"/>
            <a:ext cx="26061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0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Ayudar a que tu niño, niña o adolescente sienta más seguridad, protección y ganas de cooperar</a:t>
            </a:r>
            <a:endParaRPr sz="1000" u="none" cap="none" strike="noStrike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6" name="Google Shape;456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7762"/>
            <a:ext cx="9143999" cy="5219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68"/>
          <p:cNvPicPr preferRelativeResize="0"/>
          <p:nvPr/>
        </p:nvPicPr>
        <p:blipFill rotWithShape="1">
          <a:blip r:embed="rId4">
            <a:alphaModFix/>
          </a:blip>
          <a:srcRect b="89" l="0" r="0" t="99"/>
          <a:stretch/>
        </p:blipFill>
        <p:spPr>
          <a:xfrm>
            <a:off x="1901538" y="1253685"/>
            <a:ext cx="2538769" cy="190501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68"/>
          <p:cNvSpPr txBox="1"/>
          <p:nvPr/>
        </p:nvSpPr>
        <p:spPr>
          <a:xfrm>
            <a:off x="1867888" y="3351046"/>
            <a:ext cx="2606100" cy="76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900">
                <a:solidFill>
                  <a:srgbClr val="123D5D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Sesión 4: Identificar Emociones y Sentimientos durante el Tiempo Uno a Uno</a:t>
            </a:r>
            <a:endParaRPr b="0" i="0" sz="1900" u="none" cap="none" strike="noStrike">
              <a:solidFill>
                <a:srgbClr val="123D5D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459" name="Google Shape;459;p68"/>
          <p:cNvPicPr preferRelativeResize="0"/>
          <p:nvPr/>
        </p:nvPicPr>
        <p:blipFill rotWithShape="1">
          <a:blip r:embed="rId5">
            <a:alphaModFix/>
          </a:blip>
          <a:srcRect b="0" l="19" r="29" t="0"/>
          <a:stretch/>
        </p:blipFill>
        <p:spPr>
          <a:xfrm>
            <a:off x="4703653" y="1253685"/>
            <a:ext cx="2538769" cy="1905014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68"/>
          <p:cNvSpPr txBox="1"/>
          <p:nvPr/>
        </p:nvSpPr>
        <p:spPr>
          <a:xfrm>
            <a:off x="4670003" y="3351046"/>
            <a:ext cx="2606100" cy="769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900">
                <a:solidFill>
                  <a:srgbClr val="123D5D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Sesión 5: Mantener la Calma Cuando Haya Estrés</a:t>
            </a:r>
            <a:endParaRPr b="0" i="0" sz="1900" u="none" cap="none" strike="noStrike">
              <a:solidFill>
                <a:srgbClr val="123D5D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461" name="Google Shape;461;p68"/>
          <p:cNvSpPr txBox="1"/>
          <p:nvPr/>
        </p:nvSpPr>
        <p:spPr>
          <a:xfrm>
            <a:off x="0" y="4750175"/>
            <a:ext cx="9144000" cy="431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b="1" sz="1600">
                <a:solidFill>
                  <a:srgbClr val="00969B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¡¡Al finalizar los 5 días </a:t>
            </a:r>
            <a:r>
              <a:t>tú</a:t>
            </a:r>
            <a:r>
              <a:rPr>
                <a:latin typeface="Arial"/>
                <a:ea typeface="Arial"/>
                <a:cs typeface="Arial"/>
                <a:sym typeface="Arial"/>
              </a:rPr>
              <a:t>recibirás </a:t>
            </a:r>
            <a:r>
              <a:t>un reconocimiento de crianza positiva!!</a:t>
            </a:r>
            <a:endParaRPr b="1" i="0" sz="1600" u="none" cap="none" strike="noStrike">
              <a:solidFill>
                <a:srgbClr val="00969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68"/>
          <p:cNvSpPr txBox="1"/>
          <p:nvPr/>
        </p:nvSpPr>
        <p:spPr>
          <a:xfrm>
            <a:off x="1867863" y="4167384"/>
            <a:ext cx="26061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0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Ayudar a tu niña, niño o adolescente a aprender a expresarse</a:t>
            </a:r>
            <a:endParaRPr sz="1000" u="none" cap="none" strike="noStrike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3" name="Google Shape;463;p68"/>
          <p:cNvSpPr txBox="1"/>
          <p:nvPr/>
        </p:nvSpPr>
        <p:spPr>
          <a:xfrm>
            <a:off x="4669988" y="4167396"/>
            <a:ext cx="2606100" cy="492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0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Controlar tu enojo al enfrentarte a situaciones de crianza estresantes </a:t>
            </a:r>
            <a:endParaRPr sz="1000" u="none" cap="none" strike="noStrike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464" name="Google Shape;464;p68"/>
          <p:cNvSpPr txBox="1"/>
          <p:nvPr/>
        </p:nvSpPr>
        <p:spPr>
          <a:xfrm>
            <a:off x="1145988" y="543325"/>
            <a:ext cx="685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highlight>
                  <a:srgbClr val="0E3A5A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Curso Básico: Mejorar mi relación con mi niña, niño o adolescente</a:t>
            </a:r>
            <a:endParaRPr i="0" sz="2400" u="none" cap="none" strike="noStrike">
              <a:solidFill>
                <a:schemeClr val="lt1"/>
              </a:solidFill>
              <a:highlight>
                <a:srgbClr val="0E3A5A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9" name="Google Shape;469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37762"/>
            <a:ext cx="9143999" cy="5219026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69"/>
          <p:cNvSpPr txBox="1"/>
          <p:nvPr/>
        </p:nvSpPr>
        <p:spPr>
          <a:xfrm>
            <a:off x="1145988" y="543325"/>
            <a:ext cx="685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lt1"/>
                </a:solidFill>
                <a:highlight>
                  <a:srgbClr val="0E3A5A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Escoge de la lista de cursos abiertos</a:t>
            </a:r>
            <a:endParaRPr i="0" sz="2400" u="none" cap="none" strike="noStrike">
              <a:solidFill>
                <a:schemeClr val="lt1"/>
              </a:solidFill>
              <a:highlight>
                <a:srgbClr val="0E3A5A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471" name="Google Shape;471;p69"/>
          <p:cNvPicPr preferRelativeResize="0"/>
          <p:nvPr/>
        </p:nvPicPr>
        <p:blipFill rotWithShape="1">
          <a:blip r:embed="rId5">
            <a:alphaModFix/>
          </a:blip>
          <a:srcRect b="0" l="29" r="19" t="0"/>
          <a:stretch/>
        </p:blipFill>
        <p:spPr>
          <a:xfrm>
            <a:off x="244205" y="1367870"/>
            <a:ext cx="3686625" cy="2766351"/>
          </a:xfrm>
          <a:prstGeom prst="rect">
            <a:avLst/>
          </a:prstGeom>
          <a:noFill/>
          <a:ln>
            <a:noFill/>
          </a:ln>
        </p:spPr>
      </p:pic>
      <p:sp>
        <p:nvSpPr>
          <p:cNvPr id="472" name="Google Shape;472;p69"/>
          <p:cNvSpPr txBox="1"/>
          <p:nvPr/>
        </p:nvSpPr>
        <p:spPr>
          <a:xfrm>
            <a:off x="4099110" y="1367875"/>
            <a:ext cx="4751400" cy="47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900">
                <a:solidFill>
                  <a:srgbClr val="0B4060"/>
                </a:solidFill>
                <a:highlight>
                  <a:schemeClr val="lt1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Entender el Desarrollo de mi Niña o Niño</a:t>
            </a:r>
            <a:endParaRPr b="0" i="0" sz="1900" u="none" cap="none" strike="noStrike">
              <a:solidFill>
                <a:srgbClr val="0B4060"/>
              </a:solidFill>
              <a:highlight>
                <a:schemeClr val="lt1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473" name="Google Shape;473;p69"/>
          <p:cNvSpPr txBox="1"/>
          <p:nvPr/>
        </p:nvSpPr>
        <p:spPr>
          <a:xfrm>
            <a:off x="4099100" y="2037825"/>
            <a:ext cx="4751400" cy="1323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2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De 2 a 9 años </a:t>
            </a:r>
            <a:endParaRPr b="1" sz="1200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2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En este curso aprenderás a: </a:t>
            </a:r>
            <a:endParaRPr b="1" sz="1200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Usar el juego para ayudar a tu niña o niño a crecer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Apoyar a tu niña o niño para que crezca y aprenda de manera saludable</a:t>
            </a:r>
            <a:endParaRPr b="1" sz="1000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8" name="Google Shape;478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37762"/>
            <a:ext cx="9143999" cy="5219026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70"/>
          <p:cNvSpPr txBox="1"/>
          <p:nvPr/>
        </p:nvSpPr>
        <p:spPr>
          <a:xfrm>
            <a:off x="1145988" y="543325"/>
            <a:ext cx="685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lt1"/>
                </a:solidFill>
                <a:highlight>
                  <a:srgbClr val="0E3A5A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Escoge de la lista de cursos abiertos</a:t>
            </a:r>
            <a:endParaRPr i="0" sz="2400" u="none" cap="none" strike="noStrike">
              <a:solidFill>
                <a:schemeClr val="lt1"/>
              </a:solidFill>
              <a:highlight>
                <a:srgbClr val="0E3A5A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480" name="Google Shape;480;p70"/>
          <p:cNvPicPr preferRelativeResize="0"/>
          <p:nvPr/>
        </p:nvPicPr>
        <p:blipFill rotWithShape="1">
          <a:blip r:embed="rId5">
            <a:alphaModFix/>
          </a:blip>
          <a:srcRect b="0" l="159" r="149" t="0"/>
          <a:stretch/>
        </p:blipFill>
        <p:spPr>
          <a:xfrm>
            <a:off x="5163880" y="1367870"/>
            <a:ext cx="3686625" cy="2766352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70"/>
          <p:cNvSpPr txBox="1"/>
          <p:nvPr/>
        </p:nvSpPr>
        <p:spPr>
          <a:xfrm>
            <a:off x="219385" y="1473925"/>
            <a:ext cx="4751400" cy="47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900">
                <a:solidFill>
                  <a:srgbClr val="0B4060"/>
                </a:solidFill>
                <a:highlight>
                  <a:schemeClr val="lt1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Apoyar a Mi niña o niño en su Aprendizaje</a:t>
            </a:r>
            <a:endParaRPr b="0" i="0" sz="1900" u="none" cap="none" strike="noStrike">
              <a:solidFill>
                <a:srgbClr val="0B4060"/>
              </a:solidFill>
              <a:highlight>
                <a:schemeClr val="lt1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482" name="Google Shape;482;p70"/>
          <p:cNvSpPr txBox="1"/>
          <p:nvPr/>
        </p:nvSpPr>
        <p:spPr>
          <a:xfrm>
            <a:off x="219375" y="2089250"/>
            <a:ext cx="4751400" cy="187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2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De 2 a 9 años </a:t>
            </a:r>
            <a:endParaRPr b="1" sz="1200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2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En este curso aprenderás a: </a:t>
            </a:r>
            <a:endParaRPr b="1" sz="1200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Apoyar a tu niña o niño en sus habilidades lingüísticas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Ayudar a tu niña o niño a prepararse para las Matemáticas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Ayudar a tu niña o niño a divertirse y aprender en la escuela y en la casa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37762"/>
            <a:ext cx="9143999" cy="5219026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71"/>
          <p:cNvSpPr txBox="1"/>
          <p:nvPr/>
        </p:nvSpPr>
        <p:spPr>
          <a:xfrm>
            <a:off x="1145988" y="543325"/>
            <a:ext cx="685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lt1"/>
                </a:solidFill>
                <a:highlight>
                  <a:srgbClr val="0E3A5A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Escoge de la lista de cursos abiertos</a:t>
            </a:r>
            <a:endParaRPr i="0" sz="2400" u="none" cap="none" strike="noStrike">
              <a:solidFill>
                <a:schemeClr val="lt1"/>
              </a:solidFill>
              <a:highlight>
                <a:srgbClr val="0E3A5A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489" name="Google Shape;489;p71"/>
          <p:cNvPicPr preferRelativeResize="0"/>
          <p:nvPr/>
        </p:nvPicPr>
        <p:blipFill rotWithShape="1">
          <a:blip r:embed="rId5">
            <a:alphaModFix/>
          </a:blip>
          <a:srcRect b="0" l="19" r="29" t="0"/>
          <a:stretch/>
        </p:blipFill>
        <p:spPr>
          <a:xfrm>
            <a:off x="244205" y="1367870"/>
            <a:ext cx="3686625" cy="2766351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71"/>
          <p:cNvSpPr txBox="1"/>
          <p:nvPr/>
        </p:nvSpPr>
        <p:spPr>
          <a:xfrm>
            <a:off x="4099110" y="1367875"/>
            <a:ext cx="4751400" cy="47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900">
                <a:solidFill>
                  <a:srgbClr val="0B4060"/>
                </a:solidFill>
                <a:highlight>
                  <a:schemeClr val="lt1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Apoyar a Mi Adolescente en su Aprendizaje</a:t>
            </a:r>
            <a:endParaRPr b="0" i="0" sz="1900" u="none" cap="none" strike="noStrike">
              <a:solidFill>
                <a:srgbClr val="0B4060"/>
              </a:solidFill>
              <a:highlight>
                <a:schemeClr val="lt1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491" name="Google Shape;491;p71"/>
          <p:cNvSpPr txBox="1"/>
          <p:nvPr/>
        </p:nvSpPr>
        <p:spPr>
          <a:xfrm>
            <a:off x="4099100" y="2037825"/>
            <a:ext cx="4751400" cy="215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2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De 10 a 17 años </a:t>
            </a:r>
            <a:endParaRPr b="1" sz="1200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2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En este curso aprenderás a: </a:t>
            </a:r>
            <a:endParaRPr b="1" sz="1200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Apoyar a tu adolescente para que pueda sentir alegría y divertirse mientras aprende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Ayudar a tu adolescente a fijar objetivos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Crear un espacio positivo de aprendizaje para tu adolescente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Ayudar a tu adolescente a aprender de sus errores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Ayudar a tu adolescente a aprender a trabajar con otras personas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" name="Google Shape;496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37762"/>
            <a:ext cx="9143999" cy="5219026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72"/>
          <p:cNvSpPr txBox="1"/>
          <p:nvPr/>
        </p:nvSpPr>
        <p:spPr>
          <a:xfrm>
            <a:off x="1145988" y="543325"/>
            <a:ext cx="685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lt1"/>
                </a:solidFill>
                <a:highlight>
                  <a:srgbClr val="0E3A5A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Escoge de la lista de cursos abiertos</a:t>
            </a:r>
            <a:endParaRPr i="0" sz="2400" u="none" cap="none" strike="noStrike">
              <a:solidFill>
                <a:schemeClr val="lt1"/>
              </a:solidFill>
              <a:highlight>
                <a:srgbClr val="0E3A5A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498" name="Google Shape;498;p72"/>
          <p:cNvPicPr preferRelativeResize="0"/>
          <p:nvPr/>
        </p:nvPicPr>
        <p:blipFill rotWithShape="1">
          <a:blip r:embed="rId5">
            <a:alphaModFix/>
          </a:blip>
          <a:srcRect b="39" l="0" r="0" t="39"/>
          <a:stretch/>
        </p:blipFill>
        <p:spPr>
          <a:xfrm>
            <a:off x="5163880" y="1473920"/>
            <a:ext cx="3686625" cy="2766351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p72"/>
          <p:cNvSpPr txBox="1"/>
          <p:nvPr/>
        </p:nvSpPr>
        <p:spPr>
          <a:xfrm>
            <a:off x="219385" y="1473925"/>
            <a:ext cx="4751400" cy="47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900">
                <a:solidFill>
                  <a:srgbClr val="0B4060"/>
                </a:solidFill>
                <a:highlight>
                  <a:schemeClr val="lt1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Guiar el Buen Comportamiento de Mi Niña, Niño o Adolescente</a:t>
            </a:r>
            <a:endParaRPr b="0" i="0" sz="1900" u="none" cap="none" strike="noStrike">
              <a:solidFill>
                <a:srgbClr val="0B4060"/>
              </a:solidFill>
              <a:highlight>
                <a:schemeClr val="lt1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500" name="Google Shape;500;p72"/>
          <p:cNvSpPr txBox="1"/>
          <p:nvPr/>
        </p:nvSpPr>
        <p:spPr>
          <a:xfrm>
            <a:off x="219375" y="2089250"/>
            <a:ext cx="4751400" cy="215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2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De 2 a 17 años</a:t>
            </a:r>
            <a:endParaRPr b="1" sz="1200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2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En este curso aprenderás a: </a:t>
            </a:r>
            <a:endParaRPr b="1" sz="1200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Ayudar a tu niña, niño o adolescente a seguir tus instrucciones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Crear reglas para la familia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Guiar el comportamiento de exigencia de atención en niñas y niños hacia otro más favorable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Responder de manera adecuada cuando tu niña, niño o adolescente tenga un comportamiento que no te gusta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Resolver problemas con tu niña, niño o adolescente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37762"/>
            <a:ext cx="9143999" cy="5219026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73"/>
          <p:cNvSpPr txBox="1"/>
          <p:nvPr/>
        </p:nvSpPr>
        <p:spPr>
          <a:xfrm>
            <a:off x="1145988" y="543325"/>
            <a:ext cx="685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lt1"/>
                </a:solidFill>
                <a:highlight>
                  <a:srgbClr val="0E3A5A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Escoge de la lista de cursos abiertos</a:t>
            </a:r>
            <a:endParaRPr i="0" sz="2400" u="none" cap="none" strike="noStrike">
              <a:solidFill>
                <a:schemeClr val="lt1"/>
              </a:solidFill>
              <a:highlight>
                <a:srgbClr val="0E3A5A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507" name="Google Shape;507;p73"/>
          <p:cNvPicPr preferRelativeResize="0"/>
          <p:nvPr/>
        </p:nvPicPr>
        <p:blipFill rotWithShape="1">
          <a:blip r:embed="rId5">
            <a:alphaModFix/>
          </a:blip>
          <a:srcRect b="0" l="89" r="89" t="0"/>
          <a:stretch/>
        </p:blipFill>
        <p:spPr>
          <a:xfrm>
            <a:off x="244205" y="1367870"/>
            <a:ext cx="3686625" cy="276635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73"/>
          <p:cNvSpPr txBox="1"/>
          <p:nvPr/>
        </p:nvSpPr>
        <p:spPr>
          <a:xfrm>
            <a:off x="4099110" y="1367875"/>
            <a:ext cx="4751400" cy="47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900">
                <a:solidFill>
                  <a:srgbClr val="0B4060"/>
                </a:solidFill>
                <a:highlight>
                  <a:schemeClr val="lt1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Seguridad y Salud de Mi Niña, Niño o Adolescente</a:t>
            </a:r>
            <a:endParaRPr b="0" i="0" sz="1900" u="none" cap="none" strike="noStrike">
              <a:solidFill>
                <a:srgbClr val="0B4060"/>
              </a:solidFill>
              <a:highlight>
                <a:schemeClr val="lt1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509" name="Google Shape;509;p73"/>
          <p:cNvSpPr txBox="1"/>
          <p:nvPr/>
        </p:nvSpPr>
        <p:spPr>
          <a:xfrm>
            <a:off x="4099100" y="2037825"/>
            <a:ext cx="4751400" cy="243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2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De 2 a 17 años </a:t>
            </a:r>
            <a:endParaRPr b="1" sz="1200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2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En este curso aprenderás a: </a:t>
            </a:r>
            <a:endParaRPr b="1" sz="1200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Enseñarle a tu niña o niño sobre el contacto físico seguro e inseguro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Mantener a tu niña, niño o adolescente a salvo en tu comunidad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Ayudar a tu adolescente a saber cómo usar sus pensamientos y su voz ADEMÁS de su cuerpo en situaciones de peligro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Responder de manera adecuada cuando tu niña, niño o adolescente esté en medio de una crisis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Mantener a tu niña, niño o adolescente a salvo al navegar por internet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Google Shape;514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37762"/>
            <a:ext cx="9143999" cy="5219026"/>
          </a:xfrm>
          <a:prstGeom prst="rect">
            <a:avLst/>
          </a:prstGeom>
          <a:noFill/>
          <a:ln>
            <a:noFill/>
          </a:ln>
        </p:spPr>
      </p:pic>
      <p:sp>
        <p:nvSpPr>
          <p:cNvPr id="515" name="Google Shape;515;p74"/>
          <p:cNvSpPr txBox="1"/>
          <p:nvPr/>
        </p:nvSpPr>
        <p:spPr>
          <a:xfrm>
            <a:off x="1145988" y="543325"/>
            <a:ext cx="685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lt1"/>
                </a:solidFill>
                <a:highlight>
                  <a:srgbClr val="0E3A5A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Escoge de la lista de cursos abiertos</a:t>
            </a:r>
            <a:endParaRPr i="0" sz="2400" u="none" cap="none" strike="noStrike">
              <a:solidFill>
                <a:schemeClr val="lt1"/>
              </a:solidFill>
              <a:highlight>
                <a:srgbClr val="0E3A5A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516" name="Google Shape;516;p74"/>
          <p:cNvPicPr preferRelativeResize="0"/>
          <p:nvPr/>
        </p:nvPicPr>
        <p:blipFill rotWithShape="1">
          <a:blip r:embed="rId5">
            <a:alphaModFix/>
          </a:blip>
          <a:srcRect b="9" l="0" r="0" t="9"/>
          <a:stretch/>
        </p:blipFill>
        <p:spPr>
          <a:xfrm>
            <a:off x="5146205" y="1473920"/>
            <a:ext cx="3686625" cy="2766350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74"/>
          <p:cNvSpPr txBox="1"/>
          <p:nvPr/>
        </p:nvSpPr>
        <p:spPr>
          <a:xfrm>
            <a:off x="219385" y="1473925"/>
            <a:ext cx="4751400" cy="47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900">
                <a:solidFill>
                  <a:srgbClr val="0B4060"/>
                </a:solidFill>
                <a:highlight>
                  <a:schemeClr val="lt1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Cuidar del Bienestar de Mi Adolescente y del Mío</a:t>
            </a:r>
            <a:endParaRPr b="0" i="0" sz="1900" u="none" cap="none" strike="noStrike">
              <a:solidFill>
                <a:srgbClr val="0B4060"/>
              </a:solidFill>
              <a:highlight>
                <a:schemeClr val="lt1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518" name="Google Shape;518;p74"/>
          <p:cNvSpPr txBox="1"/>
          <p:nvPr/>
        </p:nvSpPr>
        <p:spPr>
          <a:xfrm>
            <a:off x="219375" y="2089250"/>
            <a:ext cx="4751400" cy="27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2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De 10 a 17 años</a:t>
            </a:r>
            <a:endParaRPr b="1" sz="1200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2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En este curso aprenderás a: </a:t>
            </a:r>
            <a:endParaRPr b="1" sz="1200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Manejar el estrés como madre, padre o persona cuidadora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Ayudar a tu adolescente a controlar el estrés y a identificar las señales de alerta de que necesita ayuda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Manejar los sentimientos de tristeza e identificar las señales de alerta de la depresión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Manejar los sentimientos de preocupación e identificar las señales de alerta de la ansiedad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Ayudar a tu adolescente a tener más esperanza en su futuro y a mejorar su autoestima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37762"/>
            <a:ext cx="9143999" cy="5219026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75"/>
          <p:cNvSpPr txBox="1"/>
          <p:nvPr/>
        </p:nvSpPr>
        <p:spPr>
          <a:xfrm>
            <a:off x="1145988" y="543325"/>
            <a:ext cx="685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lt1"/>
                </a:solidFill>
                <a:highlight>
                  <a:srgbClr val="0E3A5A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Escoge de la lista de cursos abiertos</a:t>
            </a:r>
            <a:endParaRPr i="0" sz="2400" u="none" cap="none" strike="noStrike">
              <a:solidFill>
                <a:schemeClr val="lt1"/>
              </a:solidFill>
              <a:highlight>
                <a:srgbClr val="0E3A5A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525" name="Google Shape;525;p75"/>
          <p:cNvPicPr preferRelativeResize="0"/>
          <p:nvPr/>
        </p:nvPicPr>
        <p:blipFill rotWithShape="1">
          <a:blip r:embed="rId5">
            <a:alphaModFix/>
          </a:blip>
          <a:srcRect b="0" l="59" r="59" t="0"/>
          <a:stretch/>
        </p:blipFill>
        <p:spPr>
          <a:xfrm>
            <a:off x="244205" y="1367870"/>
            <a:ext cx="3686625" cy="276635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75"/>
          <p:cNvSpPr txBox="1"/>
          <p:nvPr/>
        </p:nvSpPr>
        <p:spPr>
          <a:xfrm>
            <a:off x="4099110" y="1367875"/>
            <a:ext cx="4751400" cy="47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400"/>
              <a:buFont typeface="Arial"/>
              <a:buNone/>
              <a:defRPr sz="1900">
                <a:solidFill>
                  <a:srgbClr val="0B4060"/>
                </a:solidFill>
                <a:highlight>
                  <a:schemeClr val="lt1"/>
                </a:highlight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Seguridad y Salud de Mi Niña, Niño o Adolescente</a:t>
            </a:r>
            <a:endParaRPr b="0" i="0" sz="1900" u="none" cap="none" strike="noStrike">
              <a:solidFill>
                <a:srgbClr val="0B4060"/>
              </a:solidFill>
              <a:highlight>
                <a:schemeClr val="lt1"/>
              </a:highlight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527" name="Google Shape;527;p75"/>
          <p:cNvSpPr txBox="1"/>
          <p:nvPr/>
        </p:nvSpPr>
        <p:spPr>
          <a:xfrm>
            <a:off x="4099100" y="2037825"/>
            <a:ext cx="4751400" cy="187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2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Para Padres y Personas Cuidadoras Masculinas </a:t>
            </a:r>
            <a:endParaRPr b="1" sz="1200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200">
                <a:solidFill>
                  <a:srgbClr val="0B4060"/>
                </a:solidFill>
                <a:highlight>
                  <a:schemeClr val="lt1"/>
                </a:highlight>
                <a:latin typeface="Noto Sans"/>
                <a:ea typeface="Noto Sans"/>
                <a:cs typeface="Noto Sans"/>
                <a:sym typeface="Noto Sans"/>
              </a:defRPr>
            </a:pPr>
            <a:r>
              <a:t>En este curso aprenderás a: </a:t>
            </a:r>
            <a:endParaRPr b="1" sz="1200">
              <a:solidFill>
                <a:srgbClr val="0B4060"/>
              </a:solidFill>
              <a:highlight>
                <a:schemeClr val="lt1"/>
              </a:highlight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Brindarle apoyo a tu pareja y a tus niñas, niños y adolescentes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Hablar con tu pareja y a escucharse mutuamente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Tomar decisiones en conjunto 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13D5C"/>
              </a:buClr>
              <a:buSzPts val="1200"/>
              <a:buFont typeface="Noto Sans"/>
              <a:buChar char="●"/>
              <a:defRPr sz="1200">
                <a:solidFill>
                  <a:srgbClr val="1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Resolver conflictos pacíficamente</a:t>
            </a:r>
            <a:endParaRPr sz="1200">
              <a:solidFill>
                <a:srgbClr val="1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76"/>
          <p:cNvSpPr/>
          <p:nvPr/>
        </p:nvSpPr>
        <p:spPr>
          <a:xfrm rot="-5400000">
            <a:off x="2400025" y="-2140975"/>
            <a:ext cx="448200" cy="5248200"/>
          </a:xfrm>
          <a:prstGeom prst="round2SameRect">
            <a:avLst>
              <a:gd fmla="val 0" name="adj1"/>
              <a:gd fmla="val 49968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76"/>
          <p:cNvSpPr txBox="1"/>
          <p:nvPr/>
        </p:nvSpPr>
        <p:spPr>
          <a:xfrm>
            <a:off x="286210" y="2286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Acerca de </a:t>
            </a:r>
            <a:r>
              <a:t>Crianza con Conciencia +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76"/>
          <p:cNvSpPr txBox="1"/>
          <p:nvPr/>
        </p:nvSpPr>
        <p:spPr>
          <a:xfrm>
            <a:off x="4094575" y="1402775"/>
            <a:ext cx="508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76"/>
          <p:cNvSpPr/>
          <p:nvPr/>
        </p:nvSpPr>
        <p:spPr>
          <a:xfrm>
            <a:off x="497550" y="1426188"/>
            <a:ext cx="2291100" cy="2291100"/>
          </a:xfrm>
          <a:prstGeom prst="ellipse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6" name="Google Shape;536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5025" y="1639550"/>
            <a:ext cx="716150" cy="71615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76"/>
          <p:cNvSpPr txBox="1"/>
          <p:nvPr/>
        </p:nvSpPr>
        <p:spPr>
          <a:xfrm>
            <a:off x="811350" y="2269325"/>
            <a:ext cx="1663500" cy="10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>
                <a:solidFill>
                  <a:schemeClr val="lt1"/>
                </a:solidFill>
              </a:defRPr>
            </a:pPr>
            <a:r>
              <a:t>Aprendiendo a través de Crianza con Conciencia + Chatbot en WhatsApp</a:t>
            </a:r>
            <a:endParaRPr b="1">
              <a:solidFill>
                <a:srgbClr val="1B3055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76"/>
          <p:cNvSpPr/>
          <p:nvPr/>
        </p:nvSpPr>
        <p:spPr>
          <a:xfrm>
            <a:off x="353900" y="1150350"/>
            <a:ext cx="2737500" cy="2848800"/>
          </a:xfrm>
          <a:prstGeom prst="arc">
            <a:avLst>
              <a:gd fmla="val 16114895" name="adj1"/>
              <a:gd fmla="val 5238787" name="adj2"/>
            </a:avLst>
          </a:prstGeom>
          <a:noFill/>
          <a:ln cap="flat" cmpd="sng" w="28575">
            <a:solidFill>
              <a:srgbClr val="0096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539" name="Google Shape;539;p76"/>
          <p:cNvCxnSpPr>
            <a:endCxn id="540" idx="1"/>
          </p:cNvCxnSpPr>
          <p:nvPr/>
        </p:nvCxnSpPr>
        <p:spPr>
          <a:xfrm>
            <a:off x="2474975" y="1402775"/>
            <a:ext cx="1571400" cy="0"/>
          </a:xfrm>
          <a:prstGeom prst="straightConnector1">
            <a:avLst/>
          </a:prstGeom>
          <a:noFill/>
          <a:ln cap="flat" cmpd="sng" w="28575">
            <a:solidFill>
              <a:srgbClr val="00969B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540" name="Google Shape;540;p76"/>
          <p:cNvSpPr txBox="1"/>
          <p:nvPr/>
        </p:nvSpPr>
        <p:spPr>
          <a:xfrm>
            <a:off x="4046375" y="944825"/>
            <a:ext cx="5001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900">
                <a:solidFill>
                  <a:schemeClr val="dk2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 Sesiones Diarias sobre cómo mejorar tu relación con tu niña, niño o adolescente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41" name="Google Shape;541;p76"/>
          <p:cNvSpPr txBox="1"/>
          <p:nvPr/>
        </p:nvSpPr>
        <p:spPr>
          <a:xfrm>
            <a:off x="4133725" y="2115250"/>
            <a:ext cx="5001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Actividades lúdicas para hacer con tu niña, niño o adolescente al final de cada sesión</a:t>
            </a:r>
            <a:endParaRPr>
              <a:solidFill>
                <a:srgbClr val="00969B"/>
              </a:solidFill>
            </a:endParaRPr>
          </a:p>
        </p:txBody>
      </p:sp>
      <p:sp>
        <p:nvSpPr>
          <p:cNvPr id="542" name="Google Shape;542;p76"/>
          <p:cNvSpPr txBox="1"/>
          <p:nvPr/>
        </p:nvSpPr>
        <p:spPr>
          <a:xfrm>
            <a:off x="4133725" y="3285675"/>
            <a:ext cx="5001900" cy="9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Recursos, en caso de necesitar apoyo para cuestiones de salud mental, violencia, violencia sexual o abuso de sustancias (Escribe AYUDA)</a:t>
            </a:r>
            <a:endParaRPr>
              <a:solidFill>
                <a:srgbClr val="00969B"/>
              </a:solidFill>
            </a:endParaRPr>
          </a:p>
        </p:txBody>
      </p:sp>
      <p:cxnSp>
        <p:nvCxnSpPr>
          <p:cNvPr id="543" name="Google Shape;543;p76"/>
          <p:cNvCxnSpPr/>
          <p:nvPr/>
        </p:nvCxnSpPr>
        <p:spPr>
          <a:xfrm flipH="1" rot="10800000">
            <a:off x="3037500" y="2568900"/>
            <a:ext cx="1049700" cy="18600"/>
          </a:xfrm>
          <a:prstGeom prst="straightConnector1">
            <a:avLst/>
          </a:prstGeom>
          <a:noFill/>
          <a:ln cap="flat" cmpd="sng" w="28575">
            <a:solidFill>
              <a:srgbClr val="00969B"/>
            </a:solidFill>
            <a:prstDash val="solid"/>
            <a:round/>
            <a:headEnd len="med" w="med" type="oval"/>
            <a:tailEnd len="med" w="med" type="none"/>
          </a:ln>
        </p:spPr>
      </p:cxnSp>
      <p:cxnSp>
        <p:nvCxnSpPr>
          <p:cNvPr id="544" name="Google Shape;544;p76"/>
          <p:cNvCxnSpPr/>
          <p:nvPr/>
        </p:nvCxnSpPr>
        <p:spPr>
          <a:xfrm flipH="1" rot="10800000">
            <a:off x="2474850" y="3740725"/>
            <a:ext cx="1659000" cy="14100"/>
          </a:xfrm>
          <a:prstGeom prst="straightConnector1">
            <a:avLst/>
          </a:prstGeom>
          <a:noFill/>
          <a:ln cap="flat" cmpd="sng" w="28575">
            <a:solidFill>
              <a:srgbClr val="00969B"/>
            </a:solidFill>
            <a:prstDash val="solid"/>
            <a:round/>
            <a:headEnd len="med" w="med" type="oval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77"/>
          <p:cNvSpPr txBox="1"/>
          <p:nvPr/>
        </p:nvSpPr>
        <p:spPr>
          <a:xfrm>
            <a:off x="4094575" y="1402775"/>
            <a:ext cx="508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77"/>
          <p:cNvSpPr txBox="1"/>
          <p:nvPr/>
        </p:nvSpPr>
        <p:spPr>
          <a:xfrm>
            <a:off x="3104450" y="879200"/>
            <a:ext cx="5745000" cy="3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chemeClr val="dk1"/>
                </a:solidFill>
              </a:defRPr>
            </a:pPr>
            <a:r>
              <a:t>Participarás en sesiones de chat de WhatsApp y aprenderás a cuidar de tu salud mental para apoyarte a ti mismo y a tus familias.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200">
                <a:solidFill>
                  <a:schemeClr val="dk1"/>
                </a:solidFill>
              </a:defRPr>
            </a:pPr>
            <a:r>
              <a:t>También puedes compartir tus propias experiencias relacionadas con las sesiones ofrecidas a través del chatbot Crianza con Conciencia +. 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chemeClr val="dk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Tendremos</a:t>
            </a:r>
            <a:r>
              <a:t>cinco</a:t>
            </a:r>
            <a:r>
              <a:rPr>
                <a:latin typeface="Arial"/>
                <a:ea typeface="Arial"/>
                <a:cs typeface="Arial"/>
                <a:sym typeface="Arial"/>
              </a:rPr>
              <a:t> sesiones de chat: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sz="16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rPr>
              <a:t>Después de la sesión de integración:</a:t>
            </a:r>
            <a:r>
              <a:rPr sz="1200">
                <a:solidFill>
                  <a:srgbClr val="00969B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Bienvenida y presentaciones.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</a:pPr>
            <a:r>
              <a:rPr sz="17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rPr>
              <a:t>Semana 1:</a:t>
            </a:r>
            <a:r>
              <a:rPr sz="1700">
                <a:solidFill>
                  <a:schemeClr val="dk1"/>
                </a:solidFill>
                <a:latin typeface="Delicious Handrawn"/>
                <a:ea typeface="Delicious Handrawn"/>
                <a:cs typeface="Delicious Handrawn"/>
                <a:sym typeface="Delicious Handrawn"/>
              </a:rPr>
              <a:t> </a:t>
            </a:r>
            <a:r>
              <a:rPr sz="1200">
                <a:solidFill>
                  <a:schemeClr val="dk1"/>
                </a:solidFill>
              </a:rPr>
              <a:t>Pensamientos, sentimientos y acciones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sz="17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rPr>
              <a:t>Semana 2:</a:t>
            </a:r>
            <a:r>
              <a:rPr sz="1700">
                <a:solidFill>
                  <a:schemeClr val="dk1"/>
                </a:solidFill>
                <a:latin typeface="Delicious Handrawn"/>
                <a:ea typeface="Delicious Handrawn"/>
                <a:cs typeface="Delicious Handrawn"/>
                <a:sym typeface="Delicious Handrawn"/>
              </a:rPr>
              <a:t> </a:t>
            </a:r>
            <a:r>
              <a:rPr sz="1200">
                <a:solidFill>
                  <a:schemeClr val="dk1"/>
                </a:solidFill>
              </a:rPr>
              <a:t> Diálogo Interno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sz="17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rPr>
              <a:t>Semana 3:</a:t>
            </a:r>
            <a:r>
              <a:rPr sz="1700">
                <a:solidFill>
                  <a:schemeClr val="dk1"/>
                </a:solidFill>
                <a:latin typeface="Delicious Handrawn"/>
                <a:ea typeface="Delicious Handrawn"/>
                <a:cs typeface="Delicious Handrawn"/>
                <a:sym typeface="Delicious Handrawn"/>
              </a:rPr>
              <a:t> </a:t>
            </a:r>
            <a:r>
              <a:rPr sz="1200">
                <a:solidFill>
                  <a:schemeClr val="dk1"/>
                </a:solidFill>
              </a:rPr>
              <a:t>Fortalezas de carácter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sz="17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rPr>
              <a:t>Semana 4:</a:t>
            </a:r>
            <a:r>
              <a:rPr sz="1700">
                <a:solidFill>
                  <a:schemeClr val="dk1"/>
                </a:solidFill>
                <a:latin typeface="Delicious Handrawn"/>
                <a:ea typeface="Delicious Handrawn"/>
                <a:cs typeface="Delicious Handrawn"/>
                <a:sym typeface="Delicious Handrawn"/>
              </a:rPr>
              <a:t> </a:t>
            </a:r>
            <a:r>
              <a:rPr sz="1200">
                <a:solidFill>
                  <a:schemeClr val="dk1"/>
                </a:solidFill>
              </a:rPr>
              <a:t>Desarrollar emociones agradables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551" name="Google Shape;551;p77"/>
          <p:cNvSpPr/>
          <p:nvPr/>
        </p:nvSpPr>
        <p:spPr>
          <a:xfrm>
            <a:off x="353525" y="1426188"/>
            <a:ext cx="2291100" cy="2291100"/>
          </a:xfrm>
          <a:prstGeom prst="ellipse">
            <a:avLst/>
          </a:prstGeom>
          <a:solidFill>
            <a:srgbClr val="E402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rgbClr val="1B3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2" name="Google Shape;552;p77"/>
          <p:cNvPicPr preferRelativeResize="0"/>
          <p:nvPr/>
        </p:nvPicPr>
        <p:blipFill rotWithShape="1">
          <a:blip r:embed="rId4">
            <a:alphaModFix/>
          </a:blip>
          <a:srcRect b="2606" l="0" r="0" t="2606"/>
          <a:stretch/>
        </p:blipFill>
        <p:spPr>
          <a:xfrm>
            <a:off x="1268500" y="1764175"/>
            <a:ext cx="599150" cy="59915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77"/>
          <p:cNvSpPr txBox="1"/>
          <p:nvPr/>
        </p:nvSpPr>
        <p:spPr>
          <a:xfrm>
            <a:off x="555425" y="2408200"/>
            <a:ext cx="1887300" cy="86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>
                <a:solidFill>
                  <a:schemeClr val="lt1"/>
                </a:solidFill>
              </a:defRPr>
            </a:pPr>
            <a:r>
              <a:t>Apoyo en un Grupo de WhatsApp </a:t>
            </a:r>
            <a:r>
              <a:rPr i="1"/>
              <a:t>separado</a:t>
            </a:r>
            <a:r>
              <a:t> y moderado por un Facilitador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>
              <a:solidFill>
                <a:schemeClr val="lt1"/>
              </a:solidFill>
            </a:endParaRPr>
          </a:p>
        </p:txBody>
      </p:sp>
      <p:sp>
        <p:nvSpPr>
          <p:cNvPr id="554" name="Google Shape;554;p77"/>
          <p:cNvSpPr/>
          <p:nvPr/>
        </p:nvSpPr>
        <p:spPr>
          <a:xfrm rot="-5400000">
            <a:off x="2400025" y="-2140975"/>
            <a:ext cx="448200" cy="5248200"/>
          </a:xfrm>
          <a:prstGeom prst="round2SameRect">
            <a:avLst>
              <a:gd fmla="val 0" name="adj1"/>
              <a:gd fmla="val 49968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77"/>
          <p:cNvSpPr txBox="1"/>
          <p:nvPr/>
        </p:nvSpPr>
        <p:spPr>
          <a:xfrm>
            <a:off x="286210" y="228606"/>
            <a:ext cx="8857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Acerca de </a:t>
            </a:r>
            <a:r>
              <a:t>Crianza con Conciencia +</a:t>
            </a:r>
            <a:endParaRPr b="0" i="0" sz="2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78"/>
          <p:cNvSpPr/>
          <p:nvPr/>
        </p:nvSpPr>
        <p:spPr>
          <a:xfrm rot="-5400000">
            <a:off x="2712150" y="-2516600"/>
            <a:ext cx="506700" cy="59310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78"/>
          <p:cNvSpPr txBox="1"/>
          <p:nvPr/>
        </p:nvSpPr>
        <p:spPr>
          <a:xfrm>
            <a:off x="57625" y="216761"/>
            <a:ext cx="625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La Travesía de los Padres, Madres y Cuidadores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562" name="Google Shape;562;p78"/>
          <p:cNvSpPr/>
          <p:nvPr/>
        </p:nvSpPr>
        <p:spPr>
          <a:xfrm>
            <a:off x="38125" y="1461350"/>
            <a:ext cx="1803000" cy="208800"/>
          </a:xfrm>
          <a:prstGeom prst="rect">
            <a:avLst/>
          </a:prstGeom>
          <a:solidFill>
            <a:srgbClr val="113D5C"/>
          </a:solidFill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solidFill>
                  <a:schemeClr val="lt1"/>
                </a:solidFill>
              </a:defRPr>
            </a:pPr>
            <a:r>
              <a:t>¡Estás aquí!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78"/>
          <p:cNvSpPr/>
          <p:nvPr/>
        </p:nvSpPr>
        <p:spPr>
          <a:xfrm>
            <a:off x="1841113" y="1461350"/>
            <a:ext cx="1803000" cy="20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solidFill>
                  <a:srgbClr val="0C3F62"/>
                </a:solidFill>
              </a:defRPr>
            </a:pPr>
            <a:r>
              <a:t>Semana 1</a:t>
            </a:r>
            <a:endParaRPr b="0" i="0" sz="1400" u="none" cap="none" strike="noStrike">
              <a:solidFill>
                <a:srgbClr val="0C3F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78"/>
          <p:cNvSpPr/>
          <p:nvPr/>
        </p:nvSpPr>
        <p:spPr>
          <a:xfrm>
            <a:off x="3644113" y="1461350"/>
            <a:ext cx="1803000" cy="208800"/>
          </a:xfrm>
          <a:prstGeom prst="rect">
            <a:avLst/>
          </a:prstGeom>
          <a:solidFill>
            <a:srgbClr val="113D5C"/>
          </a:solidFill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solidFill>
                  <a:schemeClr val="lt1"/>
                </a:solidFill>
              </a:defRPr>
            </a:pPr>
            <a:r>
              <a:t>Semana 2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78"/>
          <p:cNvSpPr/>
          <p:nvPr/>
        </p:nvSpPr>
        <p:spPr>
          <a:xfrm>
            <a:off x="5447113" y="1461350"/>
            <a:ext cx="1803000" cy="208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solidFill>
                  <a:srgbClr val="0C3F62"/>
                </a:solidFill>
              </a:defRPr>
            </a:pPr>
            <a:r>
              <a:t>Semana 3</a:t>
            </a:r>
            <a:endParaRPr b="0" i="0" sz="1400" u="none" cap="none" strike="noStrike">
              <a:solidFill>
                <a:srgbClr val="0C3F6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78"/>
          <p:cNvSpPr/>
          <p:nvPr/>
        </p:nvSpPr>
        <p:spPr>
          <a:xfrm>
            <a:off x="7250113" y="1461350"/>
            <a:ext cx="1803000" cy="208800"/>
          </a:xfrm>
          <a:prstGeom prst="rect">
            <a:avLst/>
          </a:prstGeom>
          <a:solidFill>
            <a:srgbClr val="113D5C"/>
          </a:solidFill>
          <a:ln cap="flat" cmpd="sng" w="9525">
            <a:solidFill>
              <a:srgbClr val="0C3F6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>
                <a:solidFill>
                  <a:schemeClr val="lt1"/>
                </a:solidFill>
              </a:defRPr>
            </a:pPr>
            <a:r>
              <a:t>Semana 4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7" name="Google Shape;567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40913" y="2642675"/>
            <a:ext cx="270175" cy="270175"/>
          </a:xfrm>
          <a:prstGeom prst="rect">
            <a:avLst/>
          </a:prstGeom>
          <a:noFill/>
          <a:ln>
            <a:noFill/>
          </a:ln>
        </p:spPr>
      </p:pic>
      <p:sp>
        <p:nvSpPr>
          <p:cNvPr id="568" name="Google Shape;568;p78"/>
          <p:cNvSpPr txBox="1"/>
          <p:nvPr/>
        </p:nvSpPr>
        <p:spPr>
          <a:xfrm>
            <a:off x="7240425" y="4035200"/>
            <a:ext cx="18030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Sesión de Chat: Desarrollar Emociones Agradables</a:t>
            </a:r>
            <a:endParaRPr i="0" sz="1100" u="none" cap="none" strike="noStrike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69" name="Google Shape;569;p78"/>
          <p:cNvSpPr txBox="1"/>
          <p:nvPr/>
        </p:nvSpPr>
        <p:spPr>
          <a:xfrm>
            <a:off x="3634325" y="4035200"/>
            <a:ext cx="18030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Sesión de Chat: Diálogo Interno</a:t>
            </a:r>
            <a:endParaRPr i="0" sz="13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0" name="Google Shape;570;p78"/>
          <p:cNvSpPr txBox="1"/>
          <p:nvPr/>
        </p:nvSpPr>
        <p:spPr>
          <a:xfrm>
            <a:off x="67525" y="2111850"/>
            <a:ext cx="1773600" cy="5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Sesión de Integración 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(2 horas)</a:t>
            </a:r>
            <a:endParaRPr i="0" sz="13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571" name="Google Shape;571;p78"/>
          <p:cNvSpPr txBox="1"/>
          <p:nvPr/>
        </p:nvSpPr>
        <p:spPr>
          <a:xfrm>
            <a:off x="676100" y="857444"/>
            <a:ext cx="2359800" cy="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chemeClr val="accent5"/>
                </a:solidFill>
              </a:defRPr>
            </a:pPr>
            <a:r>
              <a:t>Sesión </a:t>
            </a:r>
            <a:r>
              <a:rPr>
                <a:latin typeface="Arial"/>
                <a:ea typeface="Arial"/>
                <a:cs typeface="Arial"/>
                <a:sym typeface="Arial"/>
              </a:rPr>
              <a:t>Presencial</a:t>
            </a:r>
            <a:r>
              <a:t> </a:t>
            </a:r>
            <a:endParaRPr b="0" i="0" sz="1400" u="none" cap="none" strike="noStrike">
              <a:solidFill>
                <a:schemeClr val="accent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78"/>
          <p:cNvSpPr txBox="1"/>
          <p:nvPr/>
        </p:nvSpPr>
        <p:spPr>
          <a:xfrm>
            <a:off x="3453775" y="785444"/>
            <a:ext cx="19467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13D5C"/>
                </a:solidFill>
              </a:defRPr>
            </a:pPr>
            <a:r>
              <a:t>Sesiones en el Chatbot de Crianza con Conciencia +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573" name="Google Shape;573;p78"/>
          <p:cNvSpPr txBox="1"/>
          <p:nvPr/>
        </p:nvSpPr>
        <p:spPr>
          <a:xfrm>
            <a:off x="6371250" y="695444"/>
            <a:ext cx="1946700" cy="6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13D5C"/>
                </a:solidFill>
              </a:defRPr>
            </a:pPr>
            <a:r>
              <a:t>Discusión en el Grupo de Comunidad de WhatsApp moderado por el Facilitador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4" name="Google Shape;574;p78"/>
          <p:cNvGrpSpPr/>
          <p:nvPr/>
        </p:nvGrpSpPr>
        <p:grpSpPr>
          <a:xfrm>
            <a:off x="258215" y="857444"/>
            <a:ext cx="372300" cy="372300"/>
            <a:chOff x="6166865" y="140342"/>
            <a:chExt cx="372300" cy="372300"/>
          </a:xfrm>
        </p:grpSpPr>
        <p:sp>
          <p:nvSpPr>
            <p:cNvPr id="575" name="Google Shape;575;p78"/>
            <p:cNvSpPr/>
            <p:nvPr/>
          </p:nvSpPr>
          <p:spPr>
            <a:xfrm>
              <a:off x="6166865" y="140342"/>
              <a:ext cx="372300" cy="372300"/>
            </a:xfrm>
            <a:prstGeom prst="ellipse">
              <a:avLst/>
            </a:prstGeom>
            <a:solidFill>
              <a:srgbClr val="0D3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76" name="Google Shape;576;p7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53825" y="222075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77" name="Google Shape;577;p78"/>
          <p:cNvGrpSpPr/>
          <p:nvPr/>
        </p:nvGrpSpPr>
        <p:grpSpPr>
          <a:xfrm>
            <a:off x="3035896" y="857444"/>
            <a:ext cx="372300" cy="372300"/>
            <a:chOff x="6172071" y="582117"/>
            <a:chExt cx="372300" cy="372300"/>
          </a:xfrm>
        </p:grpSpPr>
        <p:sp>
          <p:nvSpPr>
            <p:cNvPr id="578" name="Google Shape;578;p78"/>
            <p:cNvSpPr/>
            <p:nvPr/>
          </p:nvSpPr>
          <p:spPr>
            <a:xfrm>
              <a:off x="6172071" y="582117"/>
              <a:ext cx="372300" cy="372300"/>
            </a:xfrm>
            <a:prstGeom prst="ellipse">
              <a:avLst/>
            </a:prstGeom>
            <a:solidFill>
              <a:srgbClr val="0096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79" name="Google Shape;579;p7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223138" y="633188"/>
              <a:ext cx="270177" cy="270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0" name="Google Shape;580;p78"/>
          <p:cNvGrpSpPr/>
          <p:nvPr/>
        </p:nvGrpSpPr>
        <p:grpSpPr>
          <a:xfrm>
            <a:off x="5978865" y="857444"/>
            <a:ext cx="372300" cy="372300"/>
            <a:chOff x="6192365" y="1173617"/>
            <a:chExt cx="372300" cy="372300"/>
          </a:xfrm>
        </p:grpSpPr>
        <p:sp>
          <p:nvSpPr>
            <p:cNvPr id="581" name="Google Shape;581;p78"/>
            <p:cNvSpPr/>
            <p:nvPr/>
          </p:nvSpPr>
          <p:spPr>
            <a:xfrm>
              <a:off x="6192365" y="1173617"/>
              <a:ext cx="372300" cy="372300"/>
            </a:xfrm>
            <a:prstGeom prst="ellipse">
              <a:avLst/>
            </a:prstGeom>
            <a:solidFill>
              <a:srgbClr val="D6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2" name="Google Shape;582;p78"/>
            <p:cNvPicPr preferRelativeResize="0"/>
            <p:nvPr/>
          </p:nvPicPr>
          <p:blipFill rotWithShape="1">
            <a:blip r:embed="rId7">
              <a:alphaModFix/>
            </a:blip>
            <a:srcRect b="2606" l="0" r="0" t="2606"/>
            <a:stretch/>
          </p:blipFill>
          <p:spPr>
            <a:xfrm>
              <a:off x="6282297" y="1255387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3" name="Google Shape;583;p78"/>
          <p:cNvGrpSpPr/>
          <p:nvPr/>
        </p:nvGrpSpPr>
        <p:grpSpPr>
          <a:xfrm>
            <a:off x="753603" y="1739554"/>
            <a:ext cx="372300" cy="372300"/>
            <a:chOff x="6166865" y="140342"/>
            <a:chExt cx="372300" cy="372300"/>
          </a:xfrm>
        </p:grpSpPr>
        <p:sp>
          <p:nvSpPr>
            <p:cNvPr id="584" name="Google Shape;584;p78"/>
            <p:cNvSpPr/>
            <p:nvPr/>
          </p:nvSpPr>
          <p:spPr>
            <a:xfrm>
              <a:off x="6166865" y="140342"/>
              <a:ext cx="372300" cy="372300"/>
            </a:xfrm>
            <a:prstGeom prst="ellipse">
              <a:avLst/>
            </a:prstGeom>
            <a:solidFill>
              <a:srgbClr val="0D3959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5" name="Google Shape;585;p7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6253825" y="222075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6" name="Google Shape;586;p78"/>
          <p:cNvGrpSpPr/>
          <p:nvPr/>
        </p:nvGrpSpPr>
        <p:grpSpPr>
          <a:xfrm>
            <a:off x="2625546" y="2879761"/>
            <a:ext cx="372300" cy="372300"/>
            <a:chOff x="6172071" y="582117"/>
            <a:chExt cx="372300" cy="372300"/>
          </a:xfrm>
        </p:grpSpPr>
        <p:sp>
          <p:nvSpPr>
            <p:cNvPr id="587" name="Google Shape;587;p78"/>
            <p:cNvSpPr/>
            <p:nvPr/>
          </p:nvSpPr>
          <p:spPr>
            <a:xfrm>
              <a:off x="6172071" y="582117"/>
              <a:ext cx="372300" cy="372300"/>
            </a:xfrm>
            <a:prstGeom prst="ellipse">
              <a:avLst/>
            </a:prstGeom>
            <a:solidFill>
              <a:srgbClr val="0096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88" name="Google Shape;588;p7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223138" y="633188"/>
              <a:ext cx="270177" cy="270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89" name="Google Shape;589;p78"/>
          <p:cNvGrpSpPr/>
          <p:nvPr/>
        </p:nvGrpSpPr>
        <p:grpSpPr>
          <a:xfrm>
            <a:off x="4359484" y="2879761"/>
            <a:ext cx="372300" cy="372300"/>
            <a:chOff x="6172071" y="582117"/>
            <a:chExt cx="372300" cy="372300"/>
          </a:xfrm>
        </p:grpSpPr>
        <p:sp>
          <p:nvSpPr>
            <p:cNvPr id="590" name="Google Shape;590;p78"/>
            <p:cNvSpPr/>
            <p:nvPr/>
          </p:nvSpPr>
          <p:spPr>
            <a:xfrm>
              <a:off x="6172071" y="582117"/>
              <a:ext cx="372300" cy="372300"/>
            </a:xfrm>
            <a:prstGeom prst="ellipse">
              <a:avLst/>
            </a:prstGeom>
            <a:solidFill>
              <a:srgbClr val="0096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1" name="Google Shape;591;p7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223138" y="633188"/>
              <a:ext cx="270177" cy="270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2" name="Google Shape;592;p78"/>
          <p:cNvGrpSpPr/>
          <p:nvPr/>
        </p:nvGrpSpPr>
        <p:grpSpPr>
          <a:xfrm>
            <a:off x="6154309" y="2879761"/>
            <a:ext cx="372300" cy="372300"/>
            <a:chOff x="6172071" y="582117"/>
            <a:chExt cx="372300" cy="372300"/>
          </a:xfrm>
        </p:grpSpPr>
        <p:sp>
          <p:nvSpPr>
            <p:cNvPr id="593" name="Google Shape;593;p78"/>
            <p:cNvSpPr/>
            <p:nvPr/>
          </p:nvSpPr>
          <p:spPr>
            <a:xfrm>
              <a:off x="6172071" y="582117"/>
              <a:ext cx="372300" cy="372300"/>
            </a:xfrm>
            <a:prstGeom prst="ellipse">
              <a:avLst/>
            </a:prstGeom>
            <a:solidFill>
              <a:srgbClr val="0096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4" name="Google Shape;594;p7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223138" y="633188"/>
              <a:ext cx="270177" cy="270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5" name="Google Shape;595;p78"/>
          <p:cNvGrpSpPr/>
          <p:nvPr/>
        </p:nvGrpSpPr>
        <p:grpSpPr>
          <a:xfrm>
            <a:off x="753458" y="2879742"/>
            <a:ext cx="372300" cy="372300"/>
            <a:chOff x="6172071" y="582117"/>
            <a:chExt cx="372300" cy="372300"/>
          </a:xfrm>
        </p:grpSpPr>
        <p:sp>
          <p:nvSpPr>
            <p:cNvPr id="596" name="Google Shape;596;p78"/>
            <p:cNvSpPr/>
            <p:nvPr/>
          </p:nvSpPr>
          <p:spPr>
            <a:xfrm>
              <a:off x="6172071" y="582117"/>
              <a:ext cx="372300" cy="372300"/>
            </a:xfrm>
            <a:prstGeom prst="ellipse">
              <a:avLst/>
            </a:prstGeom>
            <a:solidFill>
              <a:srgbClr val="0096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597" name="Google Shape;597;p7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223138" y="633188"/>
              <a:ext cx="270177" cy="270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98" name="Google Shape;598;p78"/>
          <p:cNvGrpSpPr/>
          <p:nvPr/>
        </p:nvGrpSpPr>
        <p:grpSpPr>
          <a:xfrm>
            <a:off x="7965509" y="2879761"/>
            <a:ext cx="372300" cy="372300"/>
            <a:chOff x="6172071" y="582117"/>
            <a:chExt cx="372300" cy="372300"/>
          </a:xfrm>
        </p:grpSpPr>
        <p:sp>
          <p:nvSpPr>
            <p:cNvPr id="599" name="Google Shape;599;p78"/>
            <p:cNvSpPr/>
            <p:nvPr/>
          </p:nvSpPr>
          <p:spPr>
            <a:xfrm>
              <a:off x="6172071" y="582117"/>
              <a:ext cx="372300" cy="372300"/>
            </a:xfrm>
            <a:prstGeom prst="ellipse">
              <a:avLst/>
            </a:prstGeom>
            <a:solidFill>
              <a:srgbClr val="00969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00" name="Google Shape;600;p7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6223138" y="633188"/>
              <a:ext cx="270177" cy="270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1" name="Google Shape;601;p78"/>
          <p:cNvGrpSpPr/>
          <p:nvPr/>
        </p:nvGrpSpPr>
        <p:grpSpPr>
          <a:xfrm>
            <a:off x="4395602" y="3708623"/>
            <a:ext cx="372300" cy="372300"/>
            <a:chOff x="6192365" y="1098867"/>
            <a:chExt cx="372300" cy="372300"/>
          </a:xfrm>
        </p:grpSpPr>
        <p:sp>
          <p:nvSpPr>
            <p:cNvPr id="602" name="Google Shape;602;p78"/>
            <p:cNvSpPr/>
            <p:nvPr/>
          </p:nvSpPr>
          <p:spPr>
            <a:xfrm>
              <a:off x="6192365" y="1098867"/>
              <a:ext cx="372300" cy="372300"/>
            </a:xfrm>
            <a:prstGeom prst="ellipse">
              <a:avLst/>
            </a:prstGeom>
            <a:solidFill>
              <a:srgbClr val="D6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03" name="Google Shape;603;p78"/>
            <p:cNvPicPr preferRelativeResize="0"/>
            <p:nvPr/>
          </p:nvPicPr>
          <p:blipFill rotWithShape="1">
            <a:blip r:embed="rId7">
              <a:alphaModFix/>
            </a:blip>
            <a:srcRect b="2606" l="0" r="0" t="2606"/>
            <a:stretch/>
          </p:blipFill>
          <p:spPr>
            <a:xfrm>
              <a:off x="6282297" y="1180612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4" name="Google Shape;604;p78"/>
          <p:cNvGrpSpPr/>
          <p:nvPr/>
        </p:nvGrpSpPr>
        <p:grpSpPr>
          <a:xfrm>
            <a:off x="8001578" y="3708623"/>
            <a:ext cx="372300" cy="372300"/>
            <a:chOff x="6192365" y="1098867"/>
            <a:chExt cx="372300" cy="372300"/>
          </a:xfrm>
        </p:grpSpPr>
        <p:sp>
          <p:nvSpPr>
            <p:cNvPr id="605" name="Google Shape;605;p78"/>
            <p:cNvSpPr/>
            <p:nvPr/>
          </p:nvSpPr>
          <p:spPr>
            <a:xfrm>
              <a:off x="6192365" y="1098867"/>
              <a:ext cx="372300" cy="372300"/>
            </a:xfrm>
            <a:prstGeom prst="ellipse">
              <a:avLst/>
            </a:prstGeom>
            <a:solidFill>
              <a:srgbClr val="D6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06" name="Google Shape;606;p78"/>
            <p:cNvPicPr preferRelativeResize="0"/>
            <p:nvPr/>
          </p:nvPicPr>
          <p:blipFill rotWithShape="1">
            <a:blip r:embed="rId8">
              <a:alphaModFix/>
            </a:blip>
            <a:srcRect b="2606" l="0" r="0" t="2606"/>
            <a:stretch/>
          </p:blipFill>
          <p:spPr>
            <a:xfrm>
              <a:off x="6282297" y="1180612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7" name="Google Shape;607;p78"/>
          <p:cNvGrpSpPr/>
          <p:nvPr/>
        </p:nvGrpSpPr>
        <p:grpSpPr>
          <a:xfrm>
            <a:off x="789627" y="3708623"/>
            <a:ext cx="372300" cy="372300"/>
            <a:chOff x="6192365" y="1098867"/>
            <a:chExt cx="372300" cy="372300"/>
          </a:xfrm>
        </p:grpSpPr>
        <p:sp>
          <p:nvSpPr>
            <p:cNvPr id="608" name="Google Shape;608;p78"/>
            <p:cNvSpPr/>
            <p:nvPr/>
          </p:nvSpPr>
          <p:spPr>
            <a:xfrm>
              <a:off x="6192365" y="1098867"/>
              <a:ext cx="372300" cy="372300"/>
            </a:xfrm>
            <a:prstGeom prst="ellipse">
              <a:avLst/>
            </a:prstGeom>
            <a:solidFill>
              <a:srgbClr val="D6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09" name="Google Shape;609;p78"/>
            <p:cNvPicPr preferRelativeResize="0"/>
            <p:nvPr/>
          </p:nvPicPr>
          <p:blipFill rotWithShape="1">
            <a:blip r:embed="rId7">
              <a:alphaModFix/>
            </a:blip>
            <a:srcRect b="2606" l="0" r="0" t="2606"/>
            <a:stretch/>
          </p:blipFill>
          <p:spPr>
            <a:xfrm>
              <a:off x="6282297" y="1180612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0" name="Google Shape;610;p78"/>
          <p:cNvSpPr txBox="1"/>
          <p:nvPr/>
        </p:nvSpPr>
        <p:spPr>
          <a:xfrm>
            <a:off x="47825" y="4035200"/>
            <a:ext cx="18030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Bienvenida y Presentaciones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(10 min) </a:t>
            </a:r>
            <a:endParaRPr sz="1100">
              <a:solidFill>
                <a:srgbClr val="013D5C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cxnSp>
        <p:nvCxnSpPr>
          <p:cNvPr id="611" name="Google Shape;611;p78"/>
          <p:cNvCxnSpPr/>
          <p:nvPr/>
        </p:nvCxnSpPr>
        <p:spPr>
          <a:xfrm>
            <a:off x="1841113" y="1565750"/>
            <a:ext cx="0" cy="3254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2" name="Google Shape;612;p78"/>
          <p:cNvCxnSpPr/>
          <p:nvPr/>
        </p:nvCxnSpPr>
        <p:spPr>
          <a:xfrm flipH="1">
            <a:off x="3637525" y="1528325"/>
            <a:ext cx="4800" cy="3300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3" name="Google Shape;613;p78"/>
          <p:cNvCxnSpPr/>
          <p:nvPr/>
        </p:nvCxnSpPr>
        <p:spPr>
          <a:xfrm>
            <a:off x="5443675" y="1461350"/>
            <a:ext cx="8700" cy="335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4" name="Google Shape;614;p78"/>
          <p:cNvCxnSpPr/>
          <p:nvPr/>
        </p:nvCxnSpPr>
        <p:spPr>
          <a:xfrm>
            <a:off x="7262338" y="1461350"/>
            <a:ext cx="8700" cy="335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5" name="Google Shape;615;p78"/>
          <p:cNvSpPr txBox="1"/>
          <p:nvPr/>
        </p:nvSpPr>
        <p:spPr>
          <a:xfrm>
            <a:off x="1849075" y="4035200"/>
            <a:ext cx="18030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Sesión de Chat: Pensamientos, Sentimientos y Acciones</a:t>
            </a:r>
            <a:endParaRPr i="0" sz="13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616" name="Google Shape;616;p78"/>
          <p:cNvGrpSpPr/>
          <p:nvPr/>
        </p:nvGrpSpPr>
        <p:grpSpPr>
          <a:xfrm>
            <a:off x="2610352" y="3708623"/>
            <a:ext cx="372300" cy="372300"/>
            <a:chOff x="6192365" y="1098867"/>
            <a:chExt cx="372300" cy="372300"/>
          </a:xfrm>
        </p:grpSpPr>
        <p:sp>
          <p:nvSpPr>
            <p:cNvPr id="617" name="Google Shape;617;p78"/>
            <p:cNvSpPr/>
            <p:nvPr/>
          </p:nvSpPr>
          <p:spPr>
            <a:xfrm>
              <a:off x="6192365" y="1098867"/>
              <a:ext cx="372300" cy="372300"/>
            </a:xfrm>
            <a:prstGeom prst="ellipse">
              <a:avLst/>
            </a:prstGeom>
            <a:solidFill>
              <a:srgbClr val="D6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18" name="Google Shape;618;p78"/>
            <p:cNvPicPr preferRelativeResize="0"/>
            <p:nvPr/>
          </p:nvPicPr>
          <p:blipFill rotWithShape="1">
            <a:blip r:embed="rId7">
              <a:alphaModFix/>
            </a:blip>
            <a:srcRect b="2606" l="0" r="0" t="2606"/>
            <a:stretch/>
          </p:blipFill>
          <p:spPr>
            <a:xfrm>
              <a:off x="6282297" y="1180612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9" name="Google Shape;619;p78"/>
          <p:cNvSpPr txBox="1"/>
          <p:nvPr/>
        </p:nvSpPr>
        <p:spPr>
          <a:xfrm>
            <a:off x="5458075" y="4019950"/>
            <a:ext cx="1803000" cy="2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100">
                <a:solidFill>
                  <a:srgbClr val="013D5C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Sesión de Chat: Fortalezas de Carácter</a:t>
            </a:r>
            <a:endParaRPr i="0" sz="1300" u="none" cap="none" strike="noStrike">
              <a:solidFill>
                <a:srgbClr val="000000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620" name="Google Shape;620;p78"/>
          <p:cNvGrpSpPr/>
          <p:nvPr/>
        </p:nvGrpSpPr>
        <p:grpSpPr>
          <a:xfrm>
            <a:off x="6219352" y="3693373"/>
            <a:ext cx="372300" cy="372300"/>
            <a:chOff x="6192365" y="1098867"/>
            <a:chExt cx="372300" cy="372300"/>
          </a:xfrm>
        </p:grpSpPr>
        <p:sp>
          <p:nvSpPr>
            <p:cNvPr id="621" name="Google Shape;621;p78"/>
            <p:cNvSpPr/>
            <p:nvPr/>
          </p:nvSpPr>
          <p:spPr>
            <a:xfrm>
              <a:off x="6192365" y="1098867"/>
              <a:ext cx="372300" cy="372300"/>
            </a:xfrm>
            <a:prstGeom prst="ellipse">
              <a:avLst/>
            </a:prstGeom>
            <a:solidFill>
              <a:srgbClr val="D6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22" name="Google Shape;622;p78"/>
            <p:cNvPicPr preferRelativeResize="0"/>
            <p:nvPr/>
          </p:nvPicPr>
          <p:blipFill rotWithShape="1">
            <a:blip r:embed="rId7">
              <a:alphaModFix/>
            </a:blip>
            <a:srcRect b="2606" l="0" r="0" t="2606"/>
            <a:stretch/>
          </p:blipFill>
          <p:spPr>
            <a:xfrm>
              <a:off x="6282297" y="1180612"/>
              <a:ext cx="208800" cy="2088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79"/>
          <p:cNvSpPr/>
          <p:nvPr/>
        </p:nvSpPr>
        <p:spPr>
          <a:xfrm rot="-5400000">
            <a:off x="4235100" y="-4033875"/>
            <a:ext cx="519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79"/>
          <p:cNvSpPr txBox="1"/>
          <p:nvPr/>
        </p:nvSpPr>
        <p:spPr>
          <a:xfrm>
            <a:off x="286225" y="197499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Cómo Iniciar </a:t>
            </a:r>
            <a:r>
              <a:t>el Curso de WhatsApp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79"/>
          <p:cNvSpPr txBox="1"/>
          <p:nvPr/>
        </p:nvSpPr>
        <p:spPr>
          <a:xfrm>
            <a:off x="269600" y="972071"/>
            <a:ext cx="8199600" cy="360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800">
                <a:solidFill>
                  <a:srgbClr val="00969B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Uso del teléfono</a:t>
            </a:r>
            <a:endParaRPr b="0" i="0" sz="1800" u="none" cap="none" strike="noStrike">
              <a:solidFill>
                <a:srgbClr val="0D3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5E00"/>
              </a:buClr>
              <a:buSzPts val="1500"/>
              <a:buFont typeface="Arial"/>
              <a:buChar char="●"/>
              <a:defRPr sz="1500">
                <a:solidFill>
                  <a:srgbClr val="123D5D"/>
                </a:solidFill>
              </a:defRPr>
            </a:pPr>
            <a:r>
              <a:t>Prender y apagar el teléfono </a:t>
            </a:r>
            <a:endParaRPr sz="1500">
              <a:solidFill>
                <a:srgbClr val="123D5D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5E00"/>
              </a:buClr>
              <a:buSzPts val="1500"/>
              <a:buFont typeface="Arial"/>
              <a:buChar char="●"/>
              <a:defRPr sz="1500">
                <a:solidFill>
                  <a:srgbClr val="123D5D"/>
                </a:solidFill>
              </a:defRPr>
            </a:pPr>
            <a:r>
              <a:t>Ajustes del teléfono </a:t>
            </a:r>
            <a:endParaRPr sz="1500">
              <a:solidFill>
                <a:srgbClr val="123D5D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5E00"/>
              </a:buClr>
              <a:buSzPts val="1500"/>
              <a:buFont typeface="Arial"/>
              <a:buChar char="●"/>
              <a:defRPr sz="1500">
                <a:solidFill>
                  <a:srgbClr val="123D5D"/>
                </a:solidFill>
              </a:defRPr>
            </a:pPr>
            <a:r>
              <a:t>Ajustes de WhatsApp </a:t>
            </a:r>
            <a:endParaRPr sz="1500">
              <a:solidFill>
                <a:srgbClr val="123D5D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 sz="1500">
                <a:solidFill>
                  <a:srgbClr val="123D5D"/>
                </a:solidFill>
              </a:defRPr>
            </a:pPr>
            <a:r>
              <a:t>Haz una captura de pantalla</a:t>
            </a:r>
            <a:endParaRPr sz="1500">
              <a:solidFill>
                <a:srgbClr val="123D5D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5E00"/>
              </a:buClr>
              <a:buSzPts val="1500"/>
              <a:buFont typeface="Arial"/>
              <a:buChar char="●"/>
              <a:defRPr sz="1500">
                <a:solidFill>
                  <a:srgbClr val="123D5D"/>
                </a:solidFill>
              </a:defRPr>
            </a:pPr>
            <a:r>
              <a:t>Carga del teléfono </a:t>
            </a:r>
            <a:endParaRPr sz="1500">
              <a:solidFill>
                <a:srgbClr val="123D5D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5E00"/>
              </a:buClr>
              <a:buSzPts val="1500"/>
              <a:buFont typeface="Arial"/>
              <a:buChar char="●"/>
              <a:defRPr sz="1500">
                <a:solidFill>
                  <a:srgbClr val="123D5D"/>
                </a:solidFill>
              </a:defRPr>
            </a:pPr>
            <a:r>
              <a:t>Paquete de datos</a:t>
            </a:r>
            <a:endParaRPr sz="1500">
              <a:solidFill>
                <a:srgbClr val="123D5D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5E00"/>
              </a:buClr>
              <a:buSzPts val="1500"/>
              <a:buFont typeface="Arial"/>
              <a:buChar char="●"/>
              <a:defRPr sz="1500">
                <a:solidFill>
                  <a:srgbClr val="123D5D"/>
                </a:solidFill>
              </a:defRPr>
            </a:pPr>
            <a:r>
              <a:t>Almacenamiento interno del teléfono </a:t>
            </a:r>
            <a:endParaRPr sz="1500">
              <a:solidFill>
                <a:srgbClr val="123D5D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5E00"/>
              </a:buClr>
              <a:buSzPts val="1500"/>
              <a:buFont typeface="Arial"/>
              <a:buChar char="●"/>
              <a:defRPr sz="1500">
                <a:solidFill>
                  <a:srgbClr val="123D5D"/>
                </a:solidFill>
              </a:defRPr>
            </a:pPr>
            <a:r>
              <a:t>Conciencia digital </a:t>
            </a:r>
            <a:endParaRPr sz="1500">
              <a:solidFill>
                <a:srgbClr val="123D5D"/>
              </a:solidFill>
            </a:endParaRPr>
          </a:p>
          <a:p>
            <a:pPr indent="-3238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FF5E00"/>
              </a:buClr>
              <a:buSzPts val="1500"/>
              <a:buFont typeface="Arial"/>
              <a:buChar char="●"/>
              <a:defRPr sz="1500">
                <a:solidFill>
                  <a:srgbClr val="123D5D"/>
                </a:solidFill>
              </a:defRPr>
            </a:pPr>
            <a:r>
              <a:t>Evita daños al teléfono</a:t>
            </a:r>
            <a:endParaRPr sz="1500">
              <a:solidFill>
                <a:srgbClr val="123D5D"/>
              </a:solidFill>
            </a:endParaRPr>
          </a:p>
        </p:txBody>
      </p:sp>
      <p:pic>
        <p:nvPicPr>
          <p:cNvPr id="630" name="Google Shape;630;p79"/>
          <p:cNvPicPr preferRelativeResize="0"/>
          <p:nvPr/>
        </p:nvPicPr>
        <p:blipFill rotWithShape="1">
          <a:blip r:embed="rId4">
            <a:alphaModFix/>
          </a:blip>
          <a:srcRect b="2812" l="0" r="29223" t="2821"/>
          <a:stretch/>
        </p:blipFill>
        <p:spPr>
          <a:xfrm>
            <a:off x="5111675" y="1164350"/>
            <a:ext cx="3074700" cy="3074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80"/>
          <p:cNvSpPr/>
          <p:nvPr/>
        </p:nvSpPr>
        <p:spPr>
          <a:xfrm rot="-5400000">
            <a:off x="4236300" y="-4094600"/>
            <a:ext cx="480900" cy="89535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6" name="Google Shape;636;p80"/>
          <p:cNvSpPr txBox="1"/>
          <p:nvPr/>
        </p:nvSpPr>
        <p:spPr>
          <a:xfrm>
            <a:off x="286222" y="197506"/>
            <a:ext cx="885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lt1"/>
                </a:solidFill>
              </a:defRPr>
            </a:pPr>
            <a:r>
              <a:t>Aspectos básicos del Uso del Teléfono 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7" name="Google Shape;637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375" y="691225"/>
            <a:ext cx="7186099" cy="404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81"/>
          <p:cNvSpPr/>
          <p:nvPr/>
        </p:nvSpPr>
        <p:spPr>
          <a:xfrm rot="-5400000">
            <a:off x="4236300" y="-4035075"/>
            <a:ext cx="480900" cy="89535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81"/>
          <p:cNvSpPr txBox="1"/>
          <p:nvPr/>
        </p:nvSpPr>
        <p:spPr>
          <a:xfrm>
            <a:off x="286222" y="197506"/>
            <a:ext cx="885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lt1"/>
                </a:solidFill>
              </a:defRPr>
            </a:pPr>
            <a:r>
              <a:t>Aspectos básicos del Uso del Teléfono 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4" name="Google Shape;644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675" y="721450"/>
            <a:ext cx="7193349" cy="404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82"/>
          <p:cNvSpPr/>
          <p:nvPr/>
        </p:nvSpPr>
        <p:spPr>
          <a:xfrm rot="-5400000">
            <a:off x="4236300" y="-4035075"/>
            <a:ext cx="480900" cy="89535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82"/>
          <p:cNvSpPr txBox="1"/>
          <p:nvPr/>
        </p:nvSpPr>
        <p:spPr>
          <a:xfrm>
            <a:off x="286222" y="197506"/>
            <a:ext cx="885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lt1"/>
                </a:solidFill>
              </a:defRPr>
            </a:pPr>
            <a:r>
              <a:t>Aspectos básicos del Uso del Teléfono 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1" name="Google Shape;651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8987" y="743150"/>
            <a:ext cx="7115525" cy="4002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83"/>
          <p:cNvSpPr/>
          <p:nvPr/>
        </p:nvSpPr>
        <p:spPr>
          <a:xfrm rot="-5400000">
            <a:off x="4236300" y="-4035075"/>
            <a:ext cx="480900" cy="89535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83"/>
          <p:cNvSpPr txBox="1"/>
          <p:nvPr/>
        </p:nvSpPr>
        <p:spPr>
          <a:xfrm>
            <a:off x="286222" y="197506"/>
            <a:ext cx="885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Aspectos básicos del Uso del Teléfono </a:t>
            </a:r>
            <a:endParaRPr b="0" i="0" sz="1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83"/>
          <p:cNvSpPr txBox="1"/>
          <p:nvPr/>
        </p:nvSpPr>
        <p:spPr>
          <a:xfrm>
            <a:off x="374700" y="742200"/>
            <a:ext cx="3262500" cy="27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  <a:defRPr sz="1700">
                <a:solidFill>
                  <a:srgbClr val="123D5D"/>
                </a:solidFill>
              </a:defRPr>
            </a:pPr>
            <a:r>
              <a:t>Capturar pantalla y compartirla con la persona facilitadora:</a:t>
            </a:r>
            <a:endParaRPr sz="1700">
              <a:solidFill>
                <a:srgbClr val="123D5D"/>
              </a:solidFill>
            </a:endParaRPr>
          </a:p>
          <a:p>
            <a:pPr indent="-336550" lvl="0" marL="457200" rtl="0" algn="l">
              <a:spcBef>
                <a:spcPts val="1000"/>
              </a:spcBef>
              <a:spcAft>
                <a:spcPts val="0"/>
              </a:spcAft>
              <a:buClr>
                <a:srgbClr val="123D5D"/>
              </a:buClr>
              <a:buSzPts val="1700"/>
              <a:buAutoNum type="arabicPeriod"/>
              <a:defRPr sz="1700">
                <a:solidFill>
                  <a:srgbClr val="123D5D"/>
                </a:solidFill>
              </a:defRPr>
            </a:pPr>
            <a:r>
              <a:t>Mantén oprimido el botón de bajar volumen y el de Encendido al mismo tiempo. </a:t>
            </a:r>
            <a:endParaRPr sz="1700">
              <a:solidFill>
                <a:srgbClr val="123D5D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  <a:defRPr sz="1700">
                <a:solidFill>
                  <a:srgbClr val="123D5D"/>
                </a:solidFill>
              </a:defRPr>
            </a:pPr>
            <a:r>
              <a:t>Te aparecerán diferentes opciones en la parte inferior de tu pantalla:</a:t>
            </a:r>
            <a:endParaRPr sz="1700">
              <a:solidFill>
                <a:srgbClr val="123D5D"/>
              </a:solidFill>
            </a:endParaRPr>
          </a:p>
        </p:txBody>
      </p:sp>
      <p:pic>
        <p:nvPicPr>
          <p:cNvPr id="659" name="Google Shape;659;p83"/>
          <p:cNvPicPr preferRelativeResize="0"/>
          <p:nvPr/>
        </p:nvPicPr>
        <p:blipFill rotWithShape="1">
          <a:blip r:embed="rId3">
            <a:alphaModFix/>
          </a:blip>
          <a:srcRect b="0" l="0" r="0" t="84544"/>
          <a:stretch/>
        </p:blipFill>
        <p:spPr>
          <a:xfrm>
            <a:off x="374700" y="3534049"/>
            <a:ext cx="3153049" cy="1045200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83"/>
          <p:cNvSpPr txBox="1"/>
          <p:nvPr/>
        </p:nvSpPr>
        <p:spPr>
          <a:xfrm>
            <a:off x="4359175" y="748475"/>
            <a:ext cx="3000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  <a:defRPr sz="1700">
                <a:solidFill>
                  <a:srgbClr val="123D5D"/>
                </a:solidFill>
              </a:defRPr>
            </a:pPr>
            <a:r>
              <a:t>2. Presionar el ícono de compartir:</a:t>
            </a:r>
            <a:endParaRPr sz="1700">
              <a:solidFill>
                <a:srgbClr val="123D5D"/>
              </a:solidFill>
            </a:endParaRPr>
          </a:p>
        </p:txBody>
      </p:sp>
      <p:pic>
        <p:nvPicPr>
          <p:cNvPr id="661" name="Google Shape;661;p83"/>
          <p:cNvPicPr preferRelativeResize="0"/>
          <p:nvPr/>
        </p:nvPicPr>
        <p:blipFill rotWithShape="1">
          <a:blip r:embed="rId4">
            <a:alphaModFix/>
          </a:blip>
          <a:srcRect b="0" l="0" r="0" t="13073"/>
          <a:stretch/>
        </p:blipFill>
        <p:spPr>
          <a:xfrm>
            <a:off x="7359175" y="748475"/>
            <a:ext cx="1499846" cy="2796300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83"/>
          <p:cNvSpPr txBox="1"/>
          <p:nvPr/>
        </p:nvSpPr>
        <p:spPr>
          <a:xfrm>
            <a:off x="4359175" y="2229925"/>
            <a:ext cx="30000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  <a:defRPr sz="1700">
                <a:solidFill>
                  <a:srgbClr val="123D5D"/>
                </a:solidFill>
              </a:defRPr>
            </a:pPr>
            <a:r>
              <a:t>3. Después, da clic en el ícono de WhatsApp y finalmente busca y selecciona el grupo de apoyo que tienes con tu persona facilitadora</a:t>
            </a:r>
            <a:endParaRPr sz="1700">
              <a:solidFill>
                <a:srgbClr val="123D5D"/>
              </a:solidFill>
            </a:endParaRPr>
          </a:p>
        </p:txBody>
      </p:sp>
      <p:pic>
        <p:nvPicPr>
          <p:cNvPr id="663" name="Google Shape;663;p83"/>
          <p:cNvPicPr preferRelativeResize="0"/>
          <p:nvPr/>
        </p:nvPicPr>
        <p:blipFill rotWithShape="1">
          <a:blip r:embed="rId3">
            <a:alphaModFix/>
          </a:blip>
          <a:srcRect b="8414" l="80771" r="10330" t="86996"/>
          <a:stretch/>
        </p:blipFill>
        <p:spPr>
          <a:xfrm>
            <a:off x="5397075" y="1088050"/>
            <a:ext cx="280550" cy="3103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83"/>
          <p:cNvSpPr/>
          <p:nvPr/>
        </p:nvSpPr>
        <p:spPr>
          <a:xfrm>
            <a:off x="131125" y="3505625"/>
            <a:ext cx="3506100" cy="7827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665" name="Google Shape;665;p83"/>
          <p:cNvCxnSpPr/>
          <p:nvPr/>
        </p:nvCxnSpPr>
        <p:spPr>
          <a:xfrm rot="10800000">
            <a:off x="7848925" y="3262850"/>
            <a:ext cx="20100" cy="11433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666" name="Google Shape;666;p8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97075" y="3665300"/>
            <a:ext cx="999050" cy="99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84"/>
          <p:cNvSpPr txBox="1"/>
          <p:nvPr>
            <p:ph idx="1" type="body"/>
          </p:nvPr>
        </p:nvSpPr>
        <p:spPr>
          <a:xfrm>
            <a:off x="2579050" y="273675"/>
            <a:ext cx="5605200" cy="13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elicious Handrawn"/>
              <a:buNone/>
            </a:pPr>
            <a:r>
              <a:t>Primeros pasos al usar Crianza con Conciencia + Chatbot</a:t>
            </a:r>
          </a:p>
        </p:txBody>
      </p:sp>
      <p:sp>
        <p:nvSpPr>
          <p:cNvPr id="672" name="Google Shape;672;p84"/>
          <p:cNvSpPr txBox="1"/>
          <p:nvPr>
            <p:ph idx="2" type="body"/>
          </p:nvPr>
        </p:nvSpPr>
        <p:spPr>
          <a:xfrm>
            <a:off x="2579050" y="1675800"/>
            <a:ext cx="6173100" cy="38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45720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700"/>
              <a:buFont typeface="Delicious Handrawn"/>
              <a:buAutoNum type="arabicPeriod"/>
              <a:defRPr sz="2800"/>
            </a:pPr>
            <a:r>
              <a:t>Guarda el teléfono de Crianza con Conciencia + como contacto:</a:t>
            </a:r>
            <a:endParaRPr sz="28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endParaRPr sz="2800"/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6700">
                <a:latin typeface="Noto Sans"/>
                <a:ea typeface="Noto Sans"/>
                <a:cs typeface="Noto Sans"/>
                <a:sym typeface="Noto Sans"/>
              </a:defRPr>
            </a:pPr>
            <a:r>
              <a:t>56 5100 6984</a:t>
            </a: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Noto Sans Thin"/>
              <a:buNone/>
            </a:p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7762"/>
            <a:ext cx="9143999" cy="5219026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85"/>
          <p:cNvSpPr txBox="1"/>
          <p:nvPr/>
        </p:nvSpPr>
        <p:spPr>
          <a:xfrm>
            <a:off x="1315625" y="98075"/>
            <a:ext cx="32721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>
                <a:solidFill>
                  <a:srgbClr val="FEFFFF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Pasos:</a:t>
            </a:r>
            <a:endParaRPr b="0" i="0" sz="5400" u="none" cap="none" strike="noStrike">
              <a:solidFill>
                <a:srgbClr val="FEFFFF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679" name="Google Shape;679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2874" y="1322625"/>
            <a:ext cx="1601051" cy="3673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p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15499" y="1322625"/>
            <a:ext cx="1696892" cy="3673924"/>
          </a:xfrm>
          <a:prstGeom prst="rect">
            <a:avLst/>
          </a:prstGeom>
          <a:noFill/>
          <a:ln cap="flat" cmpd="sng" w="9525">
            <a:solidFill>
              <a:srgbClr val="FEFEF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81" name="Google Shape;681;p8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87674" y="1322615"/>
            <a:ext cx="1696899" cy="3673944"/>
          </a:xfrm>
          <a:prstGeom prst="rect">
            <a:avLst/>
          </a:prstGeom>
          <a:noFill/>
          <a:ln>
            <a:noFill/>
          </a:ln>
        </p:spPr>
      </p:pic>
      <p:sp>
        <p:nvSpPr>
          <p:cNvPr id="682" name="Google Shape;682;p85"/>
          <p:cNvSpPr/>
          <p:nvPr/>
        </p:nvSpPr>
        <p:spPr>
          <a:xfrm>
            <a:off x="2074700" y="938375"/>
            <a:ext cx="557400" cy="553800"/>
          </a:xfrm>
          <a:prstGeom prst="ellipse">
            <a:avLst/>
          </a:prstGeom>
          <a:solidFill>
            <a:srgbClr val="D60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1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683" name="Google Shape;683;p85"/>
          <p:cNvSpPr/>
          <p:nvPr/>
        </p:nvSpPr>
        <p:spPr>
          <a:xfrm>
            <a:off x="4485250" y="938375"/>
            <a:ext cx="557400" cy="553800"/>
          </a:xfrm>
          <a:prstGeom prst="ellipse">
            <a:avLst/>
          </a:prstGeom>
          <a:solidFill>
            <a:srgbClr val="FF5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2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684" name="Google Shape;684;p85"/>
          <p:cNvSpPr/>
          <p:nvPr/>
        </p:nvSpPr>
        <p:spPr>
          <a:xfrm>
            <a:off x="6757425" y="938375"/>
            <a:ext cx="557400" cy="553800"/>
          </a:xfrm>
          <a:prstGeom prst="ellipse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3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685" name="Google Shape;685;p8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67900" y="2074119"/>
            <a:ext cx="431350" cy="609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6" name="Google Shape;686;p8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96625" y="2182519"/>
            <a:ext cx="431350" cy="609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8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90125" y="1568369"/>
            <a:ext cx="431350" cy="609231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85"/>
          <p:cNvSpPr/>
          <p:nvPr/>
        </p:nvSpPr>
        <p:spPr>
          <a:xfrm>
            <a:off x="2001575" y="1843550"/>
            <a:ext cx="73200" cy="1230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85"/>
          <p:cNvSpPr txBox="1"/>
          <p:nvPr/>
        </p:nvSpPr>
        <p:spPr>
          <a:xfrm>
            <a:off x="1910225" y="1723138"/>
            <a:ext cx="2559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  <a:defRPr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6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85"/>
          <p:cNvSpPr/>
          <p:nvPr/>
        </p:nvSpPr>
        <p:spPr>
          <a:xfrm>
            <a:off x="4389400" y="1839150"/>
            <a:ext cx="73200" cy="123000"/>
          </a:xfrm>
          <a:prstGeom prst="rect">
            <a:avLst/>
          </a:prstGeom>
          <a:solidFill>
            <a:srgbClr val="EEEEEC"/>
          </a:solidFill>
          <a:ln cap="flat" cmpd="sng" w="9525">
            <a:solidFill>
              <a:srgbClr val="F5F5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1" name="Google Shape;691;p85"/>
          <p:cNvSpPr txBox="1"/>
          <p:nvPr/>
        </p:nvSpPr>
        <p:spPr>
          <a:xfrm>
            <a:off x="4298050" y="1723138"/>
            <a:ext cx="2559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  <a:defRPr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6</a:t>
            </a:r>
            <a:endParaRPr b="0" i="0" sz="11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86"/>
          <p:cNvSpPr txBox="1"/>
          <p:nvPr>
            <p:ph idx="1" type="body"/>
          </p:nvPr>
        </p:nvSpPr>
        <p:spPr>
          <a:xfrm>
            <a:off x="3161276" y="1290304"/>
            <a:ext cx="5045100" cy="25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elicious Handrawn"/>
              <a:buNone/>
            </a:pPr>
            <a:r>
              <a:t>Después de guardar el número, abre WhatsApp y busca "Crianza con Conciencia +"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8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7762"/>
            <a:ext cx="9143999" cy="5219026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87"/>
          <p:cNvSpPr txBox="1"/>
          <p:nvPr/>
        </p:nvSpPr>
        <p:spPr>
          <a:xfrm>
            <a:off x="1315625" y="98075"/>
            <a:ext cx="32721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>
                <a:solidFill>
                  <a:srgbClr val="FEFFFF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Pasos:</a:t>
            </a:r>
            <a:endParaRPr b="0" i="0" sz="5400" u="none" cap="none" strike="noStrike">
              <a:solidFill>
                <a:srgbClr val="FEFFFF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703" name="Google Shape;703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3300" y="1642900"/>
            <a:ext cx="201275" cy="28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4" name="Google Shape;704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2100" y="2055300"/>
            <a:ext cx="201275" cy="28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5" name="Google Shape;705;p87"/>
          <p:cNvPicPr preferRelativeResize="0"/>
          <p:nvPr/>
        </p:nvPicPr>
        <p:blipFill rotWithShape="1">
          <a:blip r:embed="rId5">
            <a:alphaModFix/>
          </a:blip>
          <a:srcRect b="7037" l="28782" r="49104" t="7029"/>
          <a:stretch/>
        </p:blipFill>
        <p:spPr>
          <a:xfrm>
            <a:off x="3966200" y="1322625"/>
            <a:ext cx="1649589" cy="3606074"/>
          </a:xfrm>
          <a:prstGeom prst="rect">
            <a:avLst/>
          </a:prstGeom>
          <a:noFill/>
          <a:ln>
            <a:noFill/>
          </a:ln>
        </p:spPr>
      </p:pic>
      <p:sp>
        <p:nvSpPr>
          <p:cNvPr id="706" name="Google Shape;706;p87"/>
          <p:cNvSpPr/>
          <p:nvPr/>
        </p:nvSpPr>
        <p:spPr>
          <a:xfrm>
            <a:off x="4485250" y="938375"/>
            <a:ext cx="557400" cy="553800"/>
          </a:xfrm>
          <a:prstGeom prst="ellipse">
            <a:avLst/>
          </a:prstGeom>
          <a:solidFill>
            <a:srgbClr val="FF5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2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707" name="Google Shape;707;p87"/>
          <p:cNvSpPr/>
          <p:nvPr/>
        </p:nvSpPr>
        <p:spPr>
          <a:xfrm>
            <a:off x="4069575" y="1927175"/>
            <a:ext cx="1074000" cy="26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08" name="Google Shape;708;p8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53750" y="1339913"/>
            <a:ext cx="1649599" cy="3571512"/>
          </a:xfrm>
          <a:prstGeom prst="rect">
            <a:avLst/>
          </a:prstGeom>
          <a:noFill/>
          <a:ln>
            <a:noFill/>
          </a:ln>
        </p:spPr>
      </p:pic>
      <p:sp>
        <p:nvSpPr>
          <p:cNvPr id="709" name="Google Shape;709;p87"/>
          <p:cNvSpPr/>
          <p:nvPr/>
        </p:nvSpPr>
        <p:spPr>
          <a:xfrm>
            <a:off x="6757425" y="938375"/>
            <a:ext cx="557400" cy="553800"/>
          </a:xfrm>
          <a:prstGeom prst="ellipse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3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710" name="Google Shape;710;p87"/>
          <p:cNvSpPr txBox="1"/>
          <p:nvPr/>
        </p:nvSpPr>
        <p:spPr>
          <a:xfrm>
            <a:off x="7884575" y="1547075"/>
            <a:ext cx="972300" cy="142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>
                <a:solidFill>
                  <a:srgbClr val="0C406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Busca el contacto que guardaste y cuando aparezca, presiónalo</a:t>
            </a:r>
            <a:endParaRPr b="0" i="0" sz="1400" u="none" cap="none" strike="noStrike">
              <a:solidFill>
                <a:srgbClr val="0C406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711" name="Google Shape;711;p8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4141818">
            <a:off x="7161665" y="1523742"/>
            <a:ext cx="737994" cy="737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12" name="Google Shape;712;p8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528599" y="1339900"/>
            <a:ext cx="1649599" cy="3571536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87"/>
          <p:cNvSpPr/>
          <p:nvPr/>
        </p:nvSpPr>
        <p:spPr>
          <a:xfrm>
            <a:off x="2074700" y="938375"/>
            <a:ext cx="557400" cy="553800"/>
          </a:xfrm>
          <a:prstGeom prst="ellipse">
            <a:avLst/>
          </a:prstGeom>
          <a:solidFill>
            <a:srgbClr val="D60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1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714" name="Google Shape;714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0750" y="3793619"/>
            <a:ext cx="431350" cy="609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5" name="Google Shape;715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1913" y="1547069"/>
            <a:ext cx="431350" cy="609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16" name="Google Shape;716;p8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51950" y="2156294"/>
            <a:ext cx="431350" cy="609231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87"/>
          <p:cNvSpPr/>
          <p:nvPr/>
        </p:nvSpPr>
        <p:spPr>
          <a:xfrm>
            <a:off x="6153750" y="2826100"/>
            <a:ext cx="1526100" cy="2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87"/>
          <p:cNvSpPr/>
          <p:nvPr/>
        </p:nvSpPr>
        <p:spPr>
          <a:xfrm>
            <a:off x="6215500" y="3227200"/>
            <a:ext cx="1526100" cy="28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3" name="Google Shape;723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37762"/>
            <a:ext cx="9143999" cy="5219026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88"/>
          <p:cNvSpPr txBox="1"/>
          <p:nvPr/>
        </p:nvSpPr>
        <p:spPr>
          <a:xfrm>
            <a:off x="1315625" y="98075"/>
            <a:ext cx="32721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  <a:defRPr sz="5400">
                <a:solidFill>
                  <a:srgbClr val="FEFFFF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Pasos:</a:t>
            </a:r>
            <a:endParaRPr b="0" i="0" sz="5400" u="none" cap="none" strike="noStrike">
              <a:solidFill>
                <a:srgbClr val="FEFFFF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725" name="Google Shape;725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3300" y="1642900"/>
            <a:ext cx="201275" cy="28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6" name="Google Shape;726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32100" y="2055300"/>
            <a:ext cx="201275" cy="284275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88"/>
          <p:cNvSpPr txBox="1"/>
          <p:nvPr/>
        </p:nvSpPr>
        <p:spPr>
          <a:xfrm>
            <a:off x="7902575" y="3502775"/>
            <a:ext cx="972300" cy="146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>
                <a:solidFill>
                  <a:srgbClr val="0C406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Es importante que aceptes participar en el programa y compartas tus datos personales</a:t>
            </a:r>
            <a:endParaRPr b="0" i="0" sz="1100" u="none" cap="none" strike="noStrike">
              <a:solidFill>
                <a:srgbClr val="0C406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728" name="Google Shape;728;p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4141818">
            <a:off x="7161665" y="1523742"/>
            <a:ext cx="737994" cy="737994"/>
          </a:xfrm>
          <a:prstGeom prst="rect">
            <a:avLst/>
          </a:prstGeom>
          <a:noFill/>
          <a:ln>
            <a:noFill/>
          </a:ln>
        </p:spPr>
      </p:pic>
      <p:pic>
        <p:nvPicPr>
          <p:cNvPr id="729" name="Google Shape;729;p8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28599" y="1339900"/>
            <a:ext cx="1649599" cy="3571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0" name="Google Shape;730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0750" y="3793619"/>
            <a:ext cx="431350" cy="609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51950" y="2156294"/>
            <a:ext cx="431350" cy="609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2" name="Google Shape;732;p8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28599" y="1339890"/>
            <a:ext cx="1649599" cy="3571536"/>
          </a:xfrm>
          <a:prstGeom prst="rect">
            <a:avLst/>
          </a:prstGeom>
          <a:noFill/>
          <a:ln>
            <a:noFill/>
          </a:ln>
        </p:spPr>
      </p:pic>
      <p:sp>
        <p:nvSpPr>
          <p:cNvPr id="733" name="Google Shape;733;p88"/>
          <p:cNvSpPr/>
          <p:nvPr/>
        </p:nvSpPr>
        <p:spPr>
          <a:xfrm>
            <a:off x="2074700" y="938375"/>
            <a:ext cx="557400" cy="553800"/>
          </a:xfrm>
          <a:prstGeom prst="ellipse">
            <a:avLst/>
          </a:prstGeom>
          <a:solidFill>
            <a:srgbClr val="D60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4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734" name="Google Shape;734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4688" y="3355769"/>
            <a:ext cx="431350" cy="60923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8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70599" y="1339899"/>
            <a:ext cx="1649599" cy="3571536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8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11324" y="1339890"/>
            <a:ext cx="1649599" cy="3571536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88"/>
          <p:cNvSpPr/>
          <p:nvPr/>
        </p:nvSpPr>
        <p:spPr>
          <a:xfrm>
            <a:off x="4485250" y="938375"/>
            <a:ext cx="557400" cy="553800"/>
          </a:xfrm>
          <a:prstGeom prst="ellipse">
            <a:avLst/>
          </a:prstGeom>
          <a:solidFill>
            <a:srgbClr val="FF5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5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738" name="Google Shape;738;p88"/>
          <p:cNvSpPr/>
          <p:nvPr/>
        </p:nvSpPr>
        <p:spPr>
          <a:xfrm>
            <a:off x="6757425" y="938375"/>
            <a:ext cx="557400" cy="553800"/>
          </a:xfrm>
          <a:prstGeom prst="ellipse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>
                <a:solidFill>
                  <a:schemeClr val="lt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6</a:t>
            </a:r>
            <a:endParaRPr b="0" i="0" sz="3000" u="none" cap="none" strike="noStrike">
              <a:solidFill>
                <a:schemeClr val="lt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sp>
        <p:nvSpPr>
          <p:cNvPr id="739" name="Google Shape;739;p88"/>
          <p:cNvSpPr/>
          <p:nvPr/>
        </p:nvSpPr>
        <p:spPr>
          <a:xfrm>
            <a:off x="4907450" y="1766950"/>
            <a:ext cx="338100" cy="82800"/>
          </a:xfrm>
          <a:prstGeom prst="rect">
            <a:avLst/>
          </a:prstGeom>
          <a:solidFill>
            <a:srgbClr val="E1FF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sz="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Comienza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88"/>
          <p:cNvSpPr/>
          <p:nvPr/>
        </p:nvSpPr>
        <p:spPr>
          <a:xfrm>
            <a:off x="4052125" y="1927175"/>
            <a:ext cx="600000" cy="12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"/>
              <a:buFont typeface="Arial"/>
              <a:buNone/>
              <a:defRPr sz="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Tu número de identificación es</a:t>
            </a:r>
            <a:endParaRPr b="0" i="0" sz="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88"/>
          <p:cNvSpPr txBox="1"/>
          <p:nvPr/>
        </p:nvSpPr>
        <p:spPr>
          <a:xfrm>
            <a:off x="5283025" y="1892800"/>
            <a:ext cx="866700" cy="60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rgbClr val="0C406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El número de identificación (NID) que compartirás con tu facilitador</a:t>
            </a:r>
            <a:endParaRPr b="0" i="0" sz="800" u="none" cap="none" strike="noStrike">
              <a:solidFill>
                <a:srgbClr val="0C406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742" name="Google Shape;742;p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3338200">
            <a:off x="4977308" y="1812035"/>
            <a:ext cx="358380" cy="358380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88"/>
          <p:cNvSpPr txBox="1"/>
          <p:nvPr/>
        </p:nvSpPr>
        <p:spPr>
          <a:xfrm>
            <a:off x="5310925" y="3660300"/>
            <a:ext cx="866700" cy="60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>
                <a:solidFill>
                  <a:srgbClr val="0C4061"/>
                </a:solidFill>
                <a:latin typeface="Delicious Handrawn"/>
                <a:ea typeface="Delicious Handrawn"/>
                <a:cs typeface="Delicious Handrawn"/>
                <a:sym typeface="Delicious Handrawn"/>
              </a:defRPr>
            </a:pPr>
            <a:r>
              <a:t>Mensajes de bienvenida</a:t>
            </a:r>
            <a:endParaRPr b="0" i="0" sz="800" u="none" cap="none" strike="noStrike">
              <a:solidFill>
                <a:srgbClr val="0C4061"/>
              </a:solidFill>
              <a:latin typeface="Delicious Handrawn"/>
              <a:ea typeface="Delicious Handrawn"/>
              <a:cs typeface="Delicious Handrawn"/>
              <a:sym typeface="Delicious Handrawn"/>
            </a:endParaRPr>
          </a:p>
        </p:txBody>
      </p:sp>
      <p:pic>
        <p:nvPicPr>
          <p:cNvPr id="744" name="Google Shape;744;p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3338200">
            <a:off x="5025108" y="3572635"/>
            <a:ext cx="358380" cy="358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5" name="Google Shape;745;p8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3338199">
            <a:off x="7429682" y="4219234"/>
            <a:ext cx="483357" cy="48335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6" name="Google Shape;746;p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00100" y="4402844"/>
            <a:ext cx="431350" cy="6092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89"/>
          <p:cNvSpPr txBox="1"/>
          <p:nvPr/>
        </p:nvSpPr>
        <p:spPr>
          <a:xfrm>
            <a:off x="337425" y="731350"/>
            <a:ext cx="8502600" cy="28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600">
                <a:solidFill>
                  <a:srgbClr val="00969B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Empecemos con el </a:t>
            </a:r>
            <a:r>
              <a:t>Curso de WhatsApp</a:t>
            </a:r>
            <a:endParaRPr b="0" i="0" sz="1600" u="none" cap="none" strike="noStrike">
              <a:solidFill>
                <a:srgbClr val="0096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300" u="none" cap="none" strike="noStrike">
              <a:solidFill>
                <a:srgbClr val="0096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>
                <a:solidFill>
                  <a:srgbClr val="123D5D"/>
                </a:solidFill>
              </a:defRPr>
            </a:pPr>
            <a:r>
              <a:t>Prepárate</a:t>
            </a:r>
            <a:r>
              <a:rPr>
                <a:latin typeface="Arial"/>
                <a:ea typeface="Arial"/>
                <a:cs typeface="Arial"/>
                <a:sym typeface="Arial"/>
              </a:rPr>
              <a:t> para proporcionar los siguientes datos a medida que el chat automatizado los vaya solicitando: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AutoNum type="arabicPeriod"/>
              <a:defRPr sz="1300">
                <a:solidFill>
                  <a:srgbClr val="123D5D"/>
                </a:solidFill>
              </a:defRPr>
            </a:pPr>
            <a:r>
              <a:t>Escribe tu nombre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AutoNum type="arabicPeriod"/>
              <a:defRPr sz="1300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Escribe tu apellido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AutoNum type="arabicPeriod"/>
              <a:defRPr sz="1300">
                <a:solidFill>
                  <a:srgbClr val="123D5D"/>
                </a:solidFill>
              </a:defRPr>
            </a:pPr>
            <a:r>
              <a:t>Elige tu género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AutoNum type="arabicPeriod"/>
              <a:defRPr sz="1300">
                <a:solidFill>
                  <a:srgbClr val="123D5D"/>
                </a:solidFill>
              </a:defRPr>
            </a:pPr>
            <a:r>
              <a:t>Elige el estado en el que resides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AutoNum type="arabicPeriod"/>
              <a:defRPr sz="1300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Elige tu estado civil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89"/>
          <p:cNvSpPr/>
          <p:nvPr/>
        </p:nvSpPr>
        <p:spPr>
          <a:xfrm rot="-5400000">
            <a:off x="4254600" y="-4053375"/>
            <a:ext cx="480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89"/>
          <p:cNvSpPr txBox="1"/>
          <p:nvPr/>
        </p:nvSpPr>
        <p:spPr>
          <a:xfrm>
            <a:off x="286222" y="197506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Los primeros pasos del </a:t>
            </a:r>
            <a:r>
              <a:t>Curso de WhatsApp de Crianza con Conciencia+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4" name="Google Shape;754;p89"/>
          <p:cNvPicPr preferRelativeResize="0"/>
          <p:nvPr/>
        </p:nvPicPr>
        <p:blipFill rotWithShape="1">
          <a:blip r:embed="rId3">
            <a:alphaModFix/>
          </a:blip>
          <a:srcRect b="5420" l="0" r="44134" t="5429"/>
          <a:stretch/>
        </p:blipFill>
        <p:spPr>
          <a:xfrm>
            <a:off x="5742476" y="1665399"/>
            <a:ext cx="2645400" cy="2645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90"/>
          <p:cNvSpPr txBox="1"/>
          <p:nvPr/>
        </p:nvSpPr>
        <p:spPr>
          <a:xfrm>
            <a:off x="337425" y="731350"/>
            <a:ext cx="8502600" cy="19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sz="1600">
                <a:solidFill>
                  <a:srgbClr val="00969B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Empecemos con </a:t>
            </a:r>
            <a:r>
              <a:t> el chatbot de Crianza con Conciencia +</a:t>
            </a:r>
            <a:endParaRPr b="0" i="0" sz="1600" u="none" cap="none" strike="noStrike">
              <a:solidFill>
                <a:srgbClr val="0096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300" u="none" cap="none" strike="noStrike">
              <a:solidFill>
                <a:srgbClr val="0096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>
                <a:solidFill>
                  <a:srgbClr val="123D5D"/>
                </a:solidFill>
              </a:defRPr>
            </a:pPr>
            <a:r>
              <a:t>Prepárate</a:t>
            </a:r>
            <a:r>
              <a:rPr>
                <a:latin typeface="Arial"/>
                <a:ea typeface="Arial"/>
                <a:cs typeface="Arial"/>
                <a:sym typeface="Arial"/>
              </a:rPr>
              <a:t> para proporcionar los siguientes datos a medida que el chat automatizado los vaya solicitando: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AutoNum type="arabicPeriod" startAt="6"/>
              <a:defRPr sz="1300">
                <a:solidFill>
                  <a:srgbClr val="123D5D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Escribe el </a:t>
            </a:r>
            <a:r>
              <a:rPr b="1"/>
              <a:t>NOMBRE O APODO </a:t>
            </a:r>
            <a:r>
              <a:rPr>
                <a:latin typeface="Arial"/>
                <a:ea typeface="Arial"/>
                <a:cs typeface="Arial"/>
                <a:sym typeface="Arial"/>
              </a:rPr>
              <a:t>de tu niña, niño o </a:t>
            </a:r>
            <a:r>
              <a:t>adolescente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AutoNum type="arabicPeriod" startAt="6"/>
              <a:defRPr sz="1300">
                <a:solidFill>
                  <a:srgbClr val="123D5D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Elige el sexo de tu niña, niño o </a:t>
            </a:r>
            <a:r>
              <a:t>adolescente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92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969B"/>
              </a:buClr>
              <a:buSzPts val="1900"/>
              <a:buFont typeface="Delicious Handrawn"/>
              <a:buAutoNum type="arabicPeriod" startAt="6"/>
              <a:defRPr sz="1300">
                <a:solidFill>
                  <a:srgbClr val="123D5D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Indica la fecha de nacimiento de tu niña, niño o </a:t>
            </a:r>
            <a:r>
              <a:t>adolescente</a:t>
            </a:r>
            <a:r>
              <a:rPr>
                <a:latin typeface="Arial"/>
                <a:ea typeface="Arial"/>
                <a:cs typeface="Arial"/>
                <a:sym typeface="Arial"/>
              </a:rPr>
              <a:t> (dd/mm/aaaa)</a:t>
            </a:r>
            <a:endParaRPr b="0" i="0" sz="13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90"/>
          <p:cNvSpPr/>
          <p:nvPr/>
        </p:nvSpPr>
        <p:spPr>
          <a:xfrm rot="-5400000">
            <a:off x="4254600" y="-4053375"/>
            <a:ext cx="480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90"/>
          <p:cNvSpPr txBox="1"/>
          <p:nvPr/>
        </p:nvSpPr>
        <p:spPr>
          <a:xfrm>
            <a:off x="286222" y="197506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Primeros pasos al usar </a:t>
            </a:r>
            <a:r>
              <a:t>Crianza con Conciencia + Chatbot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90"/>
          <p:cNvSpPr/>
          <p:nvPr/>
        </p:nvSpPr>
        <p:spPr>
          <a:xfrm>
            <a:off x="424675" y="2937475"/>
            <a:ext cx="7904100" cy="1038000"/>
          </a:xfrm>
          <a:prstGeom prst="roundRect">
            <a:avLst>
              <a:gd fmla="val 16667" name="adj"/>
            </a:avLst>
          </a:prstGeom>
          <a:solidFill>
            <a:srgbClr val="D60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i="1">
                <a:solidFill>
                  <a:schemeClr val="lt1"/>
                </a:solidFill>
              </a:defRPr>
            </a:pPr>
            <a:r>
              <a:t>Pero, ¿cuál niña, niño o adolescente debo de escoger? ¡Tengo más de uno!</a:t>
            </a:r>
            <a:endParaRPr i="1">
              <a:solidFill>
                <a:schemeClr val="lt1"/>
              </a:solidFill>
            </a:endParaRPr>
          </a:p>
        </p:txBody>
      </p:sp>
      <p:pic>
        <p:nvPicPr>
          <p:cNvPr id="763" name="Google Shape;763;p90"/>
          <p:cNvPicPr preferRelativeResize="0"/>
          <p:nvPr/>
        </p:nvPicPr>
        <p:blipFill rotWithShape="1">
          <a:blip r:embed="rId3">
            <a:alphaModFix/>
          </a:blip>
          <a:srcRect b="27677" l="0" r="44320" t="0"/>
          <a:stretch/>
        </p:blipFill>
        <p:spPr>
          <a:xfrm>
            <a:off x="125650" y="3350350"/>
            <a:ext cx="1186500" cy="11556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91"/>
          <p:cNvSpPr txBox="1"/>
          <p:nvPr/>
        </p:nvSpPr>
        <p:spPr>
          <a:xfrm>
            <a:off x="854050" y="1970050"/>
            <a:ext cx="7904100" cy="26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Entendemos que cada persona es única e irrepetible y que cada situación es compleja.</a:t>
            </a:r>
            <a:endParaRPr sz="1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5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Sacarás el máximo provecho de Crianza con Conciencia + si te centras en un solo niño, niña o adolescente.</a:t>
            </a:r>
            <a:endParaRPr sz="1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Al inscribirte, elige al niño, niña o adolescente que presente más problemas de conducta. Recuerda que la niña, el niño o adolescente tiene que tener entre </a:t>
            </a:r>
            <a:r>
              <a:rPr b="1"/>
              <a:t>2 y 17 años. </a:t>
            </a:r>
            <a:endParaRPr b="1" sz="1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Si te centras en un solo niño, niña o adolescente, comprenderás mejor sus necesidades.</a:t>
            </a:r>
            <a:endParaRPr sz="1500">
              <a:solidFill>
                <a:schemeClr val="dk1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  <a:defRPr sz="15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Lo que aprenderás en Crianza con Conciencia + puede aplicarse para apoyar el crecimiento de todos tus niños, niñas o adolescentes.</a:t>
            </a:r>
            <a:endParaRPr b="1" sz="1500">
              <a:solidFill>
                <a:srgbClr val="00969B"/>
              </a:solidFill>
            </a:endParaRPr>
          </a:p>
        </p:txBody>
      </p:sp>
      <p:sp>
        <p:nvSpPr>
          <p:cNvPr id="769" name="Google Shape;769;p91"/>
          <p:cNvSpPr/>
          <p:nvPr/>
        </p:nvSpPr>
        <p:spPr>
          <a:xfrm rot="-5400000">
            <a:off x="4254600" y="-4053375"/>
            <a:ext cx="480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91"/>
          <p:cNvSpPr txBox="1"/>
          <p:nvPr/>
        </p:nvSpPr>
        <p:spPr>
          <a:xfrm>
            <a:off x="286222" y="197506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Primeros pasos al usar </a:t>
            </a:r>
            <a:r>
              <a:t>Crianza con Conciencia + Chatbot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91"/>
          <p:cNvSpPr/>
          <p:nvPr/>
        </p:nvSpPr>
        <p:spPr>
          <a:xfrm>
            <a:off x="698425" y="908400"/>
            <a:ext cx="7904100" cy="884700"/>
          </a:xfrm>
          <a:prstGeom prst="roundRect">
            <a:avLst>
              <a:gd fmla="val 16667" name="adj"/>
            </a:avLst>
          </a:prstGeom>
          <a:solidFill>
            <a:srgbClr val="D60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i="1">
                <a:solidFill>
                  <a:schemeClr val="lt1"/>
                </a:solidFill>
              </a:defRPr>
            </a:pPr>
            <a:r>
              <a:t>Pero, ¿cuál niña, niño o adolescente debo de escoger? ¡Tengo más de uno!</a:t>
            </a:r>
            <a:endParaRPr i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92"/>
          <p:cNvSpPr txBox="1"/>
          <p:nvPr/>
        </p:nvSpPr>
        <p:spPr>
          <a:xfrm>
            <a:off x="286225" y="855984"/>
            <a:ext cx="8199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>
                <a:solidFill>
                  <a:srgbClr val="123D5D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Elige </a:t>
            </a:r>
            <a:r>
              <a:rPr b="1"/>
              <a:t>CUALQUIER OPCIÓN </a:t>
            </a:r>
            <a:r>
              <a:t>para</a:t>
            </a:r>
            <a:r>
              <a:rPr>
                <a:latin typeface="Arial"/>
                <a:ea typeface="Arial"/>
                <a:cs typeface="Arial"/>
                <a:sym typeface="Arial"/>
              </a:rPr>
              <a:t> establecer cómo quieres recibir los mensajes</a:t>
            </a:r>
            <a:endParaRPr b="0" i="0" sz="15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92"/>
          <p:cNvSpPr/>
          <p:nvPr/>
        </p:nvSpPr>
        <p:spPr>
          <a:xfrm rot="-5400000">
            <a:off x="4254600" y="-4053375"/>
            <a:ext cx="480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92"/>
          <p:cNvSpPr txBox="1"/>
          <p:nvPr/>
        </p:nvSpPr>
        <p:spPr>
          <a:xfrm>
            <a:off x="286222" y="197506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Primeros pasos al usar </a:t>
            </a:r>
            <a:r>
              <a:t>Crianza con Conciencia + Chatbot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79" name="Google Shape;779;p92"/>
          <p:cNvGrpSpPr/>
          <p:nvPr/>
        </p:nvGrpSpPr>
        <p:grpSpPr>
          <a:xfrm>
            <a:off x="1445012" y="1352951"/>
            <a:ext cx="569100" cy="576600"/>
            <a:chOff x="1680299" y="3458426"/>
            <a:chExt cx="569100" cy="576600"/>
          </a:xfrm>
        </p:grpSpPr>
        <p:sp>
          <p:nvSpPr>
            <p:cNvPr id="780" name="Google Shape;780;p92"/>
            <p:cNvSpPr/>
            <p:nvPr/>
          </p:nvSpPr>
          <p:spPr>
            <a:xfrm>
              <a:off x="1680299" y="3458426"/>
              <a:ext cx="569100" cy="576600"/>
            </a:xfrm>
            <a:prstGeom prst="ellipse">
              <a:avLst/>
            </a:prstGeom>
            <a:solidFill>
              <a:srgbClr val="FF5E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81" name="Google Shape;781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799914" y="3581840"/>
              <a:ext cx="329807" cy="3298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82" name="Google Shape;782;p92"/>
          <p:cNvSpPr/>
          <p:nvPr/>
        </p:nvSpPr>
        <p:spPr>
          <a:xfrm>
            <a:off x="677463" y="2118001"/>
            <a:ext cx="2104200" cy="2303100"/>
          </a:xfrm>
          <a:prstGeom prst="roundRect">
            <a:avLst>
              <a:gd fmla="val 16667" name="adj"/>
            </a:avLst>
          </a:prstGeom>
          <a:solidFill>
            <a:srgbClr val="FF5E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pPr>
            <a:r>
              <a:t>Texto, Imágenes y Video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pPr>
            <a:r>
              <a:t>Selecciona esta opción si: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pPr>
            <a:r>
              <a:t>Leer representa un reto para ti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pPr>
            <a:r>
              <a:rPr b="1"/>
              <a:t>NO </a:t>
            </a:r>
            <a:r>
              <a:t>necesitas cuidar tus datos móviles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83" name="Google Shape;783;p92"/>
          <p:cNvSpPr/>
          <p:nvPr/>
        </p:nvSpPr>
        <p:spPr>
          <a:xfrm>
            <a:off x="4168137" y="1352951"/>
            <a:ext cx="569100" cy="576600"/>
          </a:xfrm>
          <a:prstGeom prst="ellipse">
            <a:avLst/>
          </a:prstGeom>
          <a:solidFill>
            <a:srgbClr val="D600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92"/>
          <p:cNvSpPr/>
          <p:nvPr/>
        </p:nvSpPr>
        <p:spPr>
          <a:xfrm>
            <a:off x="3400588" y="2118001"/>
            <a:ext cx="2104200" cy="2303100"/>
          </a:xfrm>
          <a:prstGeom prst="roundRect">
            <a:avLst>
              <a:gd fmla="val 16667" name="adj"/>
            </a:avLst>
          </a:prstGeom>
          <a:solidFill>
            <a:srgbClr val="E4027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pPr>
            <a:r>
              <a:t>Texto, Imágenes y Audio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pPr>
            <a:r>
              <a:t>Selecciona esta opción si: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pPr>
            <a:r>
              <a:t>Leer representa un reto para ti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pPr>
            <a:r>
              <a:rPr b="1"/>
              <a:t>SÍ </a:t>
            </a:r>
            <a:r>
              <a:t>necesitas cuidar tus datos móviles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85" name="Google Shape;785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1138" y="1479700"/>
            <a:ext cx="323100" cy="323100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92"/>
          <p:cNvSpPr/>
          <p:nvPr/>
        </p:nvSpPr>
        <p:spPr>
          <a:xfrm>
            <a:off x="7129887" y="1352951"/>
            <a:ext cx="569100" cy="576600"/>
          </a:xfrm>
          <a:prstGeom prst="ellipse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92"/>
          <p:cNvSpPr/>
          <p:nvPr/>
        </p:nvSpPr>
        <p:spPr>
          <a:xfrm>
            <a:off x="6362338" y="2118001"/>
            <a:ext cx="2104200" cy="2303100"/>
          </a:xfrm>
          <a:prstGeom prst="roundRect">
            <a:avLst>
              <a:gd fmla="val 16667" name="adj"/>
            </a:avLst>
          </a:prstGeom>
          <a:solidFill>
            <a:srgbClr val="0096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pPr>
            <a:r>
              <a:t>Solo Texto e Imágenes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lt1"/>
                </a:solidFill>
              </a:defRPr>
            </a:pPr>
            <a:r>
              <a:t>Selecciona esta opción si: 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pPr>
            <a:r>
              <a:t>Leer </a:t>
            </a:r>
            <a:r>
              <a:rPr b="1"/>
              <a:t>NO </a:t>
            </a:r>
            <a:r>
              <a:t> representa un reto para ti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pPr>
            <a:r>
              <a:rPr b="1"/>
              <a:t>SÍ </a:t>
            </a:r>
            <a:r>
              <a:t>necesitas cuidar tus datos móviles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88" name="Google Shape;78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52888" y="1479700"/>
            <a:ext cx="323100" cy="323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93"/>
          <p:cNvSpPr txBox="1"/>
          <p:nvPr>
            <p:ph idx="1" type="body"/>
          </p:nvPr>
        </p:nvSpPr>
        <p:spPr>
          <a:xfrm>
            <a:off x="2655100" y="2081900"/>
            <a:ext cx="5817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elicious Handrawn"/>
              <a:buNone/>
            </a:pPr>
            <a:r>
              <a:t>Ahora sí, ¡estamos listos para empezar!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" name="Google Shape;798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4775"/>
            <a:ext cx="9143999" cy="5219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94" title="take_a_pause.mp4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52063" y="633226"/>
            <a:ext cx="6639874" cy="3734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95"/>
          <p:cNvSpPr txBox="1"/>
          <p:nvPr>
            <p:ph idx="1" type="body"/>
          </p:nvPr>
        </p:nvSpPr>
        <p:spPr>
          <a:xfrm>
            <a:off x="4724200" y="2277575"/>
            <a:ext cx="4144200" cy="21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elicious Handrawn"/>
              <a:buNone/>
              <a:defRPr sz="3600"/>
            </a:pPr>
            <a:r>
              <a:t>¡Exploremos la primera sesión juntos! </a:t>
            </a:r>
            <a:endParaRPr sz="36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4500"/>
              <a:buFont typeface="Delicious Handrawn"/>
              <a:buNone/>
              <a:defRPr sz="3600"/>
            </a:pPr>
            <a:br>
              <a:rPr lang="en-US" sz="3600"/>
            </a:br>
            <a:r>
              <a:t>Selecciona/Escribe SIGUIENTE</a:t>
            </a:r>
            <a:endParaRPr sz="36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96"/>
          <p:cNvSpPr/>
          <p:nvPr/>
        </p:nvSpPr>
        <p:spPr>
          <a:xfrm rot="-5400000">
            <a:off x="4254600" y="-4053375"/>
            <a:ext cx="480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96"/>
          <p:cNvSpPr txBox="1"/>
          <p:nvPr/>
        </p:nvSpPr>
        <p:spPr>
          <a:xfrm>
            <a:off x="286222" y="197506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</a:defRPr>
            </a:pPr>
            <a:r>
              <a:t>¿En qué consiste una sesión de Crianza con Conciencia +?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11" name="Google Shape;811;p96"/>
          <p:cNvPicPr preferRelativeResize="0"/>
          <p:nvPr/>
        </p:nvPicPr>
        <p:blipFill rotWithShape="1">
          <a:blip r:embed="rId3">
            <a:alphaModFix/>
          </a:blip>
          <a:srcRect b="0" l="0" r="0" t="54067"/>
          <a:stretch/>
        </p:blipFill>
        <p:spPr>
          <a:xfrm>
            <a:off x="784088" y="806731"/>
            <a:ext cx="1704534" cy="1694971"/>
          </a:xfrm>
          <a:prstGeom prst="rect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2" name="Google Shape;812;p96"/>
          <p:cNvSpPr txBox="1"/>
          <p:nvPr/>
        </p:nvSpPr>
        <p:spPr>
          <a:xfrm>
            <a:off x="784088" y="2668031"/>
            <a:ext cx="1736100" cy="11727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Cuestionarios</a:t>
            </a:r>
            <a:br>
              <a:rPr lang="en-US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</a:br>
            <a:br>
              <a:rPr lang="en-US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rPr>
            </a:br>
            <a:r>
              <a:rPr i="1"/>
              <a:t>Recuerda, contesta usando lo que ya sabes. ¡Estamos aquí para aprender! </a:t>
            </a:r>
            <a:endParaRPr i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813" name="Google Shape;813;p96"/>
          <p:cNvPicPr preferRelativeResize="0"/>
          <p:nvPr/>
        </p:nvPicPr>
        <p:blipFill rotWithShape="1">
          <a:blip r:embed="rId4">
            <a:alphaModFix/>
          </a:blip>
          <a:srcRect b="46600" l="0" r="0" t="11199"/>
          <a:stretch/>
        </p:blipFill>
        <p:spPr>
          <a:xfrm>
            <a:off x="2655370" y="775725"/>
            <a:ext cx="1889190" cy="1725978"/>
          </a:xfrm>
          <a:prstGeom prst="rect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14" name="Google Shape;814;p96"/>
          <p:cNvPicPr preferRelativeResize="0"/>
          <p:nvPr/>
        </p:nvPicPr>
        <p:blipFill rotWithShape="1">
          <a:blip r:embed="rId3">
            <a:alphaModFix/>
          </a:blip>
          <a:srcRect b="0" l="0" r="0" t="54067"/>
          <a:stretch/>
        </p:blipFill>
        <p:spPr>
          <a:xfrm>
            <a:off x="784088" y="806731"/>
            <a:ext cx="1704534" cy="1694971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96"/>
          <p:cNvSpPr txBox="1"/>
          <p:nvPr/>
        </p:nvSpPr>
        <p:spPr>
          <a:xfrm>
            <a:off x="2655375" y="2674575"/>
            <a:ext cx="1889100" cy="322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historietas</a:t>
            </a:r>
            <a:endParaRPr i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816" name="Google Shape;816;p96"/>
          <p:cNvPicPr preferRelativeResize="0"/>
          <p:nvPr/>
        </p:nvPicPr>
        <p:blipFill rotWithShape="1">
          <a:blip r:embed="rId5">
            <a:alphaModFix/>
          </a:blip>
          <a:srcRect b="38031" l="0" r="0" t="11361"/>
          <a:stretch/>
        </p:blipFill>
        <p:spPr>
          <a:xfrm>
            <a:off x="4748135" y="1185197"/>
            <a:ext cx="1410597" cy="1545452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7" name="Google Shape;817;p96"/>
          <p:cNvSpPr txBox="1"/>
          <p:nvPr/>
        </p:nvSpPr>
        <p:spPr>
          <a:xfrm>
            <a:off x="4711314" y="776324"/>
            <a:ext cx="3648600" cy="322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Tips</a:t>
            </a:r>
            <a:endParaRPr i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18" name="Google Shape;818;p96"/>
          <p:cNvSpPr txBox="1"/>
          <p:nvPr/>
        </p:nvSpPr>
        <p:spPr>
          <a:xfrm>
            <a:off x="4748125" y="2817275"/>
            <a:ext cx="1464300" cy="322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Video</a:t>
            </a:r>
            <a:endParaRPr i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819" name="Google Shape;819;p96"/>
          <p:cNvPicPr preferRelativeResize="0"/>
          <p:nvPr/>
        </p:nvPicPr>
        <p:blipFill rotWithShape="1">
          <a:blip r:embed="rId6">
            <a:alphaModFix/>
          </a:blip>
          <a:srcRect b="20658" l="0" r="0" t="11002"/>
          <a:stretch/>
        </p:blipFill>
        <p:spPr>
          <a:xfrm>
            <a:off x="6467760" y="1185196"/>
            <a:ext cx="1794820" cy="2655519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20" name="Google Shape;820;p96"/>
          <p:cNvPicPr preferRelativeResize="0"/>
          <p:nvPr/>
        </p:nvPicPr>
        <p:blipFill rotWithShape="1">
          <a:blip r:embed="rId7">
            <a:alphaModFix/>
          </a:blip>
          <a:srcRect b="53668" l="0" r="0" t="10871"/>
          <a:stretch/>
        </p:blipFill>
        <p:spPr>
          <a:xfrm>
            <a:off x="4748134" y="3226119"/>
            <a:ext cx="1464297" cy="1124163"/>
          </a:xfrm>
          <a:prstGeom prst="rect">
            <a:avLst/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21" name="Google Shape;821;p96"/>
          <p:cNvSpPr txBox="1"/>
          <p:nvPr/>
        </p:nvSpPr>
        <p:spPr>
          <a:xfrm>
            <a:off x="4711325" y="4436925"/>
            <a:ext cx="1527900" cy="322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Audio</a:t>
            </a:r>
            <a:endParaRPr i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2" name="Google Shape;822;p96"/>
          <p:cNvSpPr txBox="1"/>
          <p:nvPr/>
        </p:nvSpPr>
        <p:spPr>
          <a:xfrm>
            <a:off x="6467749" y="3927400"/>
            <a:ext cx="1889100" cy="322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Texto</a:t>
            </a:r>
            <a:endParaRPr i="1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23" name="Google Shape;823;p96"/>
          <p:cNvSpPr txBox="1"/>
          <p:nvPr/>
        </p:nvSpPr>
        <p:spPr>
          <a:xfrm>
            <a:off x="2697550" y="3179750"/>
            <a:ext cx="1794900" cy="1257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 i="1" sz="1300">
                <a:solidFill>
                  <a:schemeClr val="lt1"/>
                </a:solidFill>
                <a:latin typeface="Noto Sans"/>
                <a:ea typeface="Noto Sans"/>
                <a:cs typeface="Noto Sans"/>
                <a:sym typeface="Noto Sans"/>
              </a:defRPr>
            </a:pPr>
            <a:r>
              <a:t>Las sesiones serán un poco diferentes para cada persona. ¡Están personalizadas!</a:t>
            </a:r>
            <a:endParaRPr i="1" sz="1300">
              <a:solidFill>
                <a:schemeClr val="lt1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14775"/>
            <a:ext cx="9143999" cy="5219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29" name="Google Shape;829;p97" title="onboarding_yc.mp4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31700" y="692825"/>
            <a:ext cx="6680602" cy="3757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98"/>
          <p:cNvSpPr/>
          <p:nvPr/>
        </p:nvSpPr>
        <p:spPr>
          <a:xfrm>
            <a:off x="13" y="1061289"/>
            <a:ext cx="9144000" cy="480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5" name="Google Shape;835;p98"/>
          <p:cNvSpPr/>
          <p:nvPr/>
        </p:nvSpPr>
        <p:spPr>
          <a:xfrm>
            <a:off x="25" y="2871426"/>
            <a:ext cx="9144000" cy="480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6" name="Google Shape;836;p98"/>
          <p:cNvSpPr/>
          <p:nvPr/>
        </p:nvSpPr>
        <p:spPr>
          <a:xfrm>
            <a:off x="4556476" y="1061300"/>
            <a:ext cx="17700" cy="4082100"/>
          </a:xfrm>
          <a:prstGeom prst="rect">
            <a:avLst/>
          </a:prstGeom>
          <a:solidFill>
            <a:srgbClr val="00969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37" name="Google Shape;837;p98"/>
          <p:cNvGrpSpPr/>
          <p:nvPr/>
        </p:nvGrpSpPr>
        <p:grpSpPr>
          <a:xfrm>
            <a:off x="521350" y="1294012"/>
            <a:ext cx="3448196" cy="931514"/>
            <a:chOff x="0" y="-57150"/>
            <a:chExt cx="5523300" cy="2484038"/>
          </a:xfrm>
        </p:grpSpPr>
        <p:sp>
          <p:nvSpPr>
            <p:cNvPr id="838" name="Google Shape;838;p98"/>
            <p:cNvSpPr txBox="1"/>
            <p:nvPr/>
          </p:nvSpPr>
          <p:spPr>
            <a:xfrm>
              <a:off x="0" y="-57150"/>
              <a:ext cx="55233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>
                  <a:latin typeface="Delicious Handrawn"/>
                  <a:ea typeface="Delicious Handrawn"/>
                  <a:cs typeface="Delicious Handrawn"/>
                  <a:sym typeface="Delicious Handrawn"/>
                </a:defRPr>
              </a:pPr>
              <a:r>
                <a:rPr>
                  <a:solidFill>
                    <a:schemeClr val="dk1"/>
                  </a:solidFill>
                </a:rPr>
                <a:t>ESCRIBE </a:t>
              </a:r>
              <a:r>
                <a:rPr b="1">
                  <a:solidFill>
                    <a:srgbClr val="00969B"/>
                  </a:solidFill>
                </a:rPr>
                <a:t>SIGUIENTE</a:t>
              </a:r>
              <a:endParaRPr b="1" sz="13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endParaRPr>
            </a:p>
          </p:txBody>
        </p:sp>
        <p:sp>
          <p:nvSpPr>
            <p:cNvPr id="839" name="Google Shape;839;p98"/>
            <p:cNvSpPr txBox="1"/>
            <p:nvPr/>
          </p:nvSpPr>
          <p:spPr>
            <a:xfrm>
              <a:off x="0" y="866888"/>
              <a:ext cx="5523300" cy="15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defRPr>
              </a:pPr>
              <a:r>
                <a:t>¿Te atoraste en el chatbot? </a:t>
              </a:r>
              <a:br>
                <a:rPr lang="en-US"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br>
                <a:rPr lang="en-US"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t>¿No ves la palabra SIGUIENTE?</a:t>
              </a:r>
              <a:endParaRPr sz="7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sp>
        <p:nvSpPr>
          <p:cNvPr id="840" name="Google Shape;840;p98"/>
          <p:cNvSpPr/>
          <p:nvPr/>
        </p:nvSpPr>
        <p:spPr>
          <a:xfrm rot="-5400000">
            <a:off x="4254600" y="-4053375"/>
            <a:ext cx="480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98"/>
          <p:cNvSpPr txBox="1"/>
          <p:nvPr/>
        </p:nvSpPr>
        <p:spPr>
          <a:xfrm>
            <a:off x="286222" y="197506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Resuelve Retos y Desafíos en el chatbot de </a:t>
            </a:r>
            <a:r>
              <a:t>Crianza con Conciencia +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2" name="Google Shape;842;p98"/>
          <p:cNvGrpSpPr/>
          <p:nvPr/>
        </p:nvGrpSpPr>
        <p:grpSpPr>
          <a:xfrm>
            <a:off x="4887775" y="1294000"/>
            <a:ext cx="3484650" cy="1578052"/>
            <a:chOff x="0" y="-57150"/>
            <a:chExt cx="5523300" cy="4208138"/>
          </a:xfrm>
        </p:grpSpPr>
        <p:sp>
          <p:nvSpPr>
            <p:cNvPr id="843" name="Google Shape;843;p98"/>
            <p:cNvSpPr txBox="1"/>
            <p:nvPr/>
          </p:nvSpPr>
          <p:spPr>
            <a:xfrm>
              <a:off x="0" y="-57150"/>
              <a:ext cx="55233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>
                  <a:latin typeface="Delicious Handrawn"/>
                  <a:ea typeface="Delicious Handrawn"/>
                  <a:cs typeface="Delicious Handrawn"/>
                  <a:sym typeface="Delicious Handrawn"/>
                </a:defRPr>
              </a:pPr>
              <a:r>
                <a:rPr>
                  <a:solidFill>
                    <a:schemeClr val="dk1"/>
                  </a:solidFill>
                </a:rPr>
                <a:t>ESCRIBE </a:t>
              </a:r>
              <a:r>
                <a:rPr b="1">
                  <a:solidFill>
                    <a:srgbClr val="00969B"/>
                  </a:solidFill>
                </a:rPr>
                <a:t>MENÚ</a:t>
              </a:r>
              <a:endParaRPr b="1" sz="13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endParaRPr>
            </a:p>
          </p:txBody>
        </p:sp>
        <p:sp>
          <p:nvSpPr>
            <p:cNvPr id="844" name="Google Shape;844;p98"/>
            <p:cNvSpPr txBox="1"/>
            <p:nvPr/>
          </p:nvSpPr>
          <p:spPr>
            <a:xfrm>
              <a:off x="0" y="866888"/>
              <a:ext cx="5523300" cy="328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defRPr>
              </a:pPr>
              <a:r>
                <a:t>Cambia la configuración </a:t>
              </a:r>
              <a:br>
                <a:rPr lang="en-US"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br>
                <a:rPr lang="en-US"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t>Revisa las sesiones que has completado </a:t>
              </a:r>
              <a:endParaRPr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defRPr>
              </a:pPr>
              <a:br>
                <a:rPr lang="en-US"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rPr>
              </a:br>
              <a:r>
                <a:t>Vuelve a ver el vídeo de integración</a:t>
              </a:r>
              <a:endParaRPr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0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845" name="Google Shape;845;p98"/>
          <p:cNvGrpSpPr/>
          <p:nvPr/>
        </p:nvGrpSpPr>
        <p:grpSpPr>
          <a:xfrm>
            <a:off x="485075" y="3501012"/>
            <a:ext cx="3448196" cy="500414"/>
            <a:chOff x="0" y="-57150"/>
            <a:chExt cx="5523300" cy="1334438"/>
          </a:xfrm>
        </p:grpSpPr>
        <p:sp>
          <p:nvSpPr>
            <p:cNvPr id="846" name="Google Shape;846;p98"/>
            <p:cNvSpPr txBox="1"/>
            <p:nvPr/>
          </p:nvSpPr>
          <p:spPr>
            <a:xfrm>
              <a:off x="0" y="-57150"/>
              <a:ext cx="55233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>
                  <a:latin typeface="Delicious Handrawn"/>
                  <a:ea typeface="Delicious Handrawn"/>
                  <a:cs typeface="Delicious Handrawn"/>
                  <a:sym typeface="Delicious Handrawn"/>
                </a:defRPr>
              </a:pPr>
              <a:r>
                <a:rPr>
                  <a:solidFill>
                    <a:schemeClr val="dk1"/>
                  </a:solidFill>
                </a:rPr>
                <a:t>ESCRIBE </a:t>
              </a:r>
              <a:r>
                <a:rPr b="1">
                  <a:solidFill>
                    <a:srgbClr val="00969B"/>
                  </a:solidFill>
                </a:rPr>
                <a:t>REPRODUCIR</a:t>
              </a:r>
              <a:endParaRPr b="1" sz="13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endParaRPr>
            </a:p>
          </p:txBody>
        </p:sp>
        <p:sp>
          <p:nvSpPr>
            <p:cNvPr id="847" name="Google Shape;847;p98"/>
            <p:cNvSpPr txBox="1"/>
            <p:nvPr/>
          </p:nvSpPr>
          <p:spPr>
            <a:xfrm>
              <a:off x="0" y="866888"/>
              <a:ext cx="5523300" cy="410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defRPr>
              </a:pPr>
              <a:r>
                <a:t>Encuentra actividades lúdicas para hacer con tu niña, niño o adolescente</a:t>
              </a:r>
              <a:endParaRPr sz="7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  <p:grpSp>
        <p:nvGrpSpPr>
          <p:cNvPr id="848" name="Google Shape;848;p98"/>
          <p:cNvGrpSpPr/>
          <p:nvPr/>
        </p:nvGrpSpPr>
        <p:grpSpPr>
          <a:xfrm>
            <a:off x="4906000" y="3522162"/>
            <a:ext cx="3448196" cy="715964"/>
            <a:chOff x="0" y="-57150"/>
            <a:chExt cx="5523300" cy="1909238"/>
          </a:xfrm>
        </p:grpSpPr>
        <p:sp>
          <p:nvSpPr>
            <p:cNvPr id="849" name="Google Shape;849;p98"/>
            <p:cNvSpPr txBox="1"/>
            <p:nvPr/>
          </p:nvSpPr>
          <p:spPr>
            <a:xfrm>
              <a:off x="0" y="-57150"/>
              <a:ext cx="5523300" cy="65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600">
                  <a:latin typeface="Delicious Handrawn"/>
                  <a:ea typeface="Delicious Handrawn"/>
                  <a:cs typeface="Delicious Handrawn"/>
                  <a:sym typeface="Delicious Handrawn"/>
                </a:defRPr>
              </a:pPr>
              <a:r>
                <a:rPr>
                  <a:solidFill>
                    <a:schemeClr val="dk1"/>
                  </a:solidFill>
                </a:rPr>
                <a:t>ESCRIBE </a:t>
              </a:r>
              <a:r>
                <a:rPr b="1">
                  <a:solidFill>
                    <a:srgbClr val="00969B"/>
                  </a:solidFill>
                </a:rPr>
                <a:t>AYUDA</a:t>
              </a:r>
              <a:endParaRPr b="1" sz="1300">
                <a:solidFill>
                  <a:srgbClr val="00969B"/>
                </a:solidFill>
                <a:latin typeface="Delicious Handrawn"/>
                <a:ea typeface="Delicious Handrawn"/>
                <a:cs typeface="Delicious Handrawn"/>
                <a:sym typeface="Delicious Handrawn"/>
              </a:endParaRPr>
            </a:p>
          </p:txBody>
        </p:sp>
        <p:sp>
          <p:nvSpPr>
            <p:cNvPr id="850" name="Google Shape;850;p98"/>
            <p:cNvSpPr txBox="1"/>
            <p:nvPr/>
          </p:nvSpPr>
          <p:spPr>
            <a:xfrm>
              <a:off x="0" y="866888"/>
              <a:ext cx="5523300" cy="98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9"/>
                </a:lnSpc>
                <a:spcBef>
                  <a:spcPts val="0"/>
                </a:spcBef>
                <a:spcAft>
                  <a:spcPts val="0"/>
                </a:spcAft>
                <a:buNone/>
                <a:defRPr sz="1000">
                  <a:solidFill>
                    <a:schemeClr val="dk1"/>
                  </a:solidFill>
                  <a:latin typeface="Noto Sans"/>
                  <a:ea typeface="Noto Sans"/>
                  <a:cs typeface="Noto Sans"/>
                  <a:sym typeface="Noto Sans"/>
                </a:defRPr>
              </a:pPr>
              <a:r>
                <a:t>Explora recursos e información de contacto relacionados con violencia intrafamiliar, violencia sexual, salud mental u otras situaciones urgentes.</a:t>
              </a:r>
              <a:endParaRPr sz="700">
                <a:solidFill>
                  <a:schemeClr val="dk1"/>
                </a:solidFill>
                <a:latin typeface="Noto Sans"/>
                <a:ea typeface="Noto Sans"/>
                <a:cs typeface="Noto Sans"/>
                <a:sym typeface="Noto Sans"/>
              </a:endParaRPr>
            </a:p>
          </p:txBody>
        </p:sp>
      </p:grp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99"/>
          <p:cNvSpPr/>
          <p:nvPr/>
        </p:nvSpPr>
        <p:spPr>
          <a:xfrm rot="-5400000">
            <a:off x="4254600" y="-4053375"/>
            <a:ext cx="480900" cy="8990100"/>
          </a:xfrm>
          <a:prstGeom prst="round2SameRect">
            <a:avLst>
              <a:gd fmla="val 0" name="adj1"/>
              <a:gd fmla="val 44431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99"/>
          <p:cNvSpPr txBox="1"/>
          <p:nvPr/>
        </p:nvSpPr>
        <p:spPr>
          <a:xfrm>
            <a:off x="286222" y="197506"/>
            <a:ext cx="8857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300">
                <a:solidFill>
                  <a:schemeClr val="lt1"/>
                </a:solidFill>
              </a:defRPr>
            </a:pPr>
            <a:r>
              <a:t>¿Cómo Entender el MENÚ de Crianza con Conciencia +?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7" name="Google Shape;857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34525"/>
            <a:ext cx="3200300" cy="3058625"/>
          </a:xfrm>
          <a:prstGeom prst="rect">
            <a:avLst/>
          </a:prstGeom>
          <a:noFill/>
          <a:ln>
            <a:noFill/>
          </a:ln>
        </p:spPr>
      </p:pic>
      <p:sp>
        <p:nvSpPr>
          <p:cNvPr id="858" name="Google Shape;858;p99"/>
          <p:cNvSpPr/>
          <p:nvPr/>
        </p:nvSpPr>
        <p:spPr>
          <a:xfrm>
            <a:off x="338250" y="2430050"/>
            <a:ext cx="225900" cy="1866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59" name="Google Shape;859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9538" y="823913"/>
            <a:ext cx="2768375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99"/>
          <p:cNvSpPr/>
          <p:nvPr/>
        </p:nvSpPr>
        <p:spPr>
          <a:xfrm>
            <a:off x="4820775" y="3387650"/>
            <a:ext cx="225900" cy="186600"/>
          </a:xfrm>
          <a:prstGeom prst="ellipse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861" name="Google Shape;861;p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14750" y="834525"/>
            <a:ext cx="2476850" cy="316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100"/>
          <p:cNvSpPr txBox="1"/>
          <p:nvPr>
            <p:ph idx="1" type="body"/>
          </p:nvPr>
        </p:nvSpPr>
        <p:spPr>
          <a:xfrm>
            <a:off x="2641276" y="2012905"/>
            <a:ext cx="5045100" cy="13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elicious Handrawn"/>
              <a:buNone/>
            </a:pPr>
            <a:r>
              <a:t>Acordemos algunas reglas básicas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101"/>
          <p:cNvSpPr/>
          <p:nvPr/>
        </p:nvSpPr>
        <p:spPr>
          <a:xfrm rot="-5400000">
            <a:off x="2775450" y="-2605400"/>
            <a:ext cx="532200" cy="60831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101"/>
          <p:cNvSpPr txBox="1"/>
          <p:nvPr/>
        </p:nvSpPr>
        <p:spPr>
          <a:xfrm>
            <a:off x="57625" y="216750"/>
            <a:ext cx="714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Reglas Generales 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3" name="Google Shape;873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460" y="805618"/>
            <a:ext cx="270162" cy="270162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101"/>
          <p:cNvSpPr txBox="1"/>
          <p:nvPr/>
        </p:nvSpPr>
        <p:spPr>
          <a:xfrm>
            <a:off x="505050" y="1075775"/>
            <a:ext cx="57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75" name="Google Shape;875;p101"/>
          <p:cNvGrpSpPr/>
          <p:nvPr/>
        </p:nvGrpSpPr>
        <p:grpSpPr>
          <a:xfrm>
            <a:off x="2185366" y="1726209"/>
            <a:ext cx="354468" cy="359177"/>
            <a:chOff x="475577" y="1034115"/>
            <a:chExt cx="523200" cy="523200"/>
          </a:xfrm>
        </p:grpSpPr>
        <p:sp>
          <p:nvSpPr>
            <p:cNvPr id="876" name="Google Shape;876;p101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FF5E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877" name="Google Shape;877;p10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78" name="Google Shape;878;p101"/>
          <p:cNvGrpSpPr/>
          <p:nvPr/>
        </p:nvGrpSpPr>
        <p:grpSpPr>
          <a:xfrm>
            <a:off x="5779066" y="1783664"/>
            <a:ext cx="354468" cy="359177"/>
            <a:chOff x="475577" y="1034115"/>
            <a:chExt cx="523200" cy="523200"/>
          </a:xfrm>
        </p:grpSpPr>
        <p:sp>
          <p:nvSpPr>
            <p:cNvPr id="879" name="Google Shape;879;p101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D6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880" name="Google Shape;880;p10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81" name="Google Shape;881;p101"/>
          <p:cNvSpPr txBox="1"/>
          <p:nvPr/>
        </p:nvSpPr>
        <p:spPr>
          <a:xfrm>
            <a:off x="248350" y="991175"/>
            <a:ext cx="8089200" cy="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>
                <a:solidFill>
                  <a:srgbClr val="00969B"/>
                </a:solidFill>
              </a:defRPr>
            </a:pPr>
            <a:r>
              <a:t>Las reglas generales están para hacer del Grupo de WhatsApp un espacio seguro y positivo para todas las personas que participan en él</a:t>
            </a:r>
            <a:endParaRPr b="0" i="0" sz="1100" u="none" cap="none" strike="noStrike">
              <a:solidFill>
                <a:srgbClr val="0096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Font typeface="Arial"/>
              <a:buNone/>
            </a:pPr>
            <a:endParaRPr b="1" i="0" sz="14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2" name="Google Shape;882;p101"/>
          <p:cNvSpPr txBox="1"/>
          <p:nvPr/>
        </p:nvSpPr>
        <p:spPr>
          <a:xfrm>
            <a:off x="1240600" y="2256725"/>
            <a:ext cx="2244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Si una madre, padre o persona cuidadora incumple alguna de las reglas generales, se lo recordaré amablemente en privado, y también le recordaré al grupo las reglas generales que discutimos el día de hoy</a:t>
            </a:r>
            <a:endParaRPr sz="1300"/>
          </a:p>
        </p:txBody>
      </p:sp>
      <p:sp>
        <p:nvSpPr>
          <p:cNvPr id="883" name="Google Shape;883;p101"/>
          <p:cNvSpPr txBox="1"/>
          <p:nvPr/>
        </p:nvSpPr>
        <p:spPr>
          <a:xfrm>
            <a:off x="5101300" y="2322400"/>
            <a:ext cx="22440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  <a:defRPr sz="1300"/>
            </a:pPr>
            <a:r>
              <a:t>Si una madre, un padre o una persona cuidadora sigue incumpliendo las reglas generales, puede que tenga que sacarle del grupo de WhatsApp</a:t>
            </a:r>
            <a:endParaRPr sz="13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102"/>
          <p:cNvSpPr/>
          <p:nvPr/>
        </p:nvSpPr>
        <p:spPr>
          <a:xfrm rot="-5400000">
            <a:off x="2775450" y="-2605400"/>
            <a:ext cx="532200" cy="6083100"/>
          </a:xfrm>
          <a:prstGeom prst="round2SameRect">
            <a:avLst>
              <a:gd fmla="val 0" name="adj1"/>
              <a:gd fmla="val 5000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102"/>
          <p:cNvSpPr txBox="1"/>
          <p:nvPr/>
        </p:nvSpPr>
        <p:spPr>
          <a:xfrm>
            <a:off x="57625" y="216750"/>
            <a:ext cx="7146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Próximos Pasos: Rol del Facilitador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0" name="Google Shape;890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460" y="805618"/>
            <a:ext cx="270162" cy="270162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102"/>
          <p:cNvSpPr txBox="1"/>
          <p:nvPr/>
        </p:nvSpPr>
        <p:spPr>
          <a:xfrm>
            <a:off x="505050" y="1075775"/>
            <a:ext cx="57450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102"/>
          <p:cNvSpPr txBox="1"/>
          <p:nvPr/>
        </p:nvSpPr>
        <p:spPr>
          <a:xfrm>
            <a:off x="248350" y="991175"/>
            <a:ext cx="8089200" cy="3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>
                <a:solidFill>
                  <a:srgbClr val="00969B"/>
                </a:solidFill>
              </a:defRPr>
            </a:pPr>
            <a:r>
              <a:rPr sz="1400">
                <a:latin typeface="Arial"/>
                <a:ea typeface="Arial"/>
                <a:cs typeface="Arial"/>
                <a:sym typeface="Arial"/>
              </a:rPr>
              <a:t>A lo largo de</a:t>
            </a:r>
            <a:r>
              <a:t> Crianza con Conciencia +</a:t>
            </a:r>
            <a:r>
              <a:rPr sz="1400">
                <a:latin typeface="Arial"/>
                <a:ea typeface="Arial"/>
                <a:cs typeface="Arial"/>
                <a:sym typeface="Arial"/>
              </a:rPr>
              <a:t>, yo:</a:t>
            </a:r>
            <a:endParaRPr b="0" i="0" sz="1100" u="none" cap="none" strike="noStrike">
              <a:solidFill>
                <a:srgbClr val="00969B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23D5D"/>
              </a:buClr>
              <a:buSzPts val="1400"/>
              <a:buFont typeface="Arial"/>
              <a:buChar char="●"/>
              <a:defRPr sz="1400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Estaré en contacto contigo de vez en cuando, de aquí hasta que termine el curso, para saludarte y preguntarte cómo vas.</a:t>
            </a:r>
            <a:endParaRPr b="0" i="0" sz="14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23D5D"/>
              </a:buClr>
              <a:buSzPts val="1400"/>
              <a:buFont typeface="Arial"/>
              <a:buChar char="●"/>
              <a:defRPr>
                <a:solidFill>
                  <a:srgbClr val="123D5D"/>
                </a:solidFill>
              </a:defRPr>
            </a:pPr>
            <a:r>
              <a:rPr sz="1400">
                <a:latin typeface="Arial"/>
                <a:ea typeface="Arial"/>
                <a:cs typeface="Arial"/>
                <a:sym typeface="Arial"/>
              </a:rPr>
              <a:t>Me aseguraré de que todos y todas sigan las </a:t>
            </a:r>
            <a:r>
              <a:t>r</a:t>
            </a:r>
            <a:r>
              <a:rPr sz="1400">
                <a:latin typeface="Arial"/>
                <a:ea typeface="Arial"/>
                <a:cs typeface="Arial"/>
                <a:sym typeface="Arial"/>
              </a:rPr>
              <a:t>eglas </a:t>
            </a:r>
            <a:r>
              <a:t>b</a:t>
            </a:r>
            <a:r>
              <a:rPr sz="1400">
                <a:latin typeface="Arial"/>
                <a:ea typeface="Arial"/>
                <a:cs typeface="Arial"/>
                <a:sym typeface="Arial"/>
              </a:rPr>
              <a:t>ásicas que hemos acordado hoy como grupo. </a:t>
            </a:r>
            <a:endParaRPr b="0" i="0" sz="14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23D5D"/>
              </a:buClr>
              <a:buSzPts val="1400"/>
              <a:buFont typeface="Arial"/>
              <a:buChar char="●"/>
              <a:defRPr sz="1400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Te invitaré a hablar sobre algunas cuestiones relacionadas con la crianza.</a:t>
            </a:r>
            <a:endParaRPr b="0" i="0" sz="14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23D5D"/>
              </a:buClr>
              <a:buSzPts val="1400"/>
              <a:buFont typeface="Arial"/>
              <a:buChar char="●"/>
              <a:defRPr sz="1400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Denunciaré cualquier caso de abuso hacia niñas, niños, adolescentes y adultos.</a:t>
            </a:r>
            <a:endParaRPr b="0" i="0" sz="14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23D5D"/>
              </a:buClr>
              <a:buSzPts val="1400"/>
              <a:buFont typeface="Arial"/>
              <a:buChar char="●"/>
              <a:defRPr sz="1400">
                <a:solidFill>
                  <a:srgbClr val="123D5D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Me despediré y me saldré el grupo cuando termine el programa. Sin embargo, todos pueden seguir aprendiendo y usando el WhatsApp de Crianza con Conciencia +.</a:t>
            </a:r>
            <a:endParaRPr b="1" i="0" sz="1400" u="none" cap="none" strike="noStrike">
              <a:solidFill>
                <a:srgbClr val="123D5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93" name="Google Shape;893;p102"/>
          <p:cNvGrpSpPr/>
          <p:nvPr/>
        </p:nvGrpSpPr>
        <p:grpSpPr>
          <a:xfrm>
            <a:off x="312541" y="1442984"/>
            <a:ext cx="354468" cy="359177"/>
            <a:chOff x="475577" y="1034115"/>
            <a:chExt cx="523200" cy="523200"/>
          </a:xfrm>
        </p:grpSpPr>
        <p:sp>
          <p:nvSpPr>
            <p:cNvPr id="894" name="Google Shape;894;p102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FF5E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895" name="Google Shape;895;p10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6" name="Google Shape;896;p102"/>
          <p:cNvGrpSpPr/>
          <p:nvPr/>
        </p:nvGrpSpPr>
        <p:grpSpPr>
          <a:xfrm>
            <a:off x="312541" y="2145189"/>
            <a:ext cx="354468" cy="359177"/>
            <a:chOff x="475577" y="1034115"/>
            <a:chExt cx="523200" cy="523200"/>
          </a:xfrm>
        </p:grpSpPr>
        <p:sp>
          <p:nvSpPr>
            <p:cNvPr id="897" name="Google Shape;897;p102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D6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898" name="Google Shape;898;p10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99" name="Google Shape;899;p102"/>
          <p:cNvGrpSpPr/>
          <p:nvPr/>
        </p:nvGrpSpPr>
        <p:grpSpPr>
          <a:xfrm>
            <a:off x="312541" y="2643232"/>
            <a:ext cx="354468" cy="359177"/>
            <a:chOff x="475577" y="1034115"/>
            <a:chExt cx="523200" cy="523200"/>
          </a:xfrm>
        </p:grpSpPr>
        <p:sp>
          <p:nvSpPr>
            <p:cNvPr id="900" name="Google Shape;900;p102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DB35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901" name="Google Shape;901;p10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2" name="Google Shape;902;p102"/>
          <p:cNvGrpSpPr/>
          <p:nvPr/>
        </p:nvGrpSpPr>
        <p:grpSpPr>
          <a:xfrm>
            <a:off x="312541" y="3088624"/>
            <a:ext cx="354468" cy="359177"/>
            <a:chOff x="475577" y="1034115"/>
            <a:chExt cx="523200" cy="523200"/>
          </a:xfrm>
        </p:grpSpPr>
        <p:sp>
          <p:nvSpPr>
            <p:cNvPr id="903" name="Google Shape;903;p102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10406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904" name="Google Shape;904;p10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05" name="Google Shape;905;p102"/>
          <p:cNvGrpSpPr/>
          <p:nvPr/>
        </p:nvGrpSpPr>
        <p:grpSpPr>
          <a:xfrm>
            <a:off x="312541" y="3610234"/>
            <a:ext cx="354468" cy="359177"/>
            <a:chOff x="475577" y="1034115"/>
            <a:chExt cx="523200" cy="523200"/>
          </a:xfrm>
        </p:grpSpPr>
        <p:sp>
          <p:nvSpPr>
            <p:cNvPr id="906" name="Google Shape;906;p102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FF5E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907" name="Google Shape;907;p10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03"/>
          <p:cNvSpPr/>
          <p:nvPr/>
        </p:nvSpPr>
        <p:spPr>
          <a:xfrm rot="-5400000">
            <a:off x="1218301" y="-1017075"/>
            <a:ext cx="480900" cy="2917500"/>
          </a:xfrm>
          <a:prstGeom prst="round2SameRect">
            <a:avLst>
              <a:gd fmla="val 0" name="adj1"/>
              <a:gd fmla="val 3351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103"/>
          <p:cNvSpPr txBox="1"/>
          <p:nvPr/>
        </p:nvSpPr>
        <p:spPr>
          <a:xfrm>
            <a:off x="286226" y="197500"/>
            <a:ext cx="27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Preguntas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103"/>
          <p:cNvSpPr txBox="1"/>
          <p:nvPr/>
        </p:nvSpPr>
        <p:spPr>
          <a:xfrm>
            <a:off x="269600" y="972071"/>
            <a:ext cx="8199600" cy="19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b="1" sz="1700">
                <a:solidFill>
                  <a:srgbClr val="0D395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¿Tienes alguna pregunta sobre</a:t>
            </a:r>
            <a:endParaRPr b="1" i="0" sz="1700" u="none" cap="none" strike="noStrike">
              <a:solidFill>
                <a:srgbClr val="0D3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just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3959"/>
              </a:buClr>
              <a:buSzPts val="1700"/>
              <a:buFont typeface="Arial"/>
              <a:buChar char="●"/>
              <a:defRPr sz="1700">
                <a:solidFill>
                  <a:srgbClr val="0D3959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Cómo usar el </a:t>
            </a:r>
            <a:r>
              <a:t> chatbot de Crianza con Conciencia +</a:t>
            </a:r>
            <a:endParaRPr b="0" i="0" sz="1700" u="none" cap="none" strike="noStrike">
              <a:solidFill>
                <a:srgbClr val="0D3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3959"/>
              </a:buClr>
              <a:buSzPts val="1700"/>
              <a:buFont typeface="Arial"/>
              <a:buChar char="●"/>
              <a:defRPr sz="1700">
                <a:solidFill>
                  <a:srgbClr val="0D3959"/>
                </a:solidFill>
              </a:defRPr>
            </a:pPr>
            <a:r>
              <a:rPr>
                <a:latin typeface="Arial"/>
                <a:ea typeface="Arial"/>
                <a:cs typeface="Arial"/>
                <a:sym typeface="Arial"/>
              </a:rPr>
              <a:t>Cómo participar en el Grupo de Comunidad de WhatsApp</a:t>
            </a:r>
            <a:endParaRPr b="0" i="0" sz="1700" u="none" cap="none" strike="noStrike">
              <a:solidFill>
                <a:srgbClr val="0D395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3959"/>
              </a:buClr>
              <a:buSzPts val="1700"/>
              <a:buFont typeface="Arial"/>
              <a:buChar char="●"/>
              <a:defRPr sz="1700">
                <a:solidFill>
                  <a:srgbClr val="0D3959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¿Algo más?</a:t>
            </a:r>
            <a:endParaRPr b="1" i="0" sz="1700" u="none" cap="none" strike="noStrike">
              <a:solidFill>
                <a:srgbClr val="0D3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5" name="Google Shape;915;p103"/>
          <p:cNvGrpSpPr/>
          <p:nvPr/>
        </p:nvGrpSpPr>
        <p:grpSpPr>
          <a:xfrm>
            <a:off x="312541" y="1773621"/>
            <a:ext cx="354468" cy="359177"/>
            <a:chOff x="475577" y="1034115"/>
            <a:chExt cx="523200" cy="523200"/>
          </a:xfrm>
        </p:grpSpPr>
        <p:sp>
          <p:nvSpPr>
            <p:cNvPr id="916" name="Google Shape;916;p103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FF5E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917" name="Google Shape;917;p10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18" name="Google Shape;918;p103"/>
          <p:cNvGrpSpPr/>
          <p:nvPr/>
        </p:nvGrpSpPr>
        <p:grpSpPr>
          <a:xfrm>
            <a:off x="312541" y="2182789"/>
            <a:ext cx="354468" cy="359177"/>
            <a:chOff x="475577" y="1034115"/>
            <a:chExt cx="523200" cy="523200"/>
          </a:xfrm>
        </p:grpSpPr>
        <p:sp>
          <p:nvSpPr>
            <p:cNvPr id="919" name="Google Shape;919;p103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D6006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920" name="Google Shape;920;p10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1" name="Google Shape;921;p103"/>
          <p:cNvGrpSpPr/>
          <p:nvPr/>
        </p:nvGrpSpPr>
        <p:grpSpPr>
          <a:xfrm>
            <a:off x="312541" y="2591982"/>
            <a:ext cx="354468" cy="359177"/>
            <a:chOff x="475577" y="1034115"/>
            <a:chExt cx="523200" cy="523200"/>
          </a:xfrm>
        </p:grpSpPr>
        <p:sp>
          <p:nvSpPr>
            <p:cNvPr id="922" name="Google Shape;922;p103"/>
            <p:cNvSpPr/>
            <p:nvPr/>
          </p:nvSpPr>
          <p:spPr>
            <a:xfrm>
              <a:off x="475577" y="1034115"/>
              <a:ext cx="523200" cy="523200"/>
            </a:xfrm>
            <a:prstGeom prst="ellipse">
              <a:avLst/>
            </a:prstGeom>
            <a:solidFill>
              <a:srgbClr val="DB351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b="0" i="0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Tick with solid fill" id="923" name="Google Shape;923;p10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3690" y="1172228"/>
              <a:ext cx="246993" cy="24699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24" name="Google Shape;924;p103"/>
          <p:cNvPicPr preferRelativeResize="0"/>
          <p:nvPr/>
        </p:nvPicPr>
        <p:blipFill rotWithShape="1">
          <a:blip r:embed="rId4">
            <a:alphaModFix/>
          </a:blip>
          <a:srcRect b="36315" l="46857" r="7926" t="2619"/>
          <a:stretch/>
        </p:blipFill>
        <p:spPr>
          <a:xfrm>
            <a:off x="6596701" y="2596198"/>
            <a:ext cx="2547300" cy="25473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104"/>
          <p:cNvSpPr/>
          <p:nvPr/>
        </p:nvSpPr>
        <p:spPr>
          <a:xfrm rot="-5400000">
            <a:off x="1218301" y="-1017075"/>
            <a:ext cx="480900" cy="2917500"/>
          </a:xfrm>
          <a:prstGeom prst="round2SameRect">
            <a:avLst>
              <a:gd fmla="val 0" name="adj1"/>
              <a:gd fmla="val 33510" name="adj2"/>
            </a:avLst>
          </a:prstGeom>
          <a:solidFill>
            <a:srgbClr val="123D5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104"/>
          <p:cNvSpPr txBox="1"/>
          <p:nvPr/>
        </p:nvSpPr>
        <p:spPr>
          <a:xfrm>
            <a:off x="286226" y="197500"/>
            <a:ext cx="2741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b="1" sz="2400">
                <a:solidFill>
                  <a:schemeClr val="lt1"/>
                </a:solidFill>
              </a:defRPr>
            </a:pPr>
            <a:r>
              <a:t>Próximos Pasos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104"/>
          <p:cNvSpPr txBox="1"/>
          <p:nvPr/>
        </p:nvSpPr>
        <p:spPr>
          <a:xfrm>
            <a:off x="286225" y="814950"/>
            <a:ext cx="5371200" cy="37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3959"/>
              </a:buClr>
              <a:buSzPts val="1400"/>
              <a:buFont typeface="Arial"/>
              <a:buChar char="●"/>
              <a:defRPr>
                <a:solidFill>
                  <a:srgbClr val="0D3959"/>
                </a:solidFill>
              </a:defRPr>
            </a:pPr>
            <a:r>
              <a:t>Recibirás una sesión diaria del Curso de WhatsApp</a:t>
            </a:r>
            <a:endParaRPr>
              <a:solidFill>
                <a:srgbClr val="0D3959"/>
              </a:solidFill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3959"/>
              </a:buClr>
              <a:buSzPts val="1400"/>
              <a:buChar char="●"/>
              <a:defRPr>
                <a:solidFill>
                  <a:srgbClr val="0D3959"/>
                </a:solidFill>
              </a:defRPr>
            </a:pPr>
            <a:r>
              <a:t>Recibirás un reconocimiento por llevar el curso después de completar cada curso </a:t>
            </a:r>
            <a:endParaRPr>
              <a:solidFill>
                <a:srgbClr val="0D3959"/>
              </a:solidFill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3959"/>
              </a:buClr>
              <a:buSzPts val="1400"/>
              <a:buChar char="●"/>
              <a:defRPr>
                <a:solidFill>
                  <a:srgbClr val="0D3959"/>
                </a:solidFill>
              </a:defRPr>
            </a:pPr>
            <a:r>
              <a:t>Puedes escoger qué curso quieres hacer después de completar el primer curso</a:t>
            </a:r>
            <a:endParaRPr>
              <a:solidFill>
                <a:srgbClr val="0D3959"/>
              </a:solidFill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3959"/>
              </a:buClr>
              <a:buSzPts val="1400"/>
              <a:buChar char="●"/>
              <a:defRPr>
                <a:solidFill>
                  <a:srgbClr val="0D3959"/>
                </a:solidFill>
              </a:defRPr>
            </a:pPr>
            <a:r>
              <a:t>Después de 4 sesiones de chat, traspasaré el grupo de WhatsApp a una de las madres, padres o personas cuidadoras o abandonaré el grupo de WhatsApp. Puedes seguir interactuando con el chat automatizado incluso hasta después de un mes. </a:t>
            </a:r>
            <a:endParaRPr>
              <a:solidFill>
                <a:srgbClr val="0D3959"/>
              </a:solidFill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3959"/>
              </a:buClr>
              <a:buSzPts val="1400"/>
              <a:buChar char="●"/>
              <a:defRPr>
                <a:solidFill>
                  <a:srgbClr val="0D3959"/>
                </a:solidFill>
              </a:defRPr>
            </a:pPr>
            <a:r>
              <a:t>¿En qué fecha y a qué hora te gustaría tener tus sesiones de chat semanales?</a:t>
            </a:r>
            <a:endParaRPr>
              <a:solidFill>
                <a:srgbClr val="0D3959"/>
              </a:solidFill>
            </a:endParaRPr>
          </a:p>
        </p:txBody>
      </p:sp>
      <p:pic>
        <p:nvPicPr>
          <p:cNvPr id="932" name="Google Shape;932;p104"/>
          <p:cNvPicPr preferRelativeResize="0"/>
          <p:nvPr/>
        </p:nvPicPr>
        <p:blipFill rotWithShape="1">
          <a:blip r:embed="rId4">
            <a:alphaModFix/>
          </a:blip>
          <a:srcRect b="0" l="1603" r="635" t="0"/>
          <a:stretch/>
        </p:blipFill>
        <p:spPr>
          <a:xfrm>
            <a:off x="5823900" y="1298100"/>
            <a:ext cx="3320100" cy="25473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05"/>
          <p:cNvSpPr txBox="1"/>
          <p:nvPr>
            <p:ph idx="1" type="body"/>
          </p:nvPr>
        </p:nvSpPr>
        <p:spPr>
          <a:xfrm>
            <a:off x="2724100" y="1913700"/>
            <a:ext cx="5889900" cy="25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t>¡Comparte en una palabra cómo te sientes después de la sesión!</a:t>
            </a: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Delicious Handrawn"/>
              <a:buNone/>
            </a:p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106"/>
          <p:cNvSpPr txBox="1"/>
          <p:nvPr>
            <p:ph idx="1" type="body"/>
          </p:nvPr>
        </p:nvSpPr>
        <p:spPr>
          <a:xfrm>
            <a:off x="1767750" y="388225"/>
            <a:ext cx="5608500" cy="290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t>Gracias por tu compromiso</a:t>
            </a: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</a:pPr>
            <a:r>
              <a:t>¿Alguna pregunta?</a:t>
            </a: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Delicious Handrawn"/>
              <a:buNone/>
            </a:pPr>
          </a:p>
        </p:txBody>
      </p:sp>
      <p:pic>
        <p:nvPicPr>
          <p:cNvPr id="943" name="Google Shape;943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9047" y="2672899"/>
            <a:ext cx="2577825" cy="1023550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106"/>
          <p:cNvSpPr/>
          <p:nvPr/>
        </p:nvSpPr>
        <p:spPr>
          <a:xfrm>
            <a:off x="-24325" y="4673575"/>
            <a:ext cx="9216900" cy="535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5" name="Google Shape;945;p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0121" y="4705350"/>
            <a:ext cx="1076954" cy="387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6" name="Google Shape;946;p10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84975" y="4673575"/>
            <a:ext cx="931226" cy="475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7" name="Google Shape;947;p106"/>
          <p:cNvPicPr preferRelativeResize="0"/>
          <p:nvPr/>
        </p:nvPicPr>
        <p:blipFill rotWithShape="1">
          <a:blip r:embed="rId6">
            <a:alphaModFix/>
          </a:blip>
          <a:srcRect b="1066" l="0" r="0" t="1076"/>
          <a:stretch/>
        </p:blipFill>
        <p:spPr>
          <a:xfrm>
            <a:off x="4505500" y="4758750"/>
            <a:ext cx="1261374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X PPT">
  <a:themeElements>
    <a:clrScheme name="PLH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0B1F0"/>
      </a:accent1>
      <a:accent2>
        <a:srgbClr val="FCA203"/>
      </a:accent2>
      <a:accent3>
        <a:srgbClr val="222299"/>
      </a:accent3>
      <a:accent4>
        <a:srgbClr val="D60066"/>
      </a:accent4>
      <a:accent5>
        <a:srgbClr val="0B4060"/>
      </a:accent5>
      <a:accent6>
        <a:srgbClr val="999999"/>
      </a:accent6>
      <a:hlink>
        <a:srgbClr val="30FFF5"/>
      </a:hlink>
      <a:folHlink>
        <a:srgbClr val="FF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PLH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0B1F0"/>
      </a:accent1>
      <a:accent2>
        <a:srgbClr val="FCA203"/>
      </a:accent2>
      <a:accent3>
        <a:srgbClr val="222299"/>
      </a:accent3>
      <a:accent4>
        <a:srgbClr val="D60066"/>
      </a:accent4>
      <a:accent5>
        <a:srgbClr val="0B4060"/>
      </a:accent5>
      <a:accent6>
        <a:srgbClr val="999999"/>
      </a:accent6>
      <a:hlink>
        <a:srgbClr val="30FFF5"/>
      </a:hlink>
      <a:folHlink>
        <a:srgbClr val="FF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MX PPT">
  <a:themeElements>
    <a:clrScheme name="PLH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0B1F0"/>
      </a:accent1>
      <a:accent2>
        <a:srgbClr val="FCA203"/>
      </a:accent2>
      <a:accent3>
        <a:srgbClr val="222299"/>
      </a:accent3>
      <a:accent4>
        <a:srgbClr val="D60066"/>
      </a:accent4>
      <a:accent5>
        <a:srgbClr val="0B4060"/>
      </a:accent5>
      <a:accent6>
        <a:srgbClr val="999999"/>
      </a:accent6>
      <a:hlink>
        <a:srgbClr val="30FFF5"/>
      </a:hlink>
      <a:folHlink>
        <a:srgbClr val="FF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PLH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00B1F0"/>
      </a:accent1>
      <a:accent2>
        <a:srgbClr val="FCA203"/>
      </a:accent2>
      <a:accent3>
        <a:srgbClr val="222299"/>
      </a:accent3>
      <a:accent4>
        <a:srgbClr val="D60066"/>
      </a:accent4>
      <a:accent5>
        <a:srgbClr val="0B4060"/>
      </a:accent5>
      <a:accent6>
        <a:srgbClr val="999999"/>
      </a:accent6>
      <a:hlink>
        <a:srgbClr val="30FFF5"/>
      </a:hlink>
      <a:folHlink>
        <a:srgbClr val="FF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Blank">
  <a:themeElements>
    <a:clrScheme name="Custom 1">
      <a:dk1>
        <a:srgbClr val="0D3A5A"/>
      </a:dk1>
      <a:lt1>
        <a:srgbClr val="FEFFFF"/>
      </a:lt1>
      <a:dk2>
        <a:srgbClr val="02969A"/>
      </a:dk2>
      <a:lt2>
        <a:srgbClr val="FEFFFF"/>
      </a:lt2>
      <a:accent1>
        <a:srgbClr val="02969A"/>
      </a:accent1>
      <a:accent2>
        <a:srgbClr val="FE5E00"/>
      </a:accent2>
      <a:accent3>
        <a:srgbClr val="E3027C"/>
      </a:accent3>
      <a:accent4>
        <a:srgbClr val="ED0000"/>
      </a:accent4>
      <a:accent5>
        <a:srgbClr val="F2F2F2"/>
      </a:accent5>
      <a:accent6>
        <a:srgbClr val="0E3959"/>
      </a:accent6>
      <a:hlink>
        <a:srgbClr val="4E5CD7"/>
      </a:hlink>
      <a:folHlink>
        <a:srgbClr val="009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