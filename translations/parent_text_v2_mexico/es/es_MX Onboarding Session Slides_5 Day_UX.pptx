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comments+xml" PartName="/ppt/comments/comment3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Master+xml" PartName="/ppt/slideMasters/slideMaster6.xml"/>
  <Override ContentType="application/vnd.openxmlformats-officedocument.presentationml.slideMaster+xml" PartName="/ppt/slideMasters/slideMaster5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7.xml"/>
  <Override ContentType="application/vnd.openxmlformats-officedocument.theme+xml" PartName="/ppt/theme/theme6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6" r:id="rId4"/>
    <p:sldMasterId id="2147483697" r:id="rId5"/>
    <p:sldMasterId id="2147483698" r:id="rId6"/>
    <p:sldMasterId id="2147483699" r:id="rId7"/>
    <p:sldMasterId id="2147483700" r:id="rId8"/>
    <p:sldMasterId id="2147483701" r:id="rId9"/>
  </p:sldMasterIdLst>
  <p:notesMasterIdLst>
    <p:notesMasterId r:id="rId1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</p:sldIdLst>
  <p:sldSz cy="5143500" cx="9144000"/>
  <p:notesSz cx="6858000" cy="9144000"/>
  <p:embeddedFontLst>
    <p:embeddedFont>
      <p:font typeface="Noto Sans Thin"/>
      <p:regular r:id="rId52"/>
      <p:bold r:id="rId53"/>
      <p:italic r:id="rId54"/>
      <p:boldItalic r:id="rId55"/>
    </p:embeddedFont>
    <p:embeddedFont>
      <p:font typeface="Noto Sans"/>
      <p:regular r:id="rId56"/>
      <p:bold r:id="rId57"/>
      <p:italic r:id="rId58"/>
      <p:boldItalic r:id="rId59"/>
    </p:embeddedFont>
    <p:embeddedFont>
      <p:font typeface="Noto Sans SemiBold"/>
      <p:regular r:id="rId60"/>
      <p:bold r:id="rId61"/>
      <p:italic r:id="rId62"/>
      <p:boldItalic r:id="rId63"/>
    </p:embeddedFont>
    <p:embeddedFont>
      <p:font typeface="Delicious Handrawn"/>
      <p:regular r:id="rId6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3" name="Deepali Barapatre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0.xml"/><Relationship Id="rId42" Type="http://schemas.openxmlformats.org/officeDocument/2006/relationships/slide" Target="slides/slide32.xml"/><Relationship Id="rId41" Type="http://schemas.openxmlformats.org/officeDocument/2006/relationships/slide" Target="slides/slide31.xml"/><Relationship Id="rId44" Type="http://schemas.openxmlformats.org/officeDocument/2006/relationships/slide" Target="slides/slide34.xml"/><Relationship Id="rId43" Type="http://schemas.openxmlformats.org/officeDocument/2006/relationships/slide" Target="slides/slide33.xml"/><Relationship Id="rId46" Type="http://schemas.openxmlformats.org/officeDocument/2006/relationships/slide" Target="slides/slide36.xml"/><Relationship Id="rId45" Type="http://schemas.openxmlformats.org/officeDocument/2006/relationships/slide" Target="slides/slide35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48" Type="http://schemas.openxmlformats.org/officeDocument/2006/relationships/slide" Target="slides/slide38.xml"/><Relationship Id="rId47" Type="http://schemas.openxmlformats.org/officeDocument/2006/relationships/slide" Target="slides/slide37.xml"/><Relationship Id="rId49" Type="http://schemas.openxmlformats.org/officeDocument/2006/relationships/slide" Target="slides/slide3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31" Type="http://schemas.openxmlformats.org/officeDocument/2006/relationships/slide" Target="slides/slide21.xml"/><Relationship Id="rId30" Type="http://schemas.openxmlformats.org/officeDocument/2006/relationships/slide" Target="slides/slide20.xml"/><Relationship Id="rId33" Type="http://schemas.openxmlformats.org/officeDocument/2006/relationships/slide" Target="slides/slide23.xml"/><Relationship Id="rId32" Type="http://schemas.openxmlformats.org/officeDocument/2006/relationships/slide" Target="slides/slide22.xml"/><Relationship Id="rId35" Type="http://schemas.openxmlformats.org/officeDocument/2006/relationships/slide" Target="slides/slide25.xml"/><Relationship Id="rId34" Type="http://schemas.openxmlformats.org/officeDocument/2006/relationships/slide" Target="slides/slide24.xml"/><Relationship Id="rId37" Type="http://schemas.openxmlformats.org/officeDocument/2006/relationships/slide" Target="slides/slide27.xml"/><Relationship Id="rId36" Type="http://schemas.openxmlformats.org/officeDocument/2006/relationships/slide" Target="slides/slide26.xml"/><Relationship Id="rId39" Type="http://schemas.openxmlformats.org/officeDocument/2006/relationships/slide" Target="slides/slide29.xml"/><Relationship Id="rId38" Type="http://schemas.openxmlformats.org/officeDocument/2006/relationships/slide" Target="slides/slide28.xml"/><Relationship Id="rId62" Type="http://schemas.openxmlformats.org/officeDocument/2006/relationships/font" Target="fonts/NotoSansSemiBold-italic.fntdata"/><Relationship Id="rId61" Type="http://schemas.openxmlformats.org/officeDocument/2006/relationships/font" Target="fonts/NotoSansSemiBold-bold.fntdata"/><Relationship Id="rId20" Type="http://schemas.openxmlformats.org/officeDocument/2006/relationships/slide" Target="slides/slide10.xml"/><Relationship Id="rId64" Type="http://schemas.openxmlformats.org/officeDocument/2006/relationships/font" Target="fonts/DeliciousHandrawn-regular.fntdata"/><Relationship Id="rId63" Type="http://schemas.openxmlformats.org/officeDocument/2006/relationships/font" Target="fonts/NotoSansSemiBold-boldItalic.fntdata"/><Relationship Id="rId22" Type="http://schemas.openxmlformats.org/officeDocument/2006/relationships/slide" Target="slides/slide12.xml"/><Relationship Id="rId21" Type="http://schemas.openxmlformats.org/officeDocument/2006/relationships/slide" Target="slides/slide11.xml"/><Relationship Id="rId24" Type="http://schemas.openxmlformats.org/officeDocument/2006/relationships/slide" Target="slides/slide14.xml"/><Relationship Id="rId23" Type="http://schemas.openxmlformats.org/officeDocument/2006/relationships/slide" Target="slides/slide13.xml"/><Relationship Id="rId60" Type="http://schemas.openxmlformats.org/officeDocument/2006/relationships/font" Target="fonts/NotoSansSemiBold-regular.fntdata"/><Relationship Id="rId26" Type="http://schemas.openxmlformats.org/officeDocument/2006/relationships/slide" Target="slides/slide16.xml"/><Relationship Id="rId25" Type="http://schemas.openxmlformats.org/officeDocument/2006/relationships/slide" Target="slides/slide15.xml"/><Relationship Id="rId28" Type="http://schemas.openxmlformats.org/officeDocument/2006/relationships/slide" Target="slides/slide18.xml"/><Relationship Id="rId27" Type="http://schemas.openxmlformats.org/officeDocument/2006/relationships/slide" Target="slides/slide17.xml"/><Relationship Id="rId29" Type="http://schemas.openxmlformats.org/officeDocument/2006/relationships/slide" Target="slides/slide19.xml"/><Relationship Id="rId51" Type="http://schemas.openxmlformats.org/officeDocument/2006/relationships/slide" Target="slides/slide41.xml"/><Relationship Id="rId50" Type="http://schemas.openxmlformats.org/officeDocument/2006/relationships/slide" Target="slides/slide40.xml"/><Relationship Id="rId53" Type="http://schemas.openxmlformats.org/officeDocument/2006/relationships/font" Target="fonts/NotoSansThin-bold.fntdata"/><Relationship Id="rId52" Type="http://schemas.openxmlformats.org/officeDocument/2006/relationships/font" Target="fonts/NotoSansThin-regular.fntdata"/><Relationship Id="rId11" Type="http://schemas.openxmlformats.org/officeDocument/2006/relationships/slide" Target="slides/slide1.xml"/><Relationship Id="rId55" Type="http://schemas.openxmlformats.org/officeDocument/2006/relationships/font" Target="fonts/NotoSansThin-boldItalic.fntdata"/><Relationship Id="rId10" Type="http://schemas.openxmlformats.org/officeDocument/2006/relationships/notesMaster" Target="notesMasters/notesMaster1.xml"/><Relationship Id="rId54" Type="http://schemas.openxmlformats.org/officeDocument/2006/relationships/font" Target="fonts/NotoSansThin-italic.fntdata"/><Relationship Id="rId13" Type="http://schemas.openxmlformats.org/officeDocument/2006/relationships/slide" Target="slides/slide3.xml"/><Relationship Id="rId57" Type="http://schemas.openxmlformats.org/officeDocument/2006/relationships/font" Target="fonts/NotoSans-bold.fntdata"/><Relationship Id="rId12" Type="http://schemas.openxmlformats.org/officeDocument/2006/relationships/slide" Target="slides/slide2.xml"/><Relationship Id="rId56" Type="http://schemas.openxmlformats.org/officeDocument/2006/relationships/font" Target="fonts/NotoSans-regular.fntdata"/><Relationship Id="rId15" Type="http://schemas.openxmlformats.org/officeDocument/2006/relationships/slide" Target="slides/slide5.xml"/><Relationship Id="rId59" Type="http://schemas.openxmlformats.org/officeDocument/2006/relationships/font" Target="fonts/NotoSans-boldItalic.fntdata"/><Relationship Id="rId14" Type="http://schemas.openxmlformats.org/officeDocument/2006/relationships/slide" Target="slides/slide4.xml"/><Relationship Id="rId58" Type="http://schemas.openxmlformats.org/officeDocument/2006/relationships/font" Target="fonts/NotoSans-italic.fntdata"/><Relationship Id="rId17" Type="http://schemas.openxmlformats.org/officeDocument/2006/relationships/slide" Target="slides/slide7.xml"/><Relationship Id="rId16" Type="http://schemas.openxmlformats.org/officeDocument/2006/relationships/slide" Target="slides/slide6.xml"/><Relationship Id="rId19" Type="http://schemas.openxmlformats.org/officeDocument/2006/relationships/slide" Target="slides/slide9.xml"/><Relationship Id="rId18" Type="http://schemas.openxmlformats.org/officeDocument/2006/relationships/slide" Target="slides/slide8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4-02-22T10:00:40.392">
    <p:pos x="6000" y="0"/>
    <p:text>Editar esta diapositiva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4-02-23T11:08:03.809">
    <p:pos x="6000" y="0"/>
    <p:text>@grm.lmt@gmail.com Hola Lupita, ¿podrías ayudarme a crear una grabación de pantalla que muestre cómo utilizar el MENÚ para cambiar su configuración: su nombre, el nombre del niño, la fecha de nacimiento, etc. con narración?
Asignado a grm.lmt@gmail.com_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4-02-23T11:08:46.219">
    <p:pos x="6000" y="0"/>
    <p:text>@grm.lmt@gmail.com
Hola Lupita, ¿podrías ayudarme a crear una grabación de pantalla que muestre cómo utilizar el MENÚ para volver a ver las lecciones que han completado con narración?
Asignado a grm.lmt@gmail.com_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docs.google.com/presentation/d/1EXuJBIEbd-WohBCFeso0FmL0TNwOnl8fi36HQT_hrsE/edit#slide=id.p49" TargetMode="Externa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docs.google.com/presentation/d/1EXuJBIEbd-WohBCFeso0FmL0TNwOnl8fi36HQT_hrsE/edit#slide=id.p49" TargetMode="Externa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docs.google.com/presentation/d/1EXuJBIEbd-WohBCFeso0FmL0TNwOnl8fi36HQT_hrsE/edit#slide=id.p49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docs.google.com/presentation/d/1o7V0JSdmBSLBjrCS7IYqwjJS_w45Eo0J/edit#slide=id.g2742f19afeb_0_45" TargetMode="Externa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bb847491d1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Da una bienvenida cálida y alegre a cada participante que va llegando a la sesión. ¡Reconócelos y Halágalos por venir a Crianza con Conciencia +!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Una vez que hayan llegado todas las personas participantes, puedes dar formalmente la bienvenida al grupo a la sesión de integración de Crianza con Conciencia +.</a:t>
            </a:r>
            <a:endParaRPr sz="1200">
              <a:solidFill>
                <a:srgbClr val="0B406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0B406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312" name="Google Shape;312;g2bb847491d1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2bb847491d1_0_4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00">
                <a:solidFill>
                  <a:srgbClr val="E4007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Presentaciones (5 min) </a:t>
            </a:r>
            <a:endParaRPr sz="1300">
              <a:solidFill>
                <a:srgbClr val="E4007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 Instrucciones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Empieza invitando a cada padre, madre y cuidador a presentarse ante el grupo.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Pídele a cada participante que comparta lo siguiente: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Su nombre.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El número de niñas, niños o adolescentes que crían.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Una actividad que les guste hacer con sus niños, niñas o adolescentes.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Anima a todos a participar y asegúrate de que cada persona tenga la oportunidad de compartir.</a:t>
            </a:r>
          </a:p>
        </p:txBody>
      </p:sp>
      <p:sp>
        <p:nvSpPr>
          <p:cNvPr id="324" name="Google Shape;324;g2bb847491d1_0_4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2bb8474946d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00">
                <a:solidFill>
                  <a:srgbClr val="E4007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Conociéndonos (5 min)  </a:t>
            </a:r>
            <a:endParaRPr sz="1300">
              <a:solidFill>
                <a:srgbClr val="E4007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Resumen</a:t>
            </a:r>
            <a:r>
              <a:rPr b="1"/>
              <a:t> </a:t>
            </a:r>
            <a:endParaRPr b="1"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Esta actividad ayudará a los padres, madres y personas cuidadoras a apreciar la diversidad de la sala y a descubrir las conexiones entre unos y otros.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rPr>
                <a:solidFill>
                  <a:srgbClr val="0E3A5A"/>
                </a:solidFill>
              </a:rPr>
              <a:t>Instrucciones</a:t>
            </a:r>
            <a:r>
              <a:rPr>
                <a:solidFill>
                  <a:srgbClr val="113D5C"/>
                </a:solidFill>
              </a:rPr>
              <a:t> 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con los padres, madres y personas cuidadoras que este ejercicio se hará en silencio. El facilitador leerá algunas de las afirmaciones (una a la vez).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Al final de cada afirmación, el facilitador hará una pausa.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Indícales a las personas participantes que si la afirmación es cierta para alguien, debe de dar un paso hacia el interior del círculo.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Toma un momento para que cada participante observe quién está en el círculo con ellos y quién no.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Después, deben regresar a la línea del círculo para escuchar la siguiente afirmación.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Cuando se hayan leído todas las preguntas, invita a las personas participantes a añadir, de uno en uno, una afirmación que sea cierta para ellos y que no se haya mencionado ya.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Lee las siguientes afirmaciones en voz alta: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Solo tengo una niña o un niño increíble.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Algunas mañanas, realmente quiero dormir hasta mediodía.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Bailar es mi actividad favorita.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Soy padre, madre o cuidador de un adolescente.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Siento que ser adulto es difícil, pero me esfuerzo al máximo.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Cantar me ayuda a aliviar el estrés.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Soy padre, madre o cuidador de una niña o un niño.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Todavía no domino el cambiar pañales.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Me gusta dibujar o pintar.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 Tengo más de una niña, niño o adolescente. 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Quiero aprender de los aciertos y errores de mi madre o padre.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Me encanta cocinar.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Cuando juego con mi niña o niño, yo también me convierto en niña o niño.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Me gustaría mejorar mi relación con mi niña, niño o adolescente.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Después de leer las afirmaciones, anima a los padres, madres y personas cuidadoras a reflexionar sobre las conexiones que comparten con todos los presentes. Comparte con los padres, madres y cuidadores que nuestras experiencias pueden variar, pero la diversidad del grupo es lo que hace que nuestra comunidad de crianza sea enriquecedora y vibrante. A pesar de tener diferentes orígenes y trayectorias, podemos aprender lecciones valiosas unos de otros.</a:t>
            </a:r>
          </a:p>
        </p:txBody>
      </p:sp>
      <p:sp>
        <p:nvSpPr>
          <p:cNvPr id="329" name="Google Shape;329;g2bb8474946d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2bb847491d1_0_11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con los padres, madres y cuidadores los objetivos y los beneficios de formar parte de Crianza con Conciencia +.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El programa Crianza con Conciencia + está dirigido a padres, madres y personas cuidadoras con niños, niñas o adolescentes de entre 2 y 17 años.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334" name="Google Shape;334;g2bb847491d1_0_11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2bbec03bd81_0_28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Ahora bien, cuando decimos "padres, madres y personas cuidadoras" y "crianza", nos referimos a alguien que cuida de los niños, niñas o adolescentes, sea esa persona su madre o padre biológico o no. Esto incluye a cualquier persona que sea un cuidador principal responsable del bienestar de la niña o el niño.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341" name="Google Shape;341;g2bbec03bd81_0_2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bb847491d1_0_116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finalidad de Crianza con Conciencia + es ayudar a construir relaciones abiertas, afectuosas y de confianza entre los cuidadores y sus niños, niñas o adolescentes. Cuando tenemos relaciones sanas y positivas, estas ayudan a los padres, madres y personas cuidadoras a mantener seguros a sus niños, niñas o adolescentes y apoyan su crecimiento y su desarrollo.</a:t>
            </a:r>
          </a:p>
        </p:txBody>
      </p:sp>
      <p:sp>
        <p:nvSpPr>
          <p:cNvPr id="348" name="Google Shape;348;g2bb847491d1_0_116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2bb847491d1_0_11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5" name="Google Shape;355;g2bb847491d1_0_11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Crianza con Conciencia + consta de tres partes: </a:t>
            </a:r>
            <a:br>
              <a:rPr lang="en-US"/>
            </a:br>
            <a:br>
              <a:rPr lang="en-US"/>
            </a:br>
            <a:r>
              <a:t>1. La sesión de integración presencial, de la que formas parte en este momento </a:t>
            </a: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2. Cursos llevados a cabo en el chatbot de WhatsApp donde aprenderás tips para mejorar tu relación con tu niña, niño o adolescente. </a:t>
            </a: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3. Un grupo de WhatsApp con otros padres, madres, cuidadores y facilitadores para hacer preguntas y discutir temas de crianza. </a:t>
            </a: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2bb847491d1_0_11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1" name="Google Shape;371;g2bb847491d1_0_11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Los padres, madres y cuidadores reciben tips diarios sobre la crianza por WhatsApp para ayudarles en la relación con su niña, niño o adolescente (solo necesitan 5 minutos al día). Los padres, madres y cuidadores recibirán 5 sesiones para mejorar su relación con su niña, niño o adolescente: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2bb847491d1_0_11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2" name="Google Shape;382;g2bb847491d1_0_11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  <a:defRPr sz="1200">
                <a:solidFill>
                  <a:schemeClr val="dk1"/>
                </a:solidFill>
              </a:defRPr>
            </a:pPr>
            <a:r>
              <a:t>Comparte el nombre y el objetivo de cada sesión con los padres, madres y cuidadores.  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2bb847491d1_0_12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7" name="Google Shape;397;g2bb847491d1_0_1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bb8474946d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g2bb8474946d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Además de las 5 sesiones diarias, las personas participantes también tendrán acceso a: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Actividades lúdicas para hacer con su niña, niño o adolescente al final de cada sesión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Recursos adicionales si necesitan ayuda con situaciones de abuso de sustancias, salud mental, violencia o violencia sexual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2bb847491d1_0_12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7" name="Google Shape;427;g2bb847491d1_0_1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Los padres, madres y cuidadores participan en sesiones de chat de WhatsApp para aprender a cuidar de su salud mental con el fin de apoyarse a sí mismos y a sus familias. Los padres, madres y personas cuidadoras también pueden compartir sus experiencias en torno a las clases ofrecidas a través de Crianza con Conciencia + chatbot.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Hay tres sesiones de chat: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Después de la sesión de integración: Bienvenida y presentaciones.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Día 3: Diálogo Interno: Sesión de chat de WhatsApp sobre el diálogo interno y el estrés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Día 5: Despedida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El Facilitador solo compartirá los temas de debate o discusión en el Grupo de Comunidad de WhatsApp. las personas facilitadoras </a:t>
            </a:r>
            <a:r>
              <a:rPr b="1"/>
              <a:t>no son moderadores</a:t>
            </a:r>
            <a:r>
              <a:t>; solo interferirán si el contenido discutido va en contra de las prácticas de crianza positiva.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bb847491d1_0_12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8" name="Google Shape;438;g2bb847491d1_0_12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Aquí tienes un resumen de cómo serán los cinco días del programa: </a:t>
            </a:r>
            <a:br>
              <a:rPr lang="en-US"/>
            </a:b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2bb847491d1_0_1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Para que esta actividad sea interactiva, pídele a las personas participantes que le demuestren al grupo cómo hacer lo siguiente (y corrige/guía si es necesario):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Prender y apagar el teléfono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80340" lvl="0" marL="18034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	Muéstrale a las personas participantes: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prender y apagar el teléfono. Señala claramente los tres botones laterales (encendido/apagado, subir/bajar volumen).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Dónde y cómo insertar una tarjeta sim y asegurarse de que funciona correctamente una vez prendido el teléfono.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79705" lvl="0" marL="360045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Habla sobre el PIN de la tarjeta SIM y de cómo puede bloquearse si no se introduce correctamente.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por los ajustes del teléfono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79705" lvl="0" marL="360045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Muéstrale a las personas participantes: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aumentar y disminuir el brillo del teléfono.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instalar y desinstalar aplicaciones.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hacer y compartir capturas de pantalla (esto es clave para cuando tienen problemas técnicos).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	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por los ajustes de WhatsApp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79705" lvl="0" marL="360045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Recuérdale a las personas participantes que recibirán el contenido del chatbot de Crianza con Conciencia + por WhatsApp.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79705" lvl="0" marL="360045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Muéstrale a las personas participantes: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encontrar y abrir WhatsApp.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responder a los mensajes/indicaciones de Crianza con Conciencia + chatbot (para recibir el siguiente contenido).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abrir imágenes.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abrir archivos de audio/video.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Cargar el teléfono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Muestra cómo introducir correctamente el cargador del teléfono para evitar descomponer el sistema de carga.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Enfatiza la importancia de desconectar el teléfono del cargador una vez que esté completamente cargado para evitar la sobrecarga.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Utiliza el cargador original del teléfono para cargarlo.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Activar y desactivar los datos móviles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Muéstrale a las personas participantes cómo activar y desactivar los datos. Señala cómo cambia la barra de estado cuando los datos están activados o desactivados (H+/3G/4G en la barra de red).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Haz hincapié en que los datos no deben dejarse encendidos todo el tiempo, para minimizar el uso del paquete de datos y optimizar el uso de la batería.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Muéstrale a las personas participantes cómo revisar el saldo del paquete de datos y/o el uso de los datos.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Gestionar el almacenamiento interno del celular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Asegúrate de que las personas participantes entiendan que las aplicaciones, los videos, la música y las imágenes ocupan espacio en el teléfono y que este no funcionará correctamente si está demasiado lleno.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79705" lvl="0" marL="360045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Muéstrale a las personas participantes cómo liberar espacio de almacenamiento si es necesario: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Borrar archivos como videos, audio, imágenes, etc.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Desinstalar aplicaciones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80340" lvl="0" marL="180340" rtl="0" algn="just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	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Conciencia digital: Seguridad en Internet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Habla sobre los riesgos de hacer clic en enlaces sospechosos y de suplantación de identidad en Internet.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Asegúrate de que las personas participantes entiendan que no se debe compartir información personal específica con personas o fuentes desconocidas, por ejemplo: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Contraseñas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Información de sus cuentas bancarias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Ubicaciones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Imágenes o videos personales/sensibles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28600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56540" lvl="0" marL="18034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Cómo evitar dañar tu teléfono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Muéstrale a las personas participantes cómo acceder al bloqueo de contraseña/patrón para proteger su teléfono de otros usuarios no autorizados.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1803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Habla sobre la importancia de manejar los teléfonos con cuidado, por ejemplo: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Mantener los teléfonos fuera del alcance de sus niños, niñas o adolescentes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Mantener los teléfonos alejados de la luz solar directa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Mantener los teléfonos alejados de áreas de trabajo que puedan dañarlos, por ejemplo, agua, fuego, etc.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502" name="Google Shape;502;g2bb847491d1_0_12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2bbec03bd81_0_2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Resumen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descripción general y las instrucciones para esta actividad se pueden encontrar en Cómo Usar Crianza con Conciencia + Chatbot en tu Guía para el Facilitador.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rgbClr val="113D5C"/>
                </a:solidFill>
              </a:rPr>
              <a:t>Instrucciones (</a:t>
            </a:r>
            <a:r>
              <a:rPr u="sng">
                <a:solidFill>
                  <a:srgbClr val="1155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Diapositiva</a:t>
            </a:r>
            <a:r>
              <a:rPr>
                <a:solidFill>
                  <a:srgbClr val="113D5C"/>
                </a:solidFill>
              </a:rPr>
              <a:t>)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los siguientes puntos con las personas participantes: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personas facilitadoras deben modelar todo lo básico para poder usar un teléfono celular (aún si ya lo pueden hacer).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Esta actividad le ayudará a los padres, madres y cuidadores a tener los conocimientos básicos para poder usar un teléfono celular (si es que no los tienen aún) y empezar a interactuar con el chatbot de Crianza con Conciencia +.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esta lista de cosas que el facilitador debe de hacer en la demostración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Prender y apagar 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en el menú de configuración del celular - ajustar el brillo, instalar y desinstalar apps, tomar y compartir capturas de pantalla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en el menú de Configuración de WhatsApp - responder mensajes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Cargar 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Activar y desactivar los datos móviles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Gestionar el almacenamiento interno del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Seguridad digital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Prevenir daños al teléfono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Recuérdale a las personas participantes que deben de ofrecer ayuda considerando las necesidades individuales de cada quién, especialmente de aquellas personas que no estén familiarizadas con un teléfono móvil o celular.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Pregúntale a las personas participantes si tienen alguna duda.</a:t>
            </a:r>
          </a:p>
        </p:txBody>
      </p:sp>
      <p:sp>
        <p:nvSpPr>
          <p:cNvPr id="510" name="Google Shape;510;g2bbec03bd81_0_2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2bbec03bd81_0_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Resumen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descripción general y las instrucciones para esta actividad se pueden encontrar en Cómo Usar Crianza con Conciencia + Chatbot en tu Guía para el Facilitador.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rgbClr val="113D5C"/>
                </a:solidFill>
              </a:rPr>
              <a:t>Instrucciones (</a:t>
            </a:r>
            <a:r>
              <a:rPr u="sng">
                <a:solidFill>
                  <a:srgbClr val="1155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Diapositiva</a:t>
            </a:r>
            <a:r>
              <a:rPr>
                <a:solidFill>
                  <a:srgbClr val="113D5C"/>
                </a:solidFill>
              </a:rPr>
              <a:t>)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los siguientes puntos con las personas participantes: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personas facilitadoras deben modelar todo lo básico para poder usar un teléfono celular (aún si ya lo pueden hacer).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Esta actividad le ayudará a los padres, madres y cuidadores a tener los conocimientos básicos para poder usar un teléfono celular (si es que no los tienen aún) y empezar a interactuar con Crianza con Conciencia + chatbot.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esta lista de cosas que el facilitador debe de hacer en la demostración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Prender y apagar 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en el menú de configuración del celular - ajustar el brillo, instalar y desinstalar apps, tomar y compartir capturas de pantalla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en el menú de Configuración de WhatsApp - responder mensajes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Cargar 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Activar y desactivar los datos móviles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Gestionar el almacenamiento interno del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Seguridad digital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Prevenir daños al teléfono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Recuérdale a las personas participantes que deben de ofrecer ayuda considerando las necesidades individuales de cada quién, especialmente de aquellas personas que no estén familiarizadas con un teléfono móvil o celular.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Pregúntale a las personas participantes si tienen alguna duda.</a:t>
            </a:r>
          </a:p>
        </p:txBody>
      </p:sp>
      <p:sp>
        <p:nvSpPr>
          <p:cNvPr id="517" name="Google Shape;517;g2bbec03bd81_0_2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2bbec03bd81_0_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Resumen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descripción general y las instrucciones para esta actividad se pueden encontrar en Cómo Usar Crianza con Conciencia + Chatbot en tu Guía para el Facilitador.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rgbClr val="113D5C"/>
                </a:solidFill>
              </a:rPr>
              <a:t>Instrucciones (</a:t>
            </a:r>
            <a:r>
              <a:rPr u="sng">
                <a:solidFill>
                  <a:srgbClr val="1155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Diapositiva</a:t>
            </a:r>
            <a:r>
              <a:rPr>
                <a:solidFill>
                  <a:srgbClr val="113D5C"/>
                </a:solidFill>
              </a:rPr>
              <a:t>)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los siguientes puntos con las personas participantes: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personas facilitadoras deben modelar todo lo básico para poder usar un teléfono celular (aún si ya lo pueden hacer).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1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Esta actividad le ayudará a los padres, madres y cuidadores a tener los conocimientos básicos para poder usar un teléfono celular (si es que no los tienen aún) y empezar a interactuar con Crianza con Conciencia + chatbot.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esta lista de cosas que el facilitador debe de hacer en la demostración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Prender y apagar 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en el menú de configuración del celular - ajustar el brillo, instalar y desinstalar apps, tomar y compartir capturas de pantalla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Navegar en el menú de Configuración de WhatsApp - responder mensajes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Cargar 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Activar y desactivar los datos móviles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Gestionar el almacenamiento interno del celular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Seguridad digital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Prevenir daños al teléfono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Recuérdale a las personas participantes que deben de ofrecer ayuda considerando las necesidades individuales de cada quién, especialmente de aquellas personas que no estén familiarizadas con un teléfono móvil o celular.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Pregúntale a las personas participantes si tienen alguna duda.</a:t>
            </a:r>
          </a:p>
        </p:txBody>
      </p:sp>
      <p:sp>
        <p:nvSpPr>
          <p:cNvPr id="524" name="Google Shape;524;g2bbec03bd81_0_2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bb847491d1_0_130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56540" lvl="0" marL="18034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Inicia un chat de WhatsApp con Crianza con Conciencia + chatbot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79705" lvl="0" marL="360045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Dale a las personas participantes las siguientes instrucciones: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Abre o desbloquea tu teléfono.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Guarda el número de teléfono del chatbot de Crianza con Conciencia + (+6-012-292-7434</a:t>
            </a:r>
            <a:r>
              <a:rPr>
                <a:highlight>
                  <a:srgbClr val="FFFFFF"/>
                </a:highlight>
              </a:rPr>
              <a:t>) </a:t>
            </a:r>
            <a:r>
              <a:t>como contacto.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531" name="Google Shape;531;g2bb847491d1_0_130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2bb847491d1_0_13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7" name="Google Shape;537;g2bb847491d1_0_1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2bb847491d1_0_13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30505" lvl="0" marL="360045" rtl="0"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Abre WhatsApp, busca "Crianza con Conciencia +" e inicia un chat escribiendo INICIAR. </a:t>
            </a:r>
          </a:p>
        </p:txBody>
      </p:sp>
      <p:sp>
        <p:nvSpPr>
          <p:cNvPr id="556" name="Google Shape;556;g2bb847491d1_0_13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bb847491d1_0_13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1" name="Google Shape;561;g2bb847491d1_0_13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2bb847491d1_0_13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3" name="Google Shape;583;g2bb847491d1_0_13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g2bb847491d1_0_13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281175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Antes del siguiente paso, Crianza con Conciencia + chatbot generará un número de 6 dígitos como identificador único para cada padre, madre y persona cuidadora. Al final de la sesión de integración, las personas facilitadoras asociarán el identificador único del padre, madre o cuidador con la app Formando Conciencia +.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281175" rtl="0" algn="just"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Consulta la sección "Cómo Informar sobre la Implementación del Programa" de la Guía de la Persona Facilitadora de Formando Conciencia + para obtener orientación sobre este proceso.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281175" rtl="0" algn="just"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br>
              <a:rPr b="1" lang="en-US" sz="1200" u="sng">
                <a:solidFill>
                  <a:schemeClr val="dk1"/>
                </a:solidFill>
              </a:rPr>
            </a:br>
            <a:r>
              <a:t>Dile a las personas participantes que sigan las indicaciones de Crianza con Conciencia +. Crianza con Conciencia + les pedirá que: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Escriban su nombre y apellidos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Elijan su género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Estado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Elijan su situación sentimental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611" name="Google Shape;611;g2bb847491d1_0_13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b8474946d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79400" lvl="0" marL="809999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Escriban el nombre de su niña o niño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Género de la niña o del niño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Fecha de nacimiento de la niña o del niño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619" name="Google Shape;619;g2bb8474946d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2bb8474946d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269999" marR="281175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Si el padre, madre o cuidador tiene varios niños, niñas o adolescentes, pídele que al inscribirse en el programa elija a la niña, niño o adolescente que presente más problemas de conducta. Recuérdale que las sesiones que lleven del programa pueden aplicarse a todos los niños, niñas o adolescentes. Sin embargo, para lo que dure el programa, pídele que se centre solo en una niña o un niño.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628" name="Google Shape;628;g2bb8474946d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2bb847491d1_0_13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Video de introducción: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4500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Pídele a las personas participantes que hagan una pausa cuando aparezca el vídeo de introducción de 5 minutos que explica cómo funciona Crianza con Conciencia + en su chatbot.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45000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Reproduce el video en la pantalla. Pregúntale a las personas participantes si tienen alguna duda.</a:t>
            </a: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636" name="Google Shape;636;g2bb847491d1_0_13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2bb847491d1_0_13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5400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Dile a las personas participantes que sigan las indicaciones de Crianza con Conciencia +. Crianza con Conciencia + les pedirá que: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1" marL="91440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○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Elijan cómo quieren recibir los mensajes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Texto, Imágenes y Videos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3" marL="18288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Selecciona esta opción si leer representa un reto para ti, y </a:t>
            </a:r>
            <a:r>
              <a:rPr b="1"/>
              <a:t>no</a:t>
            </a:r>
            <a:r>
              <a:rPr b="1"/>
              <a:t> </a:t>
            </a:r>
            <a:r>
              <a:t>necesitas cuidar tu uso de datos móviles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Texto, Imágenes y Audio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3" marL="18288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Selecciona esta opción si leer representa un reto para ti, y </a:t>
            </a:r>
            <a:r>
              <a:rPr b="1"/>
              <a:t>sí </a:t>
            </a:r>
            <a:r>
              <a:t>necesitas cuidar tu uso de datos móviles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Solo Texto e Imágenes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3" marL="18288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Selecciona esta opción si leer </a:t>
            </a:r>
            <a:r>
              <a:rPr b="1"/>
              <a:t>NO</a:t>
            </a:r>
            <a:r>
              <a:t> representa un reto para ti, y </a:t>
            </a:r>
            <a:r>
              <a:rPr b="1"/>
              <a:t>sí</a:t>
            </a:r>
            <a:r>
              <a:t>necesitas cuidar tu uso de datos móviles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642" name="Google Shape;642;g2bb847491d1_0_13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2bb847491d1_0_140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659" name="Google Shape;659;g2bb847491d1_0_140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2bb847491d1_0_14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300">
                <a:solidFill>
                  <a:srgbClr val="E4007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Primera Habilidad de Crianza: El Autocuidado (5 min) </a:t>
            </a:r>
            <a:endParaRPr sz="1300">
              <a:solidFill>
                <a:srgbClr val="E4007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Instrucciones </a:t>
            </a:r>
            <a:endParaRPr sz="1200" u="sng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con los padres, las madres y los cuidadores que comenzaremos Crianza con Conciencia + aprendiendo un breve ejercicio de relajación.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crianza puede ser difícil y es útil aprender un ejercicio de relajación que los padres, las madres y las personas cuidadoras puedan usar siempre que sientan enojo o estrés. Es una gran herramienta de crianza y una habilidad para la vida.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Dile a las personas participantes que sigan las indicaciones de Crianza con Conciencia +. Crianza con Conciencia + les pedirá que hagan el ejercicio de autocuidado.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Reproduce el video o el audio para todo el grupo y practiquen juntos el ejercicio.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Pregúntale a los padres, madres y personas cuidadoras si tienen alguna duda sobre el ejercicio.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45000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4" name="Google Shape;664;g2bb847491d1_0_14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2bb847491d1_0_14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00">
                <a:solidFill>
                  <a:srgbClr val="E4007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Revisión general de la primera sesión del chatbot de Crianza con Conciencia + (5 min) </a:t>
            </a:r>
            <a:endParaRPr sz="1300">
              <a:solidFill>
                <a:srgbClr val="E4007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Resumen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Padres, madres y cuidadores explorarán la primera sesión en el chatbot para ver qué se incluye normalmente en una sesión de Crianza con Conciencia +.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Instrucciones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Pídele a los padres, madres y cuidadores que se tomen un momento y completen la primera sesión, "Pasar Tiempo Uno a Uno con Mi Niña o Niño/Adolescente" en sus teléfonos. Recuérdales que no se trata de obtener cada una de las respuestas correctas en el cuestionario de la sesión, sino que todos estamos aquí para aprender juntos.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Tras completar la sesión, pide que compartan sus experiencias con el resto del grupo. Discute los temas que se incluyeron en la sesión y las ideas que surgieron.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los siguientes puntos con los padres, las madres y personas cuidadores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Aunque no todas las sesiones incluirán cuestionarios y historietas, cada una de ellas incluirá tips o consejos.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sesión de cada persona será un poco diferente, ya que se personalizan según el perfil de los padres, madres o cuidadores.</a:t>
            </a:r>
          </a:p>
        </p:txBody>
      </p:sp>
      <p:sp>
        <p:nvSpPr>
          <p:cNvPr id="670" name="Google Shape;670;g2bb847491d1_0_14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2bbec03bd8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675" name="Google Shape;675;g2bbec03bd8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bbec03bd81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Resumen 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personas participantes pueden encontrarse con algunos desafíos al interactuar con Crianza con Conciencia + chatbot. Enséñales a las personas participantes cómo solucionar problemas con el chat automatizado.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Instrucciones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Pídele a las personas participantes que se muestren unos a otros cómo resolver los siguientes desafíos: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Estoy atorado en Crianza con Conciencia +, o no aparece el botón "Siguiente".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1" marL="9144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○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Escribe y manda la palabra SIGUIENTE para navegar a tu siguiente actividad.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No sé cómo acceder al Menú Principal ni sé qué hace el Menú.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1" marL="9144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○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Escribe y manda la palabra MENÚ en cualquier momento para: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Seguir tu progreso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Cambiar la configuración (cómo/cuándo recibir mensajes, actualizar tus datos para contenido personalizado)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Volver a ver el video de integración y obtener tips para navegar en Crianza con Conciencia +.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Obtener ayuda para superar desafíos específicos al aplicar las habilidades aprendidas.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Tengo una emergencia y necesito ayuda urgente.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1" marL="9144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○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Escribe y manda la palabra AYUDA, en cualquier momento, para acceder a datos de contacto y recursos en tu comunidad en caso de necesitar ayuda relacionada con violencia familiar, violencia sexual, salud mental u otras emergencias.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Pregúntale a los padres, madres y personas cuidadoras si tienen alguna duda sobre el uso de Crianza con Conciencia + Chatbot </a:t>
            </a:r>
          </a:p>
        </p:txBody>
      </p:sp>
      <p:sp>
        <p:nvSpPr>
          <p:cNvPr id="694" name="Google Shape;694;g2bbec03bd81_0_8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bbec03bd81_0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Usar MENÚ para cambiar la configuración </a:t>
            </a:r>
          </a:p>
        </p:txBody>
      </p:sp>
      <p:sp>
        <p:nvSpPr>
          <p:cNvPr id="715" name="Google Shape;715;g2bbec03bd81_0_30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g2bbec03bd81_0_3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Usar MENÚ para volver a ver las sesiones que han completado </a:t>
            </a:r>
          </a:p>
        </p:txBody>
      </p:sp>
      <p:sp>
        <p:nvSpPr>
          <p:cNvPr id="721" name="Google Shape;721;g2bbec03bd81_0_3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2bb847491d1_0_14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Resumen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Establecer reglas básicas que ayuden a hacer del programa un lugar seguro en donde puedan aprender juntos. Es importante que el grupo establezca reglas básicas para garantizar que su tiempo juntos y sus experiencias compartidas sean productivas. Estas reglas deben elaborarse en grupo y pertenecer al grupo.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reglas básicas también son útiles para ayudarte a dirigir estas sesiones como facilitador. Pueden ser útiles al recordarle a las personas participantes que </a:t>
            </a:r>
            <a:r>
              <a:rPr b="1"/>
              <a:t>ellas </a:t>
            </a:r>
            <a:r>
              <a:t>crearon las reglas para las sesiones.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rPr>
                <a:solidFill>
                  <a:srgbClr val="113D5C"/>
                </a:solidFill>
              </a:rPr>
              <a:t>Instrucciones </a:t>
            </a:r>
            <a:r>
              <a:rPr u="sng">
                <a:solidFill>
                  <a:srgbClr val="1155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(Diapositiva)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Compártele a las personas participantes que ahora se hablará sobre los pasos que siguen. Menciónales que llevarán las lecciones a través del chat automatizado y que tú llevarás las sesiones de chat con ellos en WhatsApp cada ciertos días.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Para que el grupo de WhatsApp sea un espacio seguro y cómodo para todas y todos, pídele a las personas participantes que piensen en qué es lo que consideran importante para que se puedan sentir cómodas, respetadas, seguras y apoyadas en el grupo.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¡Crianza con Conciencia + es un programa especial! Reúne a las familias para que aprendan y compartan experiencias comunes.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Al hablar de las Reglas Básicas, puedes usar el siguiente formato: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chemeClr val="dk1"/>
                </a:solidFill>
              </a:rPr>
              <a:t>Coloca </a:t>
            </a:r>
            <a:r>
              <a:rPr>
                <a:solidFill>
                  <a:srgbClr val="113D5C"/>
                </a:solidFill>
              </a:rPr>
              <a:t>un rotafolio</a:t>
            </a:r>
            <a:r>
              <a:rPr>
                <a:solidFill>
                  <a:schemeClr val="dk1"/>
                </a:solidFill>
              </a:rPr>
              <a:t> y escribe en la parte superior:</a:t>
            </a:r>
            <a:r>
              <a:rPr>
                <a:solidFill>
                  <a:srgbClr val="113D5C"/>
                </a:solidFill>
              </a:rPr>
              <a:t> </a:t>
            </a:r>
            <a:r>
              <a:rPr>
                <a:solidFill>
                  <a:schemeClr val="dk1"/>
                </a:solidFill>
              </a:rPr>
              <a:t>Reglas básicas </a:t>
            </a:r>
            <a:endParaRPr sz="12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Pídele a las personas participantes que compartan sus sugerencias.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Escribe las reglas y los comentarios en el rotafolio para conservarlos como referencia.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Asegúrate de que las Reglas Básicas describen comportamientos positivos.</a:t>
            </a:r>
            <a:r>
              <a:t> Puedes solicitar reglas sobre temas concretos, como el uso del celular, el respeto, etc.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Puedes repetir lo que oyes y explorar las reglas para asegurarte de que todos los miembros del grupo están de acuerdo y entienden.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Por ejemplo, si alguien menciona "Respeto", pregúntale qué significa para él o ella. ¿Qué tipo de comportamiento demuestra "Respeto"?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Asegúrate de que todo el mundo está de acuerdo y tiene la oportunidad de contribuir antes de pasar a otra sugerencia. </a:t>
            </a:r>
            <a:endParaRPr sz="12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Algunas reglas básicas útiles pueden incluir: 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b="1"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Reglas básicas para el chatbot Crianza con Conciencia +: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Comprométete a realizar las actividades diarias sugeridas.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Pide ayuda si tienes dificultades para acceder a las actividades.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latin typeface="Noto Sans"/>
                <a:ea typeface="Noto Sans"/>
                <a:cs typeface="Noto Sans"/>
                <a:sym typeface="Noto Sans"/>
              </a:defRPr>
            </a:pPr>
            <a:r>
              <a:rPr>
                <a:solidFill>
                  <a:schemeClr val="dk1"/>
                </a:solidFill>
              </a:rPr>
              <a:t>Asegúrate de que tienes datos móviles para realizar las actividades diarias de </a:t>
            </a:r>
            <a:r>
              <a:rPr>
                <a:solidFill>
                  <a:srgbClr val="113D5C"/>
                </a:solidFill>
              </a:rPr>
              <a:t>Crianza con Conciencia +</a:t>
            </a:r>
            <a:r>
              <a:rPr>
                <a:solidFill>
                  <a:schemeClr val="dk1"/>
                </a:solidFill>
              </a:rPr>
              <a:t>. </a:t>
            </a:r>
            <a:endParaRPr sz="12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Reglas básicas para el Grupo de Comunidad de WhatsApp:</a:t>
            </a:r>
            <a:endParaRPr b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Respeta la privacidad de las fotos y videos personales que se envíen al chat grupal.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Cada persona es diferente y tendrá distintas experiencias que compartir.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Respétense mutuamente prestando atención y tomando turnos para compartir y escuchar.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Lo que decimos en el grupo se queda en el grupo, tanto en persona como en línea.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solo aquello con lo que te sientas cómodo.</a:t>
            </a:r>
            <a:endParaRPr sz="12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El debate o la discusión en el grupo de WhatsApp se centrará únicamente en criar a una niña o niño, adolescente.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¡Siéntente libre de hacer cualquier pregunta!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Recuérdale a los padres, madres y personas cuidadoras que el grupo tiene reglas básicas para que se mantenga un ambiente positivo y todos se sientan cómodos compartiendo. Si alguien rompe una regla involuntariamente, las personas facilitadoras le enviarán al padre, madre o cuidador, un mensaje en privado con un recordatorio amable y le recapitularán las reglas a todo el grupo. Sin embargo, si un participante comparte algo inapropiado o sigue incumpliendo las reglas, es posible que el facilitador tenga que retirarlo para garantizar que el grupo siga siendo un espacio positivo.</a:t>
            </a:r>
            <a:endParaRPr sz="12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i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27" name="Google Shape;727;g2bb847491d1_0_14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g2bb847491d1_0_14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2" name="Google Shape;732;g2bb847491d1_0_14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00">
                <a:solidFill>
                  <a:srgbClr val="E4007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Rol del Facilitador (5 min) </a:t>
            </a:r>
            <a:endParaRPr sz="1300">
              <a:solidFill>
                <a:srgbClr val="E4007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Instrucciones 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con los padres, madres y personas cuidadoras que a lo largo de Crianza con Conciencia +, tu rol será: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De vez en cuando y hasta que finalice el curso, saluda y pregunta cómo van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Asegurarte de que todos los padres, madres y personas cuidadoras siguen las reglas básicas mencionadas anteriormente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Plantea preguntas sobre la crianza que puedan discutirse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Denuncia cualquier caso de abuso hacia niñas, niños, adolescentes y adultos.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Sal del grupo una vez terminado el programa. Sin embargo, los padres, madres y cuidadores pueden seguir aprendiendo a través de Crianza con Conciencia +. Al final del año, habrá nuevos cursos en Crianza con Conciencia +.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2bb847491d1_0_14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300">
                <a:solidFill>
                  <a:srgbClr val="E4007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Preguntas (5 min) </a:t>
            </a:r>
            <a:endParaRPr sz="1300">
              <a:solidFill>
                <a:srgbClr val="E4007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Resumen 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Reflexiona con los padres, madres y personas cuidadoras sobre cualquier área específica de Crianza con Conciencia + que requiera apoyo.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Anima a los padres, madres y personas cuidadoras mediante preguntas abiertas, como: "¿Hay algo en específico sobre el uso de Crianza con Conciencia + chatbot de lo que te gustaría saber más?" o "¿Cuáles son tus primeras impresiones relacionadas con los Grupos de Apoyo de WhatsApp?"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Para responder a las preguntas de los padres, madres y personas cuidadoras ofrece información clara y concisa. Proporciona orientación paso a paso si es necesario.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Instrucciones 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Pregúntale a los padres, madres y cuidadores si tienen alguna duda sobre: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Usar Crianza con Conciencia + chatbot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Participar en los Grupos de Apoyo de WhatsApp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28600" lvl="0" marL="457200" rtl="0" algn="l">
              <a:lnSpc>
                <a:spcPct val="115000"/>
              </a:lnSpc>
              <a:spcBef>
                <a:spcPts val="600"/>
              </a:spcBef>
              <a:spcAft>
                <a:spcPts val="1000"/>
              </a:spcAft>
              <a:buClr>
                <a:schemeClr val="dk1"/>
              </a:buClr>
              <a:buSzPts val="1100"/>
              <a:buNone/>
            </a:pPr>
          </a:p>
        </p:txBody>
      </p:sp>
      <p:sp>
        <p:nvSpPr>
          <p:cNvPr id="756" name="Google Shape;756;g2bb847491d1_0_14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g2bb847491d1_0_148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00">
                <a:solidFill>
                  <a:srgbClr val="E4007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Conectar Formando Conciencia + y Parent ID (10min) </a:t>
            </a:r>
            <a:endParaRPr sz="1300">
              <a:solidFill>
                <a:srgbClr val="E4007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Resumen 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Para poder informar sobre la asistencia de los padres, madres y cuidadores, tendrás que conectar el identificador único de cada padre, madre y cuidador con tu App Formando Conciencia +.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Instrucciones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Sigue los pasos que se indican a continuación para añadir a cada padre, madre y cuidador a tu App Formando Conciencia +: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Para añadir un padre, madre y cuidador: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Selecciona el ícono de perfil en la barra de navegación inferior.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Elige "Añadir Padre, Madre y Cuidador"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Introduce los datos de los padres, madres y cuidadores en el formulario. Para introducir el identificador único (UID) de los padres, madres y cuidadores pídeles que escriban "ID" en Crianza con Conciencia +. Copia el número de 6 dígitos en el perfil la madre, el padre o cuidador.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Si dos padres, madres y cuidadores de la misma familia participan juntos en Crianza con Conciencia +, debes vincular sus cuentas.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Una vez que hayas añadido el primer perfil de padre, madre o cuidador, para añadir un segundo padre, madre o cuidador selecciona "Añadir padre, madre y cuidador"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Introduce los datos de los padres, madres y cuidadores en el formulario. Para introducir el identificador único (UID) de los padres, madres y cuidadores pídeles que escriban "ID" en Crianza con Conciencia +. Copia el número de 6 dígitos en el perfil la madre, el padre o cuidador.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Selecciona "Añadir Compañero de Crianza"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Selecciona al compañero de crianza de entre los perfiles de usuario de padres, madres y cuidadores disponibles.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Selecciona "Guardar".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*Los perfiles de ambos padres, madres o personas cuidadoras se actualizarán para hacer constar al compañero de crianza*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773" name="Google Shape;773;g2bb847491d1_0_148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2bb847491d1_0_148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00">
                <a:solidFill>
                  <a:srgbClr val="E4007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Actividad de Cierre (10 min) </a:t>
            </a:r>
            <a:endParaRPr sz="1300">
              <a:solidFill>
                <a:srgbClr val="E4007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Resumen 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Cierra con una actividad de despedida. Deja que las personas participantes decidan cómo quieren terminar la sesión. Puede ser una oración o un aplauso grupal.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Instrucciones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Pídele a todos que caminen lentamente por la sala.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Invítales a reflexionar sobre lo que han aprendido hoy.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Reconoce que los pensamientos pueden divagar; pídeles con gentileza que vuelvan a atender a tu voz.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Permite 3 minutos de reflexión individual en silencio.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Después de 3 minutos, reúnanse en círculo.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Invita a un voluntario a compartir una afirmación o algo que haya aprendido hoy.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Continúa en el sentido de las manecillas del reloj, con cada persona compartiendo brevemente.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El facilitador puede modelar cómo compartir con una frase como: "Estoy impresionado con su compromiso por sus niñas, niños y adolescentes al presentarse hoy"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Da las gracias a todos por compartir y concluye la sesión con mucho entusiasmo: "¡Gracias por formar parte de Crianza con Conciencia +, un aplauso para todos!"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779" name="Google Shape;779;g2bb847491d1_0_148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g2bbec03bd81_0_2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Recuérdale a las personas participantes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Estar atentos a la próxima sesión de Crianza con Conciencia + chatbot.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Compartir sus experiencias y retos en el Grupo de Comunidad de WhatsApp.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¡Agradece a las personas participantes por el compromiso que han adquirido entre ellos al venir al grupo!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28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000"/>
              </a:spcAft>
              <a:buClr>
                <a:schemeClr val="dk1"/>
              </a:buClr>
              <a:buSzPts val="1100"/>
              <a:buNone/>
            </a:pPr>
          </a:p>
        </p:txBody>
      </p:sp>
      <p:sp>
        <p:nvSpPr>
          <p:cNvPr id="784" name="Google Shape;784;g2bbec03bd81_0_2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g2bb847491d1_0_149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801" name="Google Shape;801;g2bb847491d1_0_149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36.png"/><Relationship Id="rId5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1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jpg"/><Relationship Id="rId3" Type="http://schemas.openxmlformats.org/officeDocument/2006/relationships/image" Target="../media/image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jpg"/><Relationship Id="rId3" Type="http://schemas.openxmlformats.org/officeDocument/2006/relationships/image" Target="../media/image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29.png"/><Relationship Id="rId4" Type="http://schemas.openxmlformats.org/officeDocument/2006/relationships/image" Target="../media/image21.png"/><Relationship Id="rId5" Type="http://schemas.openxmlformats.org/officeDocument/2006/relationships/image" Target="../media/image1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jp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0.png"/><Relationship Id="rId4" Type="http://schemas.openxmlformats.org/officeDocument/2006/relationships/image" Target="../media/image15.png"/><Relationship Id="rId5" Type="http://schemas.openxmlformats.org/officeDocument/2006/relationships/image" Target="../media/image1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jpg"/><Relationship Id="rId3" Type="http://schemas.openxmlformats.org/officeDocument/2006/relationships/image" Target="../media/image5.png"/><Relationship Id="rId4" Type="http://schemas.openxmlformats.org/officeDocument/2006/relationships/image" Target="../media/image2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1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36.png"/><Relationship Id="rId5" Type="http://schemas.openxmlformats.org/officeDocument/2006/relationships/image" Target="../media/image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36.png"/><Relationship Id="rId5" Type="http://schemas.openxmlformats.org/officeDocument/2006/relationships/image" Target="../media/image8.png"/><Relationship Id="rId6" Type="http://schemas.openxmlformats.org/officeDocument/2006/relationships/image" Target="../media/image3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1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36.png"/><Relationship Id="rId5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0.jpg"/><Relationship Id="rId3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/>
              <a:buNone/>
              <a:defRPr sz="2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5403850" y="4531022"/>
            <a:ext cx="6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508001" y="4531022"/>
            <a:ext cx="4723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42997" y="4531022"/>
            <a:ext cx="512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icon columns">
  <p:cSld name="3 icon columns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8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6" name="Google Shape;66;p18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68" name="Google Shape;68;p18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69" name="Google Shape;69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8"/>
          <p:cNvSpPr txBox="1"/>
          <p:nvPr>
            <p:ph idx="2" type="body"/>
          </p:nvPr>
        </p:nvSpPr>
        <p:spPr>
          <a:xfrm>
            <a:off x="37985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1" name="Google Shape;71;p18"/>
          <p:cNvSpPr txBox="1"/>
          <p:nvPr>
            <p:ph idx="3" type="body"/>
          </p:nvPr>
        </p:nvSpPr>
        <p:spPr>
          <a:xfrm>
            <a:off x="37985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2" name="Google Shape;72;p18"/>
          <p:cNvSpPr txBox="1"/>
          <p:nvPr>
            <p:ph idx="4" type="body"/>
          </p:nvPr>
        </p:nvSpPr>
        <p:spPr>
          <a:xfrm>
            <a:off x="3491283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3" name="Google Shape;73;p18"/>
          <p:cNvSpPr txBox="1"/>
          <p:nvPr>
            <p:ph idx="5" type="body"/>
          </p:nvPr>
        </p:nvSpPr>
        <p:spPr>
          <a:xfrm>
            <a:off x="3491283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8"/>
          <p:cNvSpPr txBox="1"/>
          <p:nvPr>
            <p:ph idx="6" type="body"/>
          </p:nvPr>
        </p:nvSpPr>
        <p:spPr>
          <a:xfrm>
            <a:off x="651718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8"/>
          <p:cNvSpPr txBox="1"/>
          <p:nvPr>
            <p:ph idx="7" type="body"/>
          </p:nvPr>
        </p:nvSpPr>
        <p:spPr>
          <a:xfrm>
            <a:off x="651718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76" name="Google Shape;7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560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93641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3459851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 header 3">
    <p:bg>
      <p:bgPr>
        <a:solidFill>
          <a:schemeClr val="accent4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9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9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9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9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84" name="Google Shape;8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9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Quote">
  <p:cSld name="Single Quote">
    <p:bg>
      <p:bgPr>
        <a:solidFill>
          <a:schemeClr val="accen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20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>
            <a:off x="874685" y="0"/>
            <a:ext cx="7394632" cy="4744351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20"/>
          <p:cNvSpPr txBox="1"/>
          <p:nvPr>
            <p:ph idx="1" type="body"/>
          </p:nvPr>
        </p:nvSpPr>
        <p:spPr>
          <a:xfrm>
            <a:off x="2080649" y="1091336"/>
            <a:ext cx="5045100" cy="17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Arial"/>
              <a:buNone/>
              <a:defRPr b="0" i="0" sz="41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0" name="Google Shape;90;p20"/>
          <p:cNvSpPr txBox="1"/>
          <p:nvPr>
            <p:ph idx="2" type="body"/>
          </p:nvPr>
        </p:nvSpPr>
        <p:spPr>
          <a:xfrm>
            <a:off x="1538434" y="423331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1" name="Google Shape;91;p20"/>
          <p:cNvSpPr txBox="1"/>
          <p:nvPr>
            <p:ph idx="3" type="body"/>
          </p:nvPr>
        </p:nvSpPr>
        <p:spPr>
          <a:xfrm rot="10800000">
            <a:off x="6187920" y="1201375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2" name="Google Shape;92;p20"/>
          <p:cNvSpPr txBox="1"/>
          <p:nvPr>
            <p:ph idx="4" type="body"/>
          </p:nvPr>
        </p:nvSpPr>
        <p:spPr>
          <a:xfrm>
            <a:off x="2080649" y="3044123"/>
            <a:ext cx="50451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Quote">
  <p:cSld name="Single Quote">
    <p:bg>
      <p:bgPr>
        <a:solidFill>
          <a:schemeClr val="accent1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22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>
            <a:off x="874685" y="0"/>
            <a:ext cx="7394632" cy="4744351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2"/>
          <p:cNvSpPr txBox="1"/>
          <p:nvPr>
            <p:ph idx="1" type="body"/>
          </p:nvPr>
        </p:nvSpPr>
        <p:spPr>
          <a:xfrm>
            <a:off x="2080649" y="1091336"/>
            <a:ext cx="5045100" cy="17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Arial"/>
              <a:buNone/>
              <a:defRPr b="0" i="0" sz="41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22"/>
          <p:cNvSpPr txBox="1"/>
          <p:nvPr>
            <p:ph idx="2" type="body"/>
          </p:nvPr>
        </p:nvSpPr>
        <p:spPr>
          <a:xfrm>
            <a:off x="1538434" y="423331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9" name="Google Shape;99;p22"/>
          <p:cNvSpPr txBox="1"/>
          <p:nvPr>
            <p:ph idx="3" type="body"/>
          </p:nvPr>
        </p:nvSpPr>
        <p:spPr>
          <a:xfrm rot="10800000">
            <a:off x="6187920" y="1201375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22"/>
          <p:cNvSpPr txBox="1"/>
          <p:nvPr>
            <p:ph idx="4" type="body"/>
          </p:nvPr>
        </p:nvSpPr>
        <p:spPr>
          <a:xfrm>
            <a:off x="2080649" y="3044123"/>
            <a:ext cx="50451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 header 1">
    <p:bg>
      <p:bgPr>
        <a:solidFill>
          <a:schemeClr val="accent1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3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3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3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3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06" name="Google Shape;106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3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uble Quote">
  <p:cSld name="Double Quote">
    <p:bg>
      <p:bgPr>
        <a:solidFill>
          <a:schemeClr val="accen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24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>
            <a:off x="247136" y="0"/>
            <a:ext cx="5693655" cy="365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4"/>
          <p:cNvSpPr txBox="1"/>
          <p:nvPr>
            <p:ph idx="1" type="body"/>
          </p:nvPr>
        </p:nvSpPr>
        <p:spPr>
          <a:xfrm>
            <a:off x="1142703" y="657429"/>
            <a:ext cx="4107300" cy="144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2" name="Google Shape;112;p24"/>
          <p:cNvSpPr txBox="1"/>
          <p:nvPr>
            <p:ph idx="2" type="body"/>
          </p:nvPr>
        </p:nvSpPr>
        <p:spPr>
          <a:xfrm>
            <a:off x="600488" y="-10576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3" name="Google Shape;113;p24"/>
          <p:cNvSpPr txBox="1"/>
          <p:nvPr>
            <p:ph idx="3" type="body"/>
          </p:nvPr>
        </p:nvSpPr>
        <p:spPr>
          <a:xfrm rot="10800000">
            <a:off x="4426591" y="424950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4" name="Google Shape;114;p24"/>
          <p:cNvSpPr txBox="1"/>
          <p:nvPr>
            <p:ph idx="4" type="body"/>
          </p:nvPr>
        </p:nvSpPr>
        <p:spPr>
          <a:xfrm>
            <a:off x="1142703" y="2346877"/>
            <a:ext cx="37635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15" name="Google Shape;115;p24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 rot="10800000">
            <a:off x="4021812" y="1855558"/>
            <a:ext cx="5124644" cy="328794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4"/>
          <p:cNvSpPr txBox="1"/>
          <p:nvPr>
            <p:ph idx="5" type="body"/>
          </p:nvPr>
        </p:nvSpPr>
        <p:spPr>
          <a:xfrm>
            <a:off x="5277206" y="3137535"/>
            <a:ext cx="3281400" cy="144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24"/>
          <p:cNvSpPr txBox="1"/>
          <p:nvPr>
            <p:ph idx="6" type="body"/>
          </p:nvPr>
        </p:nvSpPr>
        <p:spPr>
          <a:xfrm>
            <a:off x="4835583" y="2541543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4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24"/>
          <p:cNvSpPr txBox="1"/>
          <p:nvPr>
            <p:ph idx="7" type="body"/>
          </p:nvPr>
        </p:nvSpPr>
        <p:spPr>
          <a:xfrm rot="10800000">
            <a:off x="7086331" y="2860365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4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24"/>
          <p:cNvSpPr txBox="1"/>
          <p:nvPr>
            <p:ph idx="8" type="body"/>
          </p:nvPr>
        </p:nvSpPr>
        <p:spPr>
          <a:xfrm>
            <a:off x="5311076" y="4688285"/>
            <a:ext cx="37635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 header 2">
    <p:bg>
      <p:bgPr>
        <a:solidFill>
          <a:schemeClr val="accent2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5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5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5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5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25" name="Google Shape;125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5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4">
  <p:cSld name="Section header 4">
    <p:bg>
      <p:bgPr>
        <a:solidFill>
          <a:schemeClr val="dk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26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6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26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6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2" name="Google Shape;132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6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no image">
  <p:cSld name="Cover no image">
    <p:bg>
      <p:bgPr>
        <a:solidFill>
          <a:schemeClr val="accent1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7"/>
          <p:cNvPicPr preferRelativeResize="0"/>
          <p:nvPr/>
        </p:nvPicPr>
        <p:blipFill rotWithShape="1">
          <a:blip r:embed="rId3">
            <a:alphaModFix/>
          </a:blip>
          <a:srcRect b="42290" l="19517" r="0" t="8258"/>
          <a:stretch/>
        </p:blipFill>
        <p:spPr>
          <a:xfrm>
            <a:off x="0" y="0"/>
            <a:ext cx="8372024" cy="5143501"/>
          </a:xfrm>
          <a:prstGeom prst="rect">
            <a:avLst/>
          </a:prstGeom>
          <a:noFill/>
          <a:ln>
            <a:noFill/>
          </a:ln>
          <a:effectLst>
            <a:outerShdw blurRad="411778" sx="102000" rotWithShape="0" algn="ctr" sy="102000">
              <a:srgbClr val="000000">
                <a:alpha val="40000"/>
              </a:srgbClr>
            </a:outerShdw>
          </a:effectLst>
        </p:spPr>
      </p:pic>
      <p:sp>
        <p:nvSpPr>
          <p:cNvPr id="137" name="Google Shape;137;p27"/>
          <p:cNvSpPr txBox="1"/>
          <p:nvPr>
            <p:ph idx="1" type="body"/>
          </p:nvPr>
        </p:nvSpPr>
        <p:spPr>
          <a:xfrm>
            <a:off x="585997" y="2308601"/>
            <a:ext cx="69927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8" name="Google Shape;138;p27"/>
          <p:cNvSpPr txBox="1"/>
          <p:nvPr>
            <p:ph idx="2" type="body"/>
          </p:nvPr>
        </p:nvSpPr>
        <p:spPr>
          <a:xfrm>
            <a:off x="585997" y="3028884"/>
            <a:ext cx="12909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9" name="Google Shape;13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5997" y="740829"/>
            <a:ext cx="3014053" cy="1196756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7"/>
          <p:cNvSpPr txBox="1"/>
          <p:nvPr>
            <p:ph idx="3" type="body"/>
          </p:nvPr>
        </p:nvSpPr>
        <p:spPr>
          <a:xfrm>
            <a:off x="585997" y="3576929"/>
            <a:ext cx="46098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1" name="Google Shape;141;p27"/>
          <p:cNvSpPr/>
          <p:nvPr/>
        </p:nvSpPr>
        <p:spPr>
          <a:xfrm>
            <a:off x="0" y="4402671"/>
            <a:ext cx="9144000" cy="741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with image">
  <p:cSld name="1_Cover with image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8"/>
          <p:cNvSpPr/>
          <p:nvPr>
            <p:ph idx="2" type="pic"/>
          </p:nvPr>
        </p:nvSpPr>
        <p:spPr>
          <a:xfrm>
            <a:off x="61" y="0"/>
            <a:ext cx="3704100" cy="4403100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p28"/>
          <p:cNvSpPr/>
          <p:nvPr>
            <p:ph idx="3" type="pic"/>
          </p:nvPr>
        </p:nvSpPr>
        <p:spPr>
          <a:xfrm>
            <a:off x="5439966" y="0"/>
            <a:ext cx="3704100" cy="4403100"/>
          </a:xfrm>
          <a:prstGeom prst="rect">
            <a:avLst/>
          </a:prstGeom>
          <a:noFill/>
          <a:ln>
            <a:noFill/>
          </a:ln>
        </p:spPr>
      </p:sp>
      <p:pic>
        <p:nvPicPr>
          <p:cNvPr id="145" name="Google Shape;145;p28"/>
          <p:cNvPicPr preferRelativeResize="0"/>
          <p:nvPr/>
        </p:nvPicPr>
        <p:blipFill rotWithShape="1">
          <a:blip r:embed="rId2">
            <a:alphaModFix/>
          </a:blip>
          <a:srcRect b="42290" l="19517" r="0" t="8258"/>
          <a:stretch/>
        </p:blipFill>
        <p:spPr>
          <a:xfrm>
            <a:off x="0" y="0"/>
            <a:ext cx="8372024" cy="5143501"/>
          </a:xfrm>
          <a:prstGeom prst="rect">
            <a:avLst/>
          </a:prstGeom>
          <a:noFill/>
          <a:ln>
            <a:noFill/>
          </a:ln>
          <a:effectLst>
            <a:outerShdw blurRad="411778" sx="102000" rotWithShape="0" algn="ctr" sy="102000">
              <a:srgbClr val="000000">
                <a:alpha val="40000"/>
              </a:srgbClr>
            </a:outerShdw>
          </a:effectLst>
        </p:spPr>
      </p:pic>
      <p:sp>
        <p:nvSpPr>
          <p:cNvPr id="146" name="Google Shape;146;p28"/>
          <p:cNvSpPr txBox="1"/>
          <p:nvPr>
            <p:ph idx="1" type="body"/>
          </p:nvPr>
        </p:nvSpPr>
        <p:spPr>
          <a:xfrm>
            <a:off x="585997" y="2308601"/>
            <a:ext cx="69927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28"/>
          <p:cNvSpPr txBox="1"/>
          <p:nvPr>
            <p:ph idx="4" type="body"/>
          </p:nvPr>
        </p:nvSpPr>
        <p:spPr>
          <a:xfrm>
            <a:off x="585997" y="3028884"/>
            <a:ext cx="12909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48" name="Google Shape;14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5997" y="740829"/>
            <a:ext cx="3014053" cy="1196756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8"/>
          <p:cNvSpPr txBox="1"/>
          <p:nvPr>
            <p:ph idx="5" type="body"/>
          </p:nvPr>
        </p:nvSpPr>
        <p:spPr>
          <a:xfrm>
            <a:off x="585997" y="3576929"/>
            <a:ext cx="46098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8"/>
          <p:cNvSpPr/>
          <p:nvPr/>
        </p:nvSpPr>
        <p:spPr>
          <a:xfrm>
            <a:off x="0" y="4402671"/>
            <a:ext cx="9144000" cy="741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 header 3">
    <p:bg>
      <p:bgPr>
        <a:solidFill>
          <a:schemeClr val="accent4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9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9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9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9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56" name="Google Shape;156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9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text box">
  <p:cSld name="Single text box"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0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0" name="Google Shape;160;p30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30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62" name="Google Shape;162;p30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3" name="Google Shape;163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30"/>
          <p:cNvSpPr txBox="1"/>
          <p:nvPr>
            <p:ph idx="2" type="body"/>
          </p:nvPr>
        </p:nvSpPr>
        <p:spPr>
          <a:xfrm>
            <a:off x="379853" y="1663303"/>
            <a:ext cx="8384700" cy="26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238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uble text box slide">
  <p:cSld name="Double text box slide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1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7" name="Google Shape;167;p31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8" name="Google Shape;168;p31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69" name="Google Shape;169;p31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0" name="Google Shape;170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31"/>
          <p:cNvSpPr txBox="1"/>
          <p:nvPr>
            <p:ph idx="2" type="body"/>
          </p:nvPr>
        </p:nvSpPr>
        <p:spPr>
          <a:xfrm>
            <a:off x="379853" y="1663303"/>
            <a:ext cx="3955800" cy="26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238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2" name="Google Shape;172;p31"/>
          <p:cNvSpPr txBox="1"/>
          <p:nvPr>
            <p:ph idx="3" type="body"/>
          </p:nvPr>
        </p:nvSpPr>
        <p:spPr>
          <a:xfrm>
            <a:off x="4808494" y="1663303"/>
            <a:ext cx="3955800" cy="26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238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ft text box and image">
  <p:cSld name="Left text box and image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2"/>
          <p:cNvSpPr txBox="1"/>
          <p:nvPr>
            <p:ph type="ctrTitle"/>
          </p:nvPr>
        </p:nvSpPr>
        <p:spPr>
          <a:xfrm>
            <a:off x="379560" y="373588"/>
            <a:ext cx="3851700" cy="19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5" name="Google Shape;175;p32"/>
          <p:cNvSpPr txBox="1"/>
          <p:nvPr>
            <p:ph idx="1" type="subTitle"/>
          </p:nvPr>
        </p:nvSpPr>
        <p:spPr>
          <a:xfrm>
            <a:off x="379560" y="2454773"/>
            <a:ext cx="3851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32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77" name="Google Shape;177;p32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8" name="Google Shape;178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2"/>
          <p:cNvSpPr txBox="1"/>
          <p:nvPr>
            <p:ph idx="2" type="body"/>
          </p:nvPr>
        </p:nvSpPr>
        <p:spPr>
          <a:xfrm>
            <a:off x="379560" y="3184902"/>
            <a:ext cx="38517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238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2385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048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048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0" name="Google Shape;180;p32"/>
          <p:cNvSpPr/>
          <p:nvPr>
            <p:ph idx="3" type="pic"/>
          </p:nvPr>
        </p:nvSpPr>
        <p:spPr>
          <a:xfrm>
            <a:off x="4572000" y="373589"/>
            <a:ext cx="4192500" cy="418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numbered columns">
  <p:cSld name="3 numbered columns"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3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33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4" name="Google Shape;184;p33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85" name="Google Shape;185;p33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6" name="Google Shape;18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33"/>
          <p:cNvSpPr txBox="1"/>
          <p:nvPr>
            <p:ph idx="2" type="body"/>
          </p:nvPr>
        </p:nvSpPr>
        <p:spPr>
          <a:xfrm>
            <a:off x="37985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8" name="Google Shape;188;p33"/>
          <p:cNvSpPr txBox="1"/>
          <p:nvPr>
            <p:ph idx="3" type="body"/>
          </p:nvPr>
        </p:nvSpPr>
        <p:spPr>
          <a:xfrm>
            <a:off x="379852" y="2043463"/>
            <a:ext cx="22587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dk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9" name="Google Shape;189;p33"/>
          <p:cNvSpPr txBox="1"/>
          <p:nvPr>
            <p:ph idx="4" type="body"/>
          </p:nvPr>
        </p:nvSpPr>
        <p:spPr>
          <a:xfrm>
            <a:off x="37985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0" name="Google Shape;190;p33"/>
          <p:cNvSpPr txBox="1"/>
          <p:nvPr>
            <p:ph idx="5" type="body"/>
          </p:nvPr>
        </p:nvSpPr>
        <p:spPr>
          <a:xfrm>
            <a:off x="3491283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1" name="Google Shape;191;p33"/>
          <p:cNvSpPr txBox="1"/>
          <p:nvPr>
            <p:ph idx="6" type="body"/>
          </p:nvPr>
        </p:nvSpPr>
        <p:spPr>
          <a:xfrm>
            <a:off x="3491283" y="2043463"/>
            <a:ext cx="22587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2" name="Google Shape;192;p33"/>
          <p:cNvSpPr txBox="1"/>
          <p:nvPr>
            <p:ph idx="7" type="body"/>
          </p:nvPr>
        </p:nvSpPr>
        <p:spPr>
          <a:xfrm>
            <a:off x="3491283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3" name="Google Shape;193;p33"/>
          <p:cNvSpPr txBox="1"/>
          <p:nvPr>
            <p:ph idx="8" type="body"/>
          </p:nvPr>
        </p:nvSpPr>
        <p:spPr>
          <a:xfrm>
            <a:off x="651718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4" name="Google Shape;194;p33"/>
          <p:cNvSpPr txBox="1"/>
          <p:nvPr>
            <p:ph idx="9" type="body"/>
          </p:nvPr>
        </p:nvSpPr>
        <p:spPr>
          <a:xfrm>
            <a:off x="6517182" y="2043463"/>
            <a:ext cx="22587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accent3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5" name="Google Shape;195;p33"/>
          <p:cNvSpPr txBox="1"/>
          <p:nvPr>
            <p:ph idx="13" type="body"/>
          </p:nvPr>
        </p:nvSpPr>
        <p:spPr>
          <a:xfrm>
            <a:off x="651718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numbered columns">
  <p:cSld name="4 numbered columns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4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8" name="Google Shape;198;p34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9" name="Google Shape;199;p34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00" name="Google Shape;200;p34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01" name="Google Shape;201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4"/>
          <p:cNvSpPr txBox="1"/>
          <p:nvPr>
            <p:ph idx="2" type="body"/>
          </p:nvPr>
        </p:nvSpPr>
        <p:spPr>
          <a:xfrm>
            <a:off x="379853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3" name="Google Shape;203;p34"/>
          <p:cNvSpPr txBox="1"/>
          <p:nvPr>
            <p:ph idx="3" type="body"/>
          </p:nvPr>
        </p:nvSpPr>
        <p:spPr>
          <a:xfrm>
            <a:off x="379853" y="2043463"/>
            <a:ext cx="1935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dk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4" name="Google Shape;204;p34"/>
          <p:cNvSpPr txBox="1"/>
          <p:nvPr>
            <p:ph idx="4" type="body"/>
          </p:nvPr>
        </p:nvSpPr>
        <p:spPr>
          <a:xfrm>
            <a:off x="379853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5" name="Google Shape;205;p34"/>
          <p:cNvSpPr txBox="1"/>
          <p:nvPr>
            <p:ph idx="5" type="body"/>
          </p:nvPr>
        </p:nvSpPr>
        <p:spPr>
          <a:xfrm>
            <a:off x="2522204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6" name="Google Shape;206;p34"/>
          <p:cNvSpPr txBox="1"/>
          <p:nvPr>
            <p:ph idx="6" type="body"/>
          </p:nvPr>
        </p:nvSpPr>
        <p:spPr>
          <a:xfrm>
            <a:off x="2522204" y="2043463"/>
            <a:ext cx="1935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7" name="Google Shape;207;p34"/>
          <p:cNvSpPr txBox="1"/>
          <p:nvPr>
            <p:ph idx="7" type="body"/>
          </p:nvPr>
        </p:nvSpPr>
        <p:spPr>
          <a:xfrm>
            <a:off x="2522204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8" name="Google Shape;208;p34"/>
          <p:cNvSpPr txBox="1"/>
          <p:nvPr>
            <p:ph idx="8" type="body"/>
          </p:nvPr>
        </p:nvSpPr>
        <p:spPr>
          <a:xfrm>
            <a:off x="4685789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9" name="Google Shape;209;p34"/>
          <p:cNvSpPr txBox="1"/>
          <p:nvPr>
            <p:ph idx="9" type="body"/>
          </p:nvPr>
        </p:nvSpPr>
        <p:spPr>
          <a:xfrm>
            <a:off x="4685789" y="2043463"/>
            <a:ext cx="1935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accent3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0" name="Google Shape;210;p34"/>
          <p:cNvSpPr txBox="1"/>
          <p:nvPr>
            <p:ph idx="13" type="body"/>
          </p:nvPr>
        </p:nvSpPr>
        <p:spPr>
          <a:xfrm>
            <a:off x="4685789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1" name="Google Shape;211;p34"/>
          <p:cNvSpPr txBox="1"/>
          <p:nvPr>
            <p:ph idx="14" type="body"/>
          </p:nvPr>
        </p:nvSpPr>
        <p:spPr>
          <a:xfrm>
            <a:off x="6838193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2" name="Google Shape;212;p34"/>
          <p:cNvSpPr txBox="1"/>
          <p:nvPr>
            <p:ph idx="15" type="body"/>
          </p:nvPr>
        </p:nvSpPr>
        <p:spPr>
          <a:xfrm>
            <a:off x="6838193" y="2043463"/>
            <a:ext cx="1935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dk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3" name="Google Shape;213;p34"/>
          <p:cNvSpPr txBox="1"/>
          <p:nvPr>
            <p:ph idx="16" type="body"/>
          </p:nvPr>
        </p:nvSpPr>
        <p:spPr>
          <a:xfrm>
            <a:off x="6838193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icon columns">
  <p:cSld name="3 icon columns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6" name="Google Shape;216;p35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7" name="Google Shape;217;p35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18" name="Google Shape;218;p35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19" name="Google Shape;219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35"/>
          <p:cNvSpPr txBox="1"/>
          <p:nvPr>
            <p:ph idx="2" type="body"/>
          </p:nvPr>
        </p:nvSpPr>
        <p:spPr>
          <a:xfrm>
            <a:off x="37985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1" name="Google Shape;221;p35"/>
          <p:cNvSpPr txBox="1"/>
          <p:nvPr>
            <p:ph idx="3" type="body"/>
          </p:nvPr>
        </p:nvSpPr>
        <p:spPr>
          <a:xfrm>
            <a:off x="37985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2" name="Google Shape;222;p35"/>
          <p:cNvSpPr txBox="1"/>
          <p:nvPr>
            <p:ph idx="4" type="body"/>
          </p:nvPr>
        </p:nvSpPr>
        <p:spPr>
          <a:xfrm>
            <a:off x="3491283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3" name="Google Shape;223;p35"/>
          <p:cNvSpPr txBox="1"/>
          <p:nvPr>
            <p:ph idx="5" type="body"/>
          </p:nvPr>
        </p:nvSpPr>
        <p:spPr>
          <a:xfrm>
            <a:off x="3491283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4" name="Google Shape;224;p35"/>
          <p:cNvSpPr txBox="1"/>
          <p:nvPr>
            <p:ph idx="6" type="body"/>
          </p:nvPr>
        </p:nvSpPr>
        <p:spPr>
          <a:xfrm>
            <a:off x="651718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5" name="Google Shape;225;p35"/>
          <p:cNvSpPr txBox="1"/>
          <p:nvPr>
            <p:ph idx="7" type="body"/>
          </p:nvPr>
        </p:nvSpPr>
        <p:spPr>
          <a:xfrm>
            <a:off x="651718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6" name="Google Shape;226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560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93641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3459851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Icon columns">
  <p:cSld name="4 Icon columns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1" name="Google Shape;231;p36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2" name="Google Shape;232;p36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33" name="Google Shape;233;p36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34" name="Google Shape;234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6"/>
          <p:cNvSpPr txBox="1"/>
          <p:nvPr>
            <p:ph idx="2" type="body"/>
          </p:nvPr>
        </p:nvSpPr>
        <p:spPr>
          <a:xfrm>
            <a:off x="379853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6" name="Google Shape;236;p36"/>
          <p:cNvSpPr txBox="1"/>
          <p:nvPr>
            <p:ph idx="3" type="body"/>
          </p:nvPr>
        </p:nvSpPr>
        <p:spPr>
          <a:xfrm>
            <a:off x="379853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36"/>
          <p:cNvSpPr txBox="1"/>
          <p:nvPr>
            <p:ph idx="4" type="body"/>
          </p:nvPr>
        </p:nvSpPr>
        <p:spPr>
          <a:xfrm>
            <a:off x="2522204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8" name="Google Shape;238;p36"/>
          <p:cNvSpPr txBox="1"/>
          <p:nvPr>
            <p:ph idx="5" type="body"/>
          </p:nvPr>
        </p:nvSpPr>
        <p:spPr>
          <a:xfrm>
            <a:off x="2522204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9" name="Google Shape;239;p36"/>
          <p:cNvSpPr txBox="1"/>
          <p:nvPr>
            <p:ph idx="6" type="body"/>
          </p:nvPr>
        </p:nvSpPr>
        <p:spPr>
          <a:xfrm>
            <a:off x="4685789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0" name="Google Shape;240;p36"/>
          <p:cNvSpPr txBox="1"/>
          <p:nvPr>
            <p:ph idx="7" type="body"/>
          </p:nvPr>
        </p:nvSpPr>
        <p:spPr>
          <a:xfrm>
            <a:off x="4685789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36"/>
          <p:cNvSpPr txBox="1"/>
          <p:nvPr>
            <p:ph idx="8" type="body"/>
          </p:nvPr>
        </p:nvSpPr>
        <p:spPr>
          <a:xfrm>
            <a:off x="6838193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2" name="Google Shape;242;p36"/>
          <p:cNvSpPr txBox="1"/>
          <p:nvPr>
            <p:ph idx="9" type="body"/>
          </p:nvPr>
        </p:nvSpPr>
        <p:spPr>
          <a:xfrm>
            <a:off x="6838193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3" name="Google Shape;243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560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64849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2522207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10800000">
            <a:off x="6811364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 header 3">
    <p:bg>
      <p:bgPr>
        <a:solidFill>
          <a:schemeClr val="accent4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1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41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41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41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0" name="Google Shape;260;p4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41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icon columns">
  <p:cSld name="3 icon columns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2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4" name="Google Shape;264;p42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5" name="Google Shape;265;p42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66" name="Google Shape;266;p42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67" name="Google Shape;267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2"/>
          <p:cNvSpPr txBox="1"/>
          <p:nvPr>
            <p:ph idx="2" type="body"/>
          </p:nvPr>
        </p:nvSpPr>
        <p:spPr>
          <a:xfrm>
            <a:off x="37985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9" name="Google Shape;269;p42"/>
          <p:cNvSpPr txBox="1"/>
          <p:nvPr>
            <p:ph idx="3" type="body"/>
          </p:nvPr>
        </p:nvSpPr>
        <p:spPr>
          <a:xfrm>
            <a:off x="37985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0" name="Google Shape;270;p42"/>
          <p:cNvSpPr txBox="1"/>
          <p:nvPr>
            <p:ph idx="4" type="body"/>
          </p:nvPr>
        </p:nvSpPr>
        <p:spPr>
          <a:xfrm>
            <a:off x="3491283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1" name="Google Shape;271;p42"/>
          <p:cNvSpPr txBox="1"/>
          <p:nvPr>
            <p:ph idx="5" type="body"/>
          </p:nvPr>
        </p:nvSpPr>
        <p:spPr>
          <a:xfrm>
            <a:off x="3491283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2" name="Google Shape;272;p42"/>
          <p:cNvSpPr txBox="1"/>
          <p:nvPr>
            <p:ph idx="6" type="body"/>
          </p:nvPr>
        </p:nvSpPr>
        <p:spPr>
          <a:xfrm>
            <a:off x="651718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3" name="Google Shape;273;p42"/>
          <p:cNvSpPr txBox="1"/>
          <p:nvPr>
            <p:ph idx="7" type="body"/>
          </p:nvPr>
        </p:nvSpPr>
        <p:spPr>
          <a:xfrm>
            <a:off x="651718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74" name="Google Shape;274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560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93641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3459851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Quote">
  <p:cSld name="Single Quote">
    <p:bg>
      <p:bgPr>
        <a:solidFill>
          <a:schemeClr val="accent1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43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>
            <a:off x="874685" y="0"/>
            <a:ext cx="7394632" cy="474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/>
          <p:nvPr>
            <p:ph idx="1" type="body"/>
          </p:nvPr>
        </p:nvSpPr>
        <p:spPr>
          <a:xfrm>
            <a:off x="2080649" y="1091336"/>
            <a:ext cx="5045100" cy="17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Arial"/>
              <a:buNone/>
              <a:defRPr b="0" i="0" sz="41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1" name="Google Shape;281;p43"/>
          <p:cNvSpPr txBox="1"/>
          <p:nvPr>
            <p:ph idx="2" type="body"/>
          </p:nvPr>
        </p:nvSpPr>
        <p:spPr>
          <a:xfrm>
            <a:off x="1538434" y="423331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2" name="Google Shape;282;p43"/>
          <p:cNvSpPr txBox="1"/>
          <p:nvPr>
            <p:ph idx="3" type="body"/>
          </p:nvPr>
        </p:nvSpPr>
        <p:spPr>
          <a:xfrm rot="10800000">
            <a:off x="6187920" y="1201375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3" name="Google Shape;283;p43"/>
          <p:cNvSpPr txBox="1"/>
          <p:nvPr>
            <p:ph idx="4" type="body"/>
          </p:nvPr>
        </p:nvSpPr>
        <p:spPr>
          <a:xfrm>
            <a:off x="2080649" y="3044123"/>
            <a:ext cx="50451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 title and description"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idx="12" type="sldNum"/>
          </p:nvPr>
        </p:nvSpPr>
        <p:spPr>
          <a:xfrm>
            <a:off x="8472457" y="466321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0" name="Google Shape;300;p50"/>
          <p:cNvSpPr/>
          <p:nvPr/>
        </p:nvSpPr>
        <p:spPr>
          <a:xfrm>
            <a:off x="8907236" y="0"/>
            <a:ext cx="236700" cy="5143500"/>
          </a:xfrm>
          <a:prstGeom prst="rect">
            <a:avLst/>
          </a:prstGeom>
          <a:solidFill>
            <a:srgbClr val="1B305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50"/>
          <p:cNvSpPr/>
          <p:nvPr/>
        </p:nvSpPr>
        <p:spPr>
          <a:xfrm>
            <a:off x="0" y="0"/>
            <a:ext cx="236700" cy="710400"/>
          </a:xfrm>
          <a:prstGeom prst="rect">
            <a:avLst/>
          </a:prstGeom>
          <a:solidFill>
            <a:srgbClr val="1B305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ection title and description">
  <p:cSld name="1_Section title and description"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&amp; Bullets" showMasterSp="0">
  <p:cSld name="Title &amp; Bullets">
    <p:bg>
      <p:bgPr>
        <a:solidFill>
          <a:schemeClr val="lt1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5" name="Google Shape;305;p53"/>
          <p:cNvCxnSpPr/>
          <p:nvPr/>
        </p:nvCxnSpPr>
        <p:spPr>
          <a:xfrm flipH="1">
            <a:off x="0" y="4816973"/>
            <a:ext cx="8077200" cy="1170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6" name="Google Shape;306;p53"/>
          <p:cNvSpPr txBox="1"/>
          <p:nvPr/>
        </p:nvSpPr>
        <p:spPr>
          <a:xfrm>
            <a:off x="6280602" y="4861798"/>
            <a:ext cx="2743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68234" y="4624571"/>
            <a:ext cx="499409" cy="42066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8" name="Google Shape;308;p53"/>
          <p:cNvCxnSpPr/>
          <p:nvPr/>
        </p:nvCxnSpPr>
        <p:spPr>
          <a:xfrm rot="10800000">
            <a:off x="8521800" y="4828880"/>
            <a:ext cx="622200" cy="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Diagram or Organization Chart">
  <p:cSld name="1_Title and Diagram or Organization Chart"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>
    <p:push/>
  </p:transition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theme" Target="../theme/theme6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2.xml"/><Relationship Id="rId17" Type="http://schemas.openxmlformats.org/officeDocument/2006/relationships/theme" Target="../theme/theme5.xml"/><Relationship Id="rId16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</Relationships>
</file>

<file path=ppt/slideMasters/_rels/slideMaster4.xml.rels><?xml version="1.0" encoding="UTF-8" standalone="yes"?>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theme" Target="../theme/theme2.xml"/></Relationships>
</file>

<file path=ppt/slideMasters/_rels/slideMaster5.xml.rels><?xml version="1.0" encoding="UTF-8" standalone="yes"?>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theme" Target="../theme/theme7.xml"/></Relationships>
</file>

<file path=ppt/slideMasters/_rels/slideMaster6.xml.rels><?xml version="1.0" encoding="UTF-8" standalone="yes"?><Relationships xmlns="http://schemas.openxmlformats.org/package/2006/relationships"><Relationship Id="rId1" Type="http://schemas.openxmlformats.org/officeDocument/2006/relationships/image" Target="../media/image57.png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9" Type="http://schemas.openxmlformats.org/officeDocument/2006/relationships/theme" Target="../theme/theme3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Google Shape;58;p15"/>
          <p:cNvCxnSpPr/>
          <p:nvPr/>
        </p:nvCxnSpPr>
        <p:spPr>
          <a:xfrm flipH="1">
            <a:off x="0" y="4816973"/>
            <a:ext cx="8077200" cy="1170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" name="Google Shape;59;p15"/>
          <p:cNvSpPr txBox="1"/>
          <p:nvPr/>
        </p:nvSpPr>
        <p:spPr>
          <a:xfrm>
            <a:off x="6280602" y="4861798"/>
            <a:ext cx="2743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" name="Google Shape;60;p15"/>
          <p:cNvCxnSpPr/>
          <p:nvPr/>
        </p:nvCxnSpPr>
        <p:spPr>
          <a:xfrm rot="10800000">
            <a:off x="8521800" y="4828880"/>
            <a:ext cx="622200" cy="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61" name="Google Shape;61;p1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158723" y="4631300"/>
            <a:ext cx="363065" cy="38305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2"/>
    <p:sldLayoutId id="2147483662" r:id="rId3"/>
    <p:sldLayoutId id="2147483663" r:id="rId4"/>
    <p:sldLayoutId id="2147483664" r:id="rId5"/>
    <p:sldLayoutId id="2147483665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38"/>
          <p:cNvCxnSpPr/>
          <p:nvPr/>
        </p:nvCxnSpPr>
        <p:spPr>
          <a:xfrm flipH="1">
            <a:off x="0" y="4816973"/>
            <a:ext cx="8077200" cy="1170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0" name="Google Shape;250;p38"/>
          <p:cNvSpPr txBox="1"/>
          <p:nvPr/>
        </p:nvSpPr>
        <p:spPr>
          <a:xfrm>
            <a:off x="6280602" y="4861798"/>
            <a:ext cx="2743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1" name="Google Shape;251;p38"/>
          <p:cNvCxnSpPr/>
          <p:nvPr/>
        </p:nvCxnSpPr>
        <p:spPr>
          <a:xfrm rot="10800000">
            <a:off x="8521800" y="4828880"/>
            <a:ext cx="622200" cy="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52" name="Google Shape;252;p3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158723" y="4631300"/>
            <a:ext cx="363065" cy="38305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2"/>
    <p:sldLayoutId id="2147483683" r:id="rId3"/>
    <p:sldLayoutId id="2147483684" r:id="rId4"/>
    <p:sldLayoutId id="2147483685" r:id="rId5"/>
    <p:sldLayoutId id="2147483686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5" name="Google Shape;285;p44"/>
          <p:cNvCxnSpPr/>
          <p:nvPr/>
        </p:nvCxnSpPr>
        <p:spPr>
          <a:xfrm flipH="1">
            <a:off x="0" y="4816973"/>
            <a:ext cx="8077200" cy="1170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" name="Google Shape;286;p44"/>
          <p:cNvSpPr txBox="1"/>
          <p:nvPr/>
        </p:nvSpPr>
        <p:spPr>
          <a:xfrm>
            <a:off x="6280602" y="4861798"/>
            <a:ext cx="2743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7" name="Google Shape;287;p44"/>
          <p:cNvCxnSpPr/>
          <p:nvPr/>
        </p:nvCxnSpPr>
        <p:spPr>
          <a:xfrm rot="10800000">
            <a:off x="8521800" y="4828880"/>
            <a:ext cx="622200" cy="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88" name="Google Shape;288;p4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097460" y="4610201"/>
            <a:ext cx="424318" cy="43503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87" r:id="rId2"/>
    <p:sldLayoutId id="2147483688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2" name="Google Shape;292;p47"/>
          <p:cNvCxnSpPr/>
          <p:nvPr/>
        </p:nvCxnSpPr>
        <p:spPr>
          <a:xfrm flipH="1">
            <a:off x="0" y="4816973"/>
            <a:ext cx="8077200" cy="1170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3" name="Google Shape;293;p47"/>
          <p:cNvSpPr txBox="1"/>
          <p:nvPr/>
        </p:nvSpPr>
        <p:spPr>
          <a:xfrm>
            <a:off x="6280602" y="4861798"/>
            <a:ext cx="2743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4" name="Google Shape;294;p47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068234" y="4624571"/>
            <a:ext cx="499409" cy="42066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5" name="Google Shape;295;p47"/>
          <p:cNvCxnSpPr/>
          <p:nvPr/>
        </p:nvCxnSpPr>
        <p:spPr>
          <a:xfrm rot="10800000">
            <a:off x="8521800" y="4828880"/>
            <a:ext cx="622200" cy="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1.jpg"/><Relationship Id="rId4" Type="http://schemas.openxmlformats.org/officeDocument/2006/relationships/image" Target="../media/image55.png"/><Relationship Id="rId5" Type="http://schemas.openxmlformats.org/officeDocument/2006/relationships/image" Target="../media/image62.png"/><Relationship Id="rId6" Type="http://schemas.openxmlformats.org/officeDocument/2006/relationships/image" Target="../media/image53.png"/><Relationship Id="rId7" Type="http://schemas.openxmlformats.org/officeDocument/2006/relationships/image" Target="../media/image4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9.png"/><Relationship Id="rId4" Type="http://schemas.openxmlformats.org/officeDocument/2006/relationships/image" Target="../media/image45.png"/><Relationship Id="rId5" Type="http://schemas.openxmlformats.org/officeDocument/2006/relationships/image" Target="../media/image4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9.png"/><Relationship Id="rId4" Type="http://schemas.openxmlformats.org/officeDocument/2006/relationships/image" Target="../media/image46.png"/><Relationship Id="rId5" Type="http://schemas.openxmlformats.org/officeDocument/2006/relationships/image" Target="../media/image48.jpg"/><Relationship Id="rId6" Type="http://schemas.openxmlformats.org/officeDocument/2006/relationships/image" Target="../media/image7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9.png"/><Relationship Id="rId4" Type="http://schemas.openxmlformats.org/officeDocument/2006/relationships/image" Target="../media/image58.png"/><Relationship Id="rId5" Type="http://schemas.openxmlformats.org/officeDocument/2006/relationships/image" Target="../media/image76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3.xml"/><Relationship Id="rId3" Type="http://schemas.openxmlformats.org/officeDocument/2006/relationships/comments" Target="../comments/comment1.xml"/><Relationship Id="rId4" Type="http://schemas.openxmlformats.org/officeDocument/2006/relationships/image" Target="../media/image54.png"/><Relationship Id="rId5" Type="http://schemas.openxmlformats.org/officeDocument/2006/relationships/image" Target="../media/image59.png"/><Relationship Id="rId6" Type="http://schemas.openxmlformats.org/officeDocument/2006/relationships/image" Target="../media/image45.png"/><Relationship Id="rId7" Type="http://schemas.openxmlformats.org/officeDocument/2006/relationships/image" Target="../media/image52.png"/><Relationship Id="rId8" Type="http://schemas.openxmlformats.org/officeDocument/2006/relationships/image" Target="../media/image4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66.jpg"/><Relationship Id="rId5" Type="http://schemas.openxmlformats.org/officeDocument/2006/relationships/image" Target="../media/image68.jpg"/><Relationship Id="rId6" Type="http://schemas.openxmlformats.org/officeDocument/2006/relationships/image" Target="../media/image65.jpg"/><Relationship Id="rId7" Type="http://schemas.openxmlformats.org/officeDocument/2006/relationships/image" Target="../media/image6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9.png"/><Relationship Id="rId4" Type="http://schemas.openxmlformats.org/officeDocument/2006/relationships/image" Target="../media/image63.png"/><Relationship Id="rId5" Type="http://schemas.openxmlformats.org/officeDocument/2006/relationships/image" Target="../media/image85.png"/><Relationship Id="rId6" Type="http://schemas.openxmlformats.org/officeDocument/2006/relationships/image" Target="../media/image69.jpg"/><Relationship Id="rId7" Type="http://schemas.openxmlformats.org/officeDocument/2006/relationships/image" Target="../media/image81.png"/><Relationship Id="rId8" Type="http://schemas.openxmlformats.org/officeDocument/2006/relationships/image" Target="../media/image80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9.png"/><Relationship Id="rId4" Type="http://schemas.openxmlformats.org/officeDocument/2006/relationships/image" Target="../media/image63.png"/><Relationship Id="rId9" Type="http://schemas.openxmlformats.org/officeDocument/2006/relationships/image" Target="../media/image74.jpg"/><Relationship Id="rId5" Type="http://schemas.openxmlformats.org/officeDocument/2006/relationships/image" Target="../media/image81.png"/><Relationship Id="rId6" Type="http://schemas.openxmlformats.org/officeDocument/2006/relationships/image" Target="../media/image80.jpg"/><Relationship Id="rId7" Type="http://schemas.openxmlformats.org/officeDocument/2006/relationships/image" Target="../media/image78.jpg"/><Relationship Id="rId8" Type="http://schemas.openxmlformats.org/officeDocument/2006/relationships/image" Target="../media/image72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1.jp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9.png"/><Relationship Id="rId4" Type="http://schemas.openxmlformats.org/officeDocument/2006/relationships/hyperlink" Target="http://drive.google.com/file/d/1P7TuzdbdlOyAThClX12FdEnFVrKakBQg/view" TargetMode="External"/><Relationship Id="rId5" Type="http://schemas.openxmlformats.org/officeDocument/2006/relationships/image" Target="../media/image90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9.png"/><Relationship Id="rId4" Type="http://schemas.openxmlformats.org/officeDocument/2006/relationships/image" Target="../media/image82.png"/><Relationship Id="rId5" Type="http://schemas.openxmlformats.org/officeDocument/2006/relationships/image" Target="../media/image7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9.png"/><Relationship Id="rId4" Type="http://schemas.openxmlformats.org/officeDocument/2006/relationships/hyperlink" Target="http://drive.google.com/file/d/1FQQxC5RjLoeRiL61vXZ6Uc-NAlLDLhwK/view" TargetMode="External"/><Relationship Id="rId5" Type="http://schemas.openxmlformats.org/officeDocument/2006/relationships/image" Target="../media/image79.jp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88.png"/><Relationship Id="rId4" Type="http://schemas.openxmlformats.org/officeDocument/2006/relationships/image" Target="../media/image96.jpg"/><Relationship Id="rId5" Type="http://schemas.openxmlformats.org/officeDocument/2006/relationships/image" Target="../media/image97.jpg"/><Relationship Id="rId6" Type="http://schemas.openxmlformats.org/officeDocument/2006/relationships/image" Target="../media/image100.jpg"/><Relationship Id="rId7" Type="http://schemas.openxmlformats.org/officeDocument/2006/relationships/image" Target="../media/image99.jp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3.xml"/><Relationship Id="rId3" Type="http://schemas.openxmlformats.org/officeDocument/2006/relationships/comments" Target="../comments/comment2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Relationship Id="rId3" Type="http://schemas.openxmlformats.org/officeDocument/2006/relationships/comments" Target="../comments/comment3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87.png"/><Relationship Id="rId4" Type="http://schemas.openxmlformats.org/officeDocument/2006/relationships/image" Target="../media/image95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5.png"/><Relationship Id="rId4" Type="http://schemas.openxmlformats.org/officeDocument/2006/relationships/image" Target="../media/image9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95.png"/><Relationship Id="rId4" Type="http://schemas.openxmlformats.org/officeDocument/2006/relationships/image" Target="../media/image102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4.png"/><Relationship Id="rId4" Type="http://schemas.openxmlformats.org/officeDocument/2006/relationships/image" Target="../media/image62.png"/><Relationship Id="rId5" Type="http://schemas.openxmlformats.org/officeDocument/2006/relationships/image" Target="../media/image53.png"/><Relationship Id="rId6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4" name="Google Shape;314;p55"/>
          <p:cNvPicPr preferRelativeResize="0"/>
          <p:nvPr/>
        </p:nvPicPr>
        <p:blipFill rotWithShape="1">
          <a:blip r:embed="rId3">
            <a:alphaModFix/>
          </a:blip>
          <a:srcRect b="20112" l="-3802" r="-7050" t="12664"/>
          <a:stretch/>
        </p:blipFill>
        <p:spPr>
          <a:xfrm>
            <a:off x="-355675" y="-100325"/>
            <a:ext cx="10177577" cy="4813224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5"/>
          <p:cNvSpPr txBox="1"/>
          <p:nvPr/>
        </p:nvSpPr>
        <p:spPr>
          <a:xfrm>
            <a:off x="233675" y="3392425"/>
            <a:ext cx="34050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3700">
                <a:solidFill>
                  <a:srgbClr val="0B4060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¡Te damos la bienvenida a la Sesión de Integración!</a:t>
            </a:r>
            <a:endParaRPr b="1" sz="1700">
              <a:solidFill>
                <a:srgbClr val="0B406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316" name="Google Shape;316;p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71675" y="256756"/>
            <a:ext cx="2099637" cy="837099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55"/>
          <p:cNvSpPr/>
          <p:nvPr/>
        </p:nvSpPr>
        <p:spPr>
          <a:xfrm>
            <a:off x="0" y="4681125"/>
            <a:ext cx="9180300" cy="53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8" name="Google Shape;31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67996" y="4712900"/>
            <a:ext cx="1076954" cy="38771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5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72850" y="4681125"/>
            <a:ext cx="931226" cy="475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55"/>
          <p:cNvPicPr preferRelativeResize="0"/>
          <p:nvPr/>
        </p:nvPicPr>
        <p:blipFill rotWithShape="1">
          <a:blip r:embed="rId7">
            <a:alphaModFix/>
          </a:blip>
          <a:srcRect b="1066" l="0" r="0" t="1076"/>
          <a:stretch/>
        </p:blipFill>
        <p:spPr>
          <a:xfrm>
            <a:off x="4493375" y="4766300"/>
            <a:ext cx="1261374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55"/>
          <p:cNvSpPr txBox="1"/>
          <p:nvPr/>
        </p:nvSpPr>
        <p:spPr>
          <a:xfrm>
            <a:off x="1096950" y="4796475"/>
            <a:ext cx="55722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1700">
                <a:solidFill>
                  <a:schemeClr val="dk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pPr>
            <a:r>
              <a:t>Un programa desarrollado por:</a:t>
            </a:r>
            <a:endParaRPr b="0" i="0" sz="1700" u="none" cap="none" strike="noStrike">
              <a:solidFill>
                <a:schemeClr val="dk1"/>
              </a:solidFill>
              <a:latin typeface="Noto Sans Thin"/>
              <a:ea typeface="Noto Sans Thin"/>
              <a:cs typeface="Noto Sans Thin"/>
              <a:sym typeface="Noto Sans Thi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6"/>
          <p:cNvSpPr txBox="1"/>
          <p:nvPr>
            <p:ph idx="1" type="body"/>
          </p:nvPr>
        </p:nvSpPr>
        <p:spPr>
          <a:xfrm>
            <a:off x="5187675" y="3337925"/>
            <a:ext cx="35184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  <a:defRPr sz="5500"/>
            </a:pPr>
            <a:r>
              <a:t>Presentaciones</a:t>
            </a:r>
            <a:endParaRPr sz="55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7"/>
          <p:cNvSpPr txBox="1"/>
          <p:nvPr>
            <p:ph idx="1" type="body"/>
          </p:nvPr>
        </p:nvSpPr>
        <p:spPr>
          <a:xfrm>
            <a:off x="5379425" y="2761850"/>
            <a:ext cx="2972700" cy="15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  <a:defRPr sz="5500"/>
            </a:pPr>
            <a:r>
              <a:t>Conócenos</a:t>
            </a:r>
            <a:endParaRPr sz="55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8"/>
          <p:cNvSpPr txBox="1"/>
          <p:nvPr>
            <p:ph idx="1" type="body"/>
          </p:nvPr>
        </p:nvSpPr>
        <p:spPr>
          <a:xfrm>
            <a:off x="1439025" y="497650"/>
            <a:ext cx="56085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Delicious Handrawn"/>
              <a:buNone/>
            </a:pPr>
            <a:r>
              <a:t>Acerca de</a:t>
            </a:r>
          </a:p>
        </p:txBody>
      </p:sp>
      <p:pic>
        <p:nvPicPr>
          <p:cNvPr id="337" name="Google Shape;337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60072" y="111299"/>
            <a:ext cx="2577825" cy="102355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58"/>
          <p:cNvSpPr txBox="1"/>
          <p:nvPr/>
        </p:nvSpPr>
        <p:spPr>
          <a:xfrm>
            <a:off x="1496175" y="1708725"/>
            <a:ext cx="5982900" cy="19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9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¿Para quién es Crianza con Conciencia +? ?</a:t>
            </a:r>
            <a:endParaRPr i="0" sz="1600" u="none" cap="none" strike="noStrike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  <a:defRPr sz="19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Para padres, madres y cuidadores como TÚ, con niñas, niños y adolescentes (NNA) de </a:t>
            </a:r>
            <a:r>
              <a:rPr u="sng"/>
              <a:t>2 a 17 años.</a:t>
            </a:r>
            <a:endParaRPr i="0" sz="1900" u="sng" cap="none" strike="noStrike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i="0" sz="1900" u="none" cap="none" strike="noStrike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59"/>
          <p:cNvSpPr txBox="1"/>
          <p:nvPr>
            <p:ph idx="1" type="body"/>
          </p:nvPr>
        </p:nvSpPr>
        <p:spPr>
          <a:xfrm>
            <a:off x="1439025" y="497650"/>
            <a:ext cx="56085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Delicious Handrawn"/>
              <a:buNone/>
            </a:pPr>
            <a:r>
              <a:t>Acerca de</a:t>
            </a:r>
          </a:p>
        </p:txBody>
      </p:sp>
      <p:pic>
        <p:nvPicPr>
          <p:cNvPr id="344" name="Google Shape;344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60072" y="111299"/>
            <a:ext cx="2577825" cy="102355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59"/>
          <p:cNvSpPr txBox="1"/>
          <p:nvPr/>
        </p:nvSpPr>
        <p:spPr>
          <a:xfrm>
            <a:off x="1830300" y="1349400"/>
            <a:ext cx="5483400" cy="24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¿A qué nos referimos cuando decimos "padres y madres"?</a:t>
            </a:r>
            <a:endParaRPr i="0" u="none" cap="none" strike="noStrike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Padres, Madres y Crianza incluye a todos los cuidadores responsables del bienestar de tu niño, niña o adolescente. Entre los cuidadores se incluyen a padres y madres no biológicos como tíos, tías, hermanos, hermanas primos, primas y madres o padres adoptivos.</a:t>
            </a:r>
            <a:endParaRPr i="0" sz="1700" u="none" cap="none" strike="noStrike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0"/>
          <p:cNvSpPr txBox="1"/>
          <p:nvPr>
            <p:ph idx="1" type="body"/>
          </p:nvPr>
        </p:nvSpPr>
        <p:spPr>
          <a:xfrm>
            <a:off x="1037250" y="382650"/>
            <a:ext cx="4859100" cy="18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elicious Handrawn"/>
              <a:buNone/>
            </a:pPr>
            <a:r>
              <a:t>¿Cuál es el objetivo de</a:t>
            </a: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elicious Handrawn"/>
              <a:buNone/>
            </a:p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elicious Handrawn"/>
              <a:buNone/>
            </a:p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elicious Handrawn"/>
              <a:buNone/>
            </a:pPr>
            <a:r>
              <a:t>                              ?</a:t>
            </a:r>
          </a:p>
        </p:txBody>
      </p:sp>
      <p:pic>
        <p:nvPicPr>
          <p:cNvPr id="351" name="Google Shape;351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7672" y="1048374"/>
            <a:ext cx="2577825" cy="102355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60"/>
          <p:cNvSpPr txBox="1"/>
          <p:nvPr/>
        </p:nvSpPr>
        <p:spPr>
          <a:xfrm>
            <a:off x="4659250" y="3006725"/>
            <a:ext cx="4334400" cy="16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Noto Sans"/>
              <a:buChar char="●"/>
              <a:defRPr sz="11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Construir relaciones llenas de cariño, transparencia y confianza entre los cuidadores y sus niños, niñas y adolescentes.</a:t>
            </a:r>
            <a:endParaRPr sz="11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Noto Sans"/>
              <a:buChar char="●"/>
              <a:defRPr sz="11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Apoyar las relaciones sanas y positivas para procurar la Seguridad y Salud y favorecer el desarrollo de niños, niñas y adolescentes.</a:t>
            </a:r>
            <a:endParaRPr sz="11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1"/>
          <p:cNvSpPr/>
          <p:nvPr/>
        </p:nvSpPr>
        <p:spPr>
          <a:xfrm rot="-5400000">
            <a:off x="2810425" y="-2578375"/>
            <a:ext cx="475200" cy="60960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61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Acerca de Crianza con Conciencia +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61"/>
          <p:cNvSpPr txBox="1"/>
          <p:nvPr/>
        </p:nvSpPr>
        <p:spPr>
          <a:xfrm>
            <a:off x="231525" y="2272875"/>
            <a:ext cx="759600" cy="53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Pregunta de Referencia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61"/>
          <p:cNvSpPr/>
          <p:nvPr/>
        </p:nvSpPr>
        <p:spPr>
          <a:xfrm>
            <a:off x="702350" y="1426188"/>
            <a:ext cx="2291100" cy="2291100"/>
          </a:xfrm>
          <a:prstGeom prst="ellipse">
            <a:avLst/>
          </a:prstGeom>
          <a:solidFill>
            <a:srgbClr val="013D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61"/>
          <p:cNvSpPr/>
          <p:nvPr/>
        </p:nvSpPr>
        <p:spPr>
          <a:xfrm>
            <a:off x="3464475" y="1426188"/>
            <a:ext cx="2291100" cy="22911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61"/>
          <p:cNvSpPr/>
          <p:nvPr/>
        </p:nvSpPr>
        <p:spPr>
          <a:xfrm>
            <a:off x="6226600" y="1426188"/>
            <a:ext cx="2291100" cy="2291100"/>
          </a:xfrm>
          <a:prstGeom prst="ellipse">
            <a:avLst/>
          </a:prstGeom>
          <a:solidFill>
            <a:srgbClr val="E4027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3" name="Google Shape;363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9825" y="1705675"/>
            <a:ext cx="716150" cy="716150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61"/>
          <p:cNvSpPr txBox="1"/>
          <p:nvPr/>
        </p:nvSpPr>
        <p:spPr>
          <a:xfrm>
            <a:off x="1191500" y="2572450"/>
            <a:ext cx="1312800" cy="53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300">
                <a:solidFill>
                  <a:schemeClr val="lt1"/>
                </a:solidFill>
              </a:defRPr>
            </a:pPr>
            <a:r>
              <a:t>Sesión presencial de integración</a:t>
            </a:r>
            <a:endParaRPr b="1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5" name="Google Shape;365;p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51950" y="1639550"/>
            <a:ext cx="716150" cy="71615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61"/>
          <p:cNvSpPr txBox="1"/>
          <p:nvPr/>
        </p:nvSpPr>
        <p:spPr>
          <a:xfrm>
            <a:off x="3890400" y="2222800"/>
            <a:ext cx="1363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rPr sz="1400">
                <a:latin typeface="Arial"/>
                <a:ea typeface="Arial"/>
                <a:cs typeface="Arial"/>
                <a:sym typeface="Arial"/>
              </a:rPr>
              <a:t>Aprendiendo a través del </a:t>
            </a:r>
            <a:r>
              <a:t>chatbot de Crianza con Conciencia + en WhatsApp</a:t>
            </a: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7" name="Google Shape;367;p61"/>
          <p:cNvPicPr preferRelativeResize="0"/>
          <p:nvPr/>
        </p:nvPicPr>
        <p:blipFill rotWithShape="1">
          <a:blip r:embed="rId5">
            <a:alphaModFix/>
          </a:blip>
          <a:srcRect b="2606" l="0" r="0" t="2606"/>
          <a:stretch/>
        </p:blipFill>
        <p:spPr>
          <a:xfrm>
            <a:off x="7141575" y="1764175"/>
            <a:ext cx="599150" cy="59915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61"/>
          <p:cNvSpPr txBox="1"/>
          <p:nvPr/>
        </p:nvSpPr>
        <p:spPr>
          <a:xfrm>
            <a:off x="6428500" y="2408200"/>
            <a:ext cx="1887300" cy="8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t>Apoyo en un Grupo de WhatsApp </a:t>
            </a:r>
            <a:r>
              <a:rPr i="1"/>
              <a:t>separado</a:t>
            </a:r>
            <a:r>
              <a:t> y moderado por un Facilitador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62"/>
          <p:cNvSpPr/>
          <p:nvPr/>
        </p:nvSpPr>
        <p:spPr>
          <a:xfrm rot="-5400000">
            <a:off x="2400025" y="-2140975"/>
            <a:ext cx="448200" cy="5248200"/>
          </a:xfrm>
          <a:prstGeom prst="round2SameRect">
            <a:avLst>
              <a:gd fmla="val 0" name="adj1"/>
              <a:gd fmla="val 49968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62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Acerca de </a:t>
            </a:r>
            <a:r>
              <a:t>Crianza con Conciencia +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62"/>
          <p:cNvSpPr txBox="1"/>
          <p:nvPr/>
        </p:nvSpPr>
        <p:spPr>
          <a:xfrm>
            <a:off x="4094575" y="1402775"/>
            <a:ext cx="508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62"/>
          <p:cNvSpPr txBox="1"/>
          <p:nvPr/>
        </p:nvSpPr>
        <p:spPr>
          <a:xfrm>
            <a:off x="3026625" y="1239325"/>
            <a:ext cx="5401200" cy="30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92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Char char="●"/>
              <a:defRPr sz="19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Curso Básico: Mejorar mi relación con mi niña, niño o adolescente (5 días)</a:t>
            </a:r>
            <a:endParaRPr b="0" i="0" sz="1900" u="none" cap="none" strike="noStrike">
              <a:solidFill>
                <a:srgbClr val="00969B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  <a:p>
            <a:pPr indent="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Todos los días recibirás estrategias de crianza a través del chat automatizado de WhatsApp que te ayudarán a mejorar la relación con tu niño, niña o adolescente.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1700">
                <a:solidFill>
                  <a:srgbClr val="FF5E00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¡Solo te tomará 5 minutos por día!</a:t>
            </a:r>
            <a:endParaRPr b="0" i="0" sz="1700" u="none" cap="none" strike="noStrike">
              <a:solidFill>
                <a:srgbClr val="FF5E00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  <a:p>
            <a:pPr indent="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●"/>
              <a:defRPr sz="1300">
                <a:solidFill>
                  <a:schemeClr val="dk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Este curso contiene 5 </a:t>
            </a:r>
            <a:r>
              <a:t>sesiones</a:t>
            </a:r>
            <a:r>
              <a:rPr>
                <a:latin typeface="Arial"/>
                <a:ea typeface="Arial"/>
                <a:cs typeface="Arial"/>
                <a:sym typeface="Arial"/>
              </a:rPr>
              <a:t> (una por día) sobre cómo mejorar la relación con tu niño, niña o adolescente</a:t>
            </a:r>
            <a:endParaRPr b="0" i="0" sz="15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62"/>
          <p:cNvSpPr/>
          <p:nvPr/>
        </p:nvSpPr>
        <p:spPr>
          <a:xfrm>
            <a:off x="497550" y="1426188"/>
            <a:ext cx="2291100" cy="22911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8" name="Google Shape;378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5025" y="1639550"/>
            <a:ext cx="716150" cy="71615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62"/>
          <p:cNvSpPr txBox="1"/>
          <p:nvPr/>
        </p:nvSpPr>
        <p:spPr>
          <a:xfrm>
            <a:off x="930475" y="2222125"/>
            <a:ext cx="1363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t>Aprendiendo a través del chatbot de Crianza con Conciencia + en WhatsApp</a:t>
            </a:r>
            <a:endParaRPr b="1">
              <a:solidFill>
                <a:srgbClr val="1B3055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63"/>
          <p:cNvSpPr txBox="1"/>
          <p:nvPr/>
        </p:nvSpPr>
        <p:spPr>
          <a:xfrm>
            <a:off x="1145988" y="543325"/>
            <a:ext cx="68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highlight>
                  <a:srgbClr val="0E3A5A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Curso Básico: Mejorar mi relación con mi niña, niño o adolescente</a:t>
            </a:r>
            <a:endParaRPr i="0" sz="2400" u="none" cap="none" strike="noStrike">
              <a:solidFill>
                <a:schemeClr val="lt1"/>
              </a:solidFill>
              <a:highlight>
                <a:srgbClr val="0E3A5A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386" name="Google Shape;386;p6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0488" y="1367885"/>
            <a:ext cx="2538769" cy="1905014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63"/>
          <p:cNvSpPr txBox="1"/>
          <p:nvPr/>
        </p:nvSpPr>
        <p:spPr>
          <a:xfrm>
            <a:off x="466838" y="3465246"/>
            <a:ext cx="2606100" cy="76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1: Pasar Tiempo Uno a Uno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388" name="Google Shape;388;p63"/>
          <p:cNvPicPr preferRelativeResize="0"/>
          <p:nvPr/>
        </p:nvPicPr>
        <p:blipFill rotWithShape="1">
          <a:blip r:embed="rId5">
            <a:alphaModFix/>
          </a:blip>
          <a:srcRect b="0" l="59" r="49" t="0"/>
          <a:stretch/>
        </p:blipFill>
        <p:spPr>
          <a:xfrm>
            <a:off x="3302603" y="1367885"/>
            <a:ext cx="2538769" cy="1905015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63"/>
          <p:cNvSpPr txBox="1"/>
          <p:nvPr/>
        </p:nvSpPr>
        <p:spPr>
          <a:xfrm>
            <a:off x="3268950" y="3465250"/>
            <a:ext cx="2606100" cy="47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2: Dar Reconocimiento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390" name="Google Shape;390;p63"/>
          <p:cNvPicPr preferRelativeResize="0"/>
          <p:nvPr/>
        </p:nvPicPr>
        <p:blipFill rotWithShape="1">
          <a:blip r:embed="rId6">
            <a:alphaModFix/>
          </a:blip>
          <a:srcRect b="0" l="59" r="49" t="0"/>
          <a:stretch/>
        </p:blipFill>
        <p:spPr>
          <a:xfrm>
            <a:off x="6104718" y="1367885"/>
            <a:ext cx="2538769" cy="1905015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63"/>
          <p:cNvSpPr txBox="1"/>
          <p:nvPr/>
        </p:nvSpPr>
        <p:spPr>
          <a:xfrm>
            <a:off x="6071068" y="3465246"/>
            <a:ext cx="2606100" cy="76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3: Crear una Rutina para el Tiempo Uno a Uno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392" name="Google Shape;392;p63"/>
          <p:cNvSpPr txBox="1"/>
          <p:nvPr/>
        </p:nvSpPr>
        <p:spPr>
          <a:xfrm>
            <a:off x="466838" y="4344446"/>
            <a:ext cx="2606100" cy="646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Crear confianza, respeto y una relación positiva entre tú y tu niño, niña o adolescente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93" name="Google Shape;393;p63"/>
          <p:cNvSpPr txBox="1"/>
          <p:nvPr/>
        </p:nvSpPr>
        <p:spPr>
          <a:xfrm>
            <a:off x="3235263" y="4344446"/>
            <a:ext cx="2606100" cy="4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Hacer que tu niño, niña o adolescente quiera comportarse de la manera esperada con mayor frecuencia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94" name="Google Shape;394;p63"/>
          <p:cNvSpPr txBox="1"/>
          <p:nvPr/>
        </p:nvSpPr>
        <p:spPr>
          <a:xfrm>
            <a:off x="6071038" y="4344446"/>
            <a:ext cx="2606100" cy="4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Ayudar a que tu niño, niña o adolescente sienta más seguridad, protección y ganas de cooperar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Google Shape;39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Google Shape;400;p64"/>
          <p:cNvPicPr preferRelativeResize="0"/>
          <p:nvPr/>
        </p:nvPicPr>
        <p:blipFill rotWithShape="1">
          <a:blip r:embed="rId4">
            <a:alphaModFix/>
          </a:blip>
          <a:srcRect b="89" l="0" r="0" t="99"/>
          <a:stretch/>
        </p:blipFill>
        <p:spPr>
          <a:xfrm>
            <a:off x="1901538" y="1253685"/>
            <a:ext cx="2538769" cy="1905015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64"/>
          <p:cNvSpPr txBox="1"/>
          <p:nvPr/>
        </p:nvSpPr>
        <p:spPr>
          <a:xfrm>
            <a:off x="1867888" y="3351046"/>
            <a:ext cx="2606100" cy="76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123D5D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4: Identificar Emociones y Sentimientos durante el Tiempo Uno a Uno</a:t>
            </a:r>
            <a:endParaRPr b="0" i="0" sz="1900" u="none" cap="none" strike="noStrike">
              <a:solidFill>
                <a:srgbClr val="123D5D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402" name="Google Shape;402;p64"/>
          <p:cNvPicPr preferRelativeResize="0"/>
          <p:nvPr/>
        </p:nvPicPr>
        <p:blipFill rotWithShape="1">
          <a:blip r:embed="rId5">
            <a:alphaModFix/>
          </a:blip>
          <a:srcRect b="0" l="19" r="29" t="0"/>
          <a:stretch/>
        </p:blipFill>
        <p:spPr>
          <a:xfrm>
            <a:off x="4703653" y="1253685"/>
            <a:ext cx="2538769" cy="1905014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64"/>
          <p:cNvSpPr txBox="1"/>
          <p:nvPr/>
        </p:nvSpPr>
        <p:spPr>
          <a:xfrm>
            <a:off x="4670003" y="3351046"/>
            <a:ext cx="2606100" cy="76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123D5D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5: Mantener la Calma Cuando Haya Estrés</a:t>
            </a:r>
            <a:endParaRPr b="0" i="0" sz="1900" u="none" cap="none" strike="noStrike">
              <a:solidFill>
                <a:srgbClr val="123D5D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404" name="Google Shape;404;p64"/>
          <p:cNvSpPr txBox="1"/>
          <p:nvPr/>
        </p:nvSpPr>
        <p:spPr>
          <a:xfrm>
            <a:off x="0" y="4750175"/>
            <a:ext cx="9144000" cy="431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00969B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¡¡Al finalizar los 5 días </a:t>
            </a:r>
            <a:r>
              <a:t>tú</a:t>
            </a:r>
            <a:r>
              <a:rPr>
                <a:latin typeface="Arial"/>
                <a:ea typeface="Arial"/>
                <a:cs typeface="Arial"/>
                <a:sym typeface="Arial"/>
              </a:rPr>
              <a:t>recibirás </a:t>
            </a:r>
            <a:r>
              <a:t>un reconocimiento de crianza positiva!!</a:t>
            </a:r>
            <a:endParaRPr b="1" i="0" sz="16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64"/>
          <p:cNvSpPr txBox="1"/>
          <p:nvPr/>
        </p:nvSpPr>
        <p:spPr>
          <a:xfrm>
            <a:off x="1228025" y="228600"/>
            <a:ext cx="6852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100">
                <a:solidFill>
                  <a:schemeClr val="lt1"/>
                </a:solidFill>
                <a:highlight>
                  <a:srgbClr val="0E3A5A"/>
                </a:highlight>
                <a:latin typeface="Arial"/>
                <a:ea typeface="Arial"/>
                <a:cs typeface="Arial"/>
                <a:sym typeface="Arial"/>
              </a:defRPr>
            </a:pPr>
            <a:r>
              <a:t>Curso Básico: Mejorar la Relación con mi niña, niño o adolescente</a:t>
            </a:r>
            <a:endParaRPr b="0" i="0" sz="2100" u="none" cap="none" strike="noStrike">
              <a:solidFill>
                <a:schemeClr val="lt1"/>
              </a:solidFill>
              <a:highlight>
                <a:srgbClr val="0E3A5A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64"/>
          <p:cNvSpPr txBox="1"/>
          <p:nvPr/>
        </p:nvSpPr>
        <p:spPr>
          <a:xfrm>
            <a:off x="1867863" y="4167384"/>
            <a:ext cx="2606100" cy="4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Ayudar a tu niña, niño o adolescente a aprender a expresarse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7" name="Google Shape;407;p64"/>
          <p:cNvSpPr txBox="1"/>
          <p:nvPr/>
        </p:nvSpPr>
        <p:spPr>
          <a:xfrm>
            <a:off x="4669988" y="4167396"/>
            <a:ext cx="2606100" cy="4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Controlar tu enojo al enfrentarte a situaciones de crianza estresantes 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5"/>
          <p:cNvSpPr/>
          <p:nvPr/>
        </p:nvSpPr>
        <p:spPr>
          <a:xfrm rot="-5400000">
            <a:off x="2400025" y="-2140975"/>
            <a:ext cx="448200" cy="5248200"/>
          </a:xfrm>
          <a:prstGeom prst="round2SameRect">
            <a:avLst>
              <a:gd fmla="val 0" name="adj1"/>
              <a:gd fmla="val 49968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65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Acerca de </a:t>
            </a:r>
            <a:r>
              <a:t>Crianza con Conciencia +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65"/>
          <p:cNvSpPr txBox="1"/>
          <p:nvPr/>
        </p:nvSpPr>
        <p:spPr>
          <a:xfrm>
            <a:off x="4094575" y="1402775"/>
            <a:ext cx="508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65"/>
          <p:cNvSpPr/>
          <p:nvPr/>
        </p:nvSpPr>
        <p:spPr>
          <a:xfrm>
            <a:off x="497550" y="1426188"/>
            <a:ext cx="2291100" cy="22911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6" name="Google Shape;416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5025" y="1639550"/>
            <a:ext cx="716150" cy="71615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65"/>
          <p:cNvSpPr txBox="1"/>
          <p:nvPr/>
        </p:nvSpPr>
        <p:spPr>
          <a:xfrm>
            <a:off x="811350" y="2269325"/>
            <a:ext cx="16635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t>Aprendiendo a través del chatbot de Crianza con Conciencia + en WhatsApp</a:t>
            </a:r>
            <a:endParaRPr b="1">
              <a:solidFill>
                <a:srgbClr val="1B3055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65"/>
          <p:cNvSpPr/>
          <p:nvPr/>
        </p:nvSpPr>
        <p:spPr>
          <a:xfrm>
            <a:off x="353900" y="1150350"/>
            <a:ext cx="2737500" cy="2848800"/>
          </a:xfrm>
          <a:prstGeom prst="arc">
            <a:avLst>
              <a:gd fmla="val 16114895" name="adj1"/>
              <a:gd fmla="val 5238787" name="adj2"/>
            </a:avLst>
          </a:prstGeom>
          <a:noFill/>
          <a:ln cap="flat" cmpd="sng" w="28575">
            <a:solidFill>
              <a:srgbClr val="0096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cxnSp>
        <p:nvCxnSpPr>
          <p:cNvPr id="419" name="Google Shape;419;p65"/>
          <p:cNvCxnSpPr>
            <a:endCxn id="420" idx="1"/>
          </p:cNvCxnSpPr>
          <p:nvPr/>
        </p:nvCxnSpPr>
        <p:spPr>
          <a:xfrm>
            <a:off x="2474975" y="1402775"/>
            <a:ext cx="1571400" cy="0"/>
          </a:xfrm>
          <a:prstGeom prst="straightConnector1">
            <a:avLst/>
          </a:prstGeom>
          <a:noFill/>
          <a:ln cap="flat" cmpd="sng" w="28575">
            <a:solidFill>
              <a:srgbClr val="00969B"/>
            </a:solidFill>
            <a:prstDash val="solid"/>
            <a:round/>
            <a:headEnd len="med" w="med" type="oval"/>
            <a:tailEnd len="med" w="med" type="none"/>
          </a:ln>
        </p:spPr>
      </p:cxnSp>
      <p:sp>
        <p:nvSpPr>
          <p:cNvPr id="420" name="Google Shape;420;p65"/>
          <p:cNvSpPr txBox="1"/>
          <p:nvPr/>
        </p:nvSpPr>
        <p:spPr>
          <a:xfrm>
            <a:off x="4046375" y="944825"/>
            <a:ext cx="5001900" cy="9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900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 5 Sesiones Diarias sobre cómo mejorar tu relación con tu niña, niño o adolescente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421" name="Google Shape;421;p65"/>
          <p:cNvSpPr txBox="1"/>
          <p:nvPr/>
        </p:nvSpPr>
        <p:spPr>
          <a:xfrm>
            <a:off x="4133725" y="2115250"/>
            <a:ext cx="5001900" cy="9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Actividades lúdicas para hacer con tu niña, niño o adolescente al final de cada sesión</a:t>
            </a:r>
            <a:endParaRPr>
              <a:solidFill>
                <a:srgbClr val="00969B"/>
              </a:solidFill>
            </a:endParaRPr>
          </a:p>
        </p:txBody>
      </p:sp>
      <p:sp>
        <p:nvSpPr>
          <p:cNvPr id="422" name="Google Shape;422;p65"/>
          <p:cNvSpPr txBox="1"/>
          <p:nvPr/>
        </p:nvSpPr>
        <p:spPr>
          <a:xfrm>
            <a:off x="4133725" y="3285675"/>
            <a:ext cx="5001900" cy="9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Recursos, en caso de necesitar apoyo, para cuestiones de salud mental, violencia, violencia sexual o abuso de sustancias (Escribe AYUDA)</a:t>
            </a:r>
            <a:endParaRPr>
              <a:solidFill>
                <a:srgbClr val="00969B"/>
              </a:solidFill>
            </a:endParaRPr>
          </a:p>
        </p:txBody>
      </p:sp>
      <p:cxnSp>
        <p:nvCxnSpPr>
          <p:cNvPr id="423" name="Google Shape;423;p65"/>
          <p:cNvCxnSpPr/>
          <p:nvPr/>
        </p:nvCxnSpPr>
        <p:spPr>
          <a:xfrm flipH="1" rot="10800000">
            <a:off x="3037500" y="2568900"/>
            <a:ext cx="1049700" cy="18600"/>
          </a:xfrm>
          <a:prstGeom prst="straightConnector1">
            <a:avLst/>
          </a:prstGeom>
          <a:noFill/>
          <a:ln cap="flat" cmpd="sng" w="28575">
            <a:solidFill>
              <a:srgbClr val="00969B"/>
            </a:solidFill>
            <a:prstDash val="solid"/>
            <a:round/>
            <a:headEnd len="med" w="med" type="oval"/>
            <a:tailEnd len="med" w="med" type="none"/>
          </a:ln>
        </p:spPr>
      </p:cxnSp>
      <p:cxnSp>
        <p:nvCxnSpPr>
          <p:cNvPr id="424" name="Google Shape;424;p65"/>
          <p:cNvCxnSpPr/>
          <p:nvPr/>
        </p:nvCxnSpPr>
        <p:spPr>
          <a:xfrm flipH="1" rot="10800000">
            <a:off x="2474850" y="3740725"/>
            <a:ext cx="1659000" cy="14100"/>
          </a:xfrm>
          <a:prstGeom prst="straightConnector1">
            <a:avLst/>
          </a:prstGeom>
          <a:noFill/>
          <a:ln cap="flat" cmpd="sng" w="28575">
            <a:solidFill>
              <a:srgbClr val="00969B"/>
            </a:solidFill>
            <a:prstDash val="solid"/>
            <a:round/>
            <a:headEnd len="med" w="med" type="oval"/>
            <a:tailEnd len="med" w="med" type="non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66"/>
          <p:cNvSpPr txBox="1"/>
          <p:nvPr/>
        </p:nvSpPr>
        <p:spPr>
          <a:xfrm>
            <a:off x="4094575" y="1402775"/>
            <a:ext cx="508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66"/>
          <p:cNvSpPr txBox="1"/>
          <p:nvPr/>
        </p:nvSpPr>
        <p:spPr>
          <a:xfrm>
            <a:off x="3104450" y="1232700"/>
            <a:ext cx="5745000" cy="29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chemeClr val="dk1"/>
                </a:solidFill>
              </a:defRPr>
            </a:pPr>
            <a:r>
              <a:t>Participarás en sesiones de chat de WhatsApp y aprenderás a cuidar de tu salud mental para apoyarte a ti mismo y a tus familias.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chemeClr val="dk1"/>
                </a:solidFill>
              </a:defRPr>
            </a:pPr>
            <a:r>
              <a:t>También puedes compartir tus propias experiencias relacionadas con las sesiones ofrecidas a través del chatbot Crianza con Conciencia +. 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Habrá tres sesiones de chat: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sz="16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Después de la sesión de integración:</a:t>
            </a:r>
            <a:r>
              <a:rPr sz="1200">
                <a:solidFill>
                  <a:srgbClr val="00969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Bienvenida y presentaciones.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sz="17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Día 3:</a:t>
            </a:r>
            <a:r>
              <a:rPr sz="1700">
                <a:solidFill>
                  <a:schemeClr val="dk1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 </a:t>
            </a:r>
            <a:r>
              <a:rPr sz="1200">
                <a:solidFill>
                  <a:schemeClr val="dk1"/>
                </a:solidFill>
              </a:rPr>
              <a:t> Diálogo Interno: Sesión de chat de WhatsApp sobre el diálogo Interno y el estrés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sz="17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Día 5:</a:t>
            </a:r>
            <a:r>
              <a:rPr sz="1200">
                <a:solidFill>
                  <a:srgbClr val="00969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sz="1200">
                <a:solidFill>
                  <a:schemeClr val="dk1"/>
                </a:solidFill>
              </a:rPr>
              <a:t>Despedida</a:t>
            </a:r>
            <a:r>
              <a: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66"/>
          <p:cNvSpPr/>
          <p:nvPr/>
        </p:nvSpPr>
        <p:spPr>
          <a:xfrm>
            <a:off x="353525" y="1426188"/>
            <a:ext cx="2291100" cy="2291100"/>
          </a:xfrm>
          <a:prstGeom prst="ellipse">
            <a:avLst/>
          </a:prstGeom>
          <a:solidFill>
            <a:srgbClr val="E4027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2" name="Google Shape;432;p66"/>
          <p:cNvPicPr preferRelativeResize="0"/>
          <p:nvPr/>
        </p:nvPicPr>
        <p:blipFill rotWithShape="1">
          <a:blip r:embed="rId3">
            <a:alphaModFix/>
          </a:blip>
          <a:srcRect b="2606" l="0" r="0" t="2606"/>
          <a:stretch/>
        </p:blipFill>
        <p:spPr>
          <a:xfrm>
            <a:off x="1268500" y="1764175"/>
            <a:ext cx="599150" cy="599150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6"/>
          <p:cNvSpPr txBox="1"/>
          <p:nvPr/>
        </p:nvSpPr>
        <p:spPr>
          <a:xfrm>
            <a:off x="555425" y="2408200"/>
            <a:ext cx="1887300" cy="8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t>Apoyo en un Grupo de WhatsApp </a:t>
            </a:r>
            <a:r>
              <a:rPr i="1"/>
              <a:t>separado</a:t>
            </a:r>
            <a:r>
              <a:t> y moderado por un Facilitador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>
              <a:solidFill>
                <a:schemeClr val="lt1"/>
              </a:solidFill>
            </a:endParaRPr>
          </a:p>
        </p:txBody>
      </p:sp>
      <p:sp>
        <p:nvSpPr>
          <p:cNvPr id="434" name="Google Shape;434;p66"/>
          <p:cNvSpPr/>
          <p:nvPr/>
        </p:nvSpPr>
        <p:spPr>
          <a:xfrm rot="-5400000">
            <a:off x="2400025" y="-2140975"/>
            <a:ext cx="448200" cy="5248200"/>
          </a:xfrm>
          <a:prstGeom prst="round2SameRect">
            <a:avLst>
              <a:gd fmla="val 0" name="adj1"/>
              <a:gd fmla="val 49968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66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Acerca de </a:t>
            </a:r>
            <a:r>
              <a:t>Crianza con Conciencia +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67"/>
          <p:cNvSpPr/>
          <p:nvPr/>
        </p:nvSpPr>
        <p:spPr>
          <a:xfrm rot="-5400000">
            <a:off x="2712150" y="-2516600"/>
            <a:ext cx="506700" cy="59310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67"/>
          <p:cNvSpPr txBox="1"/>
          <p:nvPr/>
        </p:nvSpPr>
        <p:spPr>
          <a:xfrm>
            <a:off x="57625" y="216761"/>
            <a:ext cx="625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La Travesía de los Padres, Madres y Cuidadores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sp>
        <p:nvSpPr>
          <p:cNvPr id="442" name="Google Shape;442;p67"/>
          <p:cNvSpPr/>
          <p:nvPr/>
        </p:nvSpPr>
        <p:spPr>
          <a:xfrm>
            <a:off x="38125" y="1461350"/>
            <a:ext cx="1803000" cy="208800"/>
          </a:xfrm>
          <a:prstGeom prst="rect">
            <a:avLst/>
          </a:prstGeom>
          <a:solidFill>
            <a:srgbClr val="113D5C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>
                <a:solidFill>
                  <a:schemeClr val="lt1"/>
                </a:solidFill>
              </a:defRPr>
            </a:pPr>
            <a:r>
              <a:rPr sz="1400">
                <a:latin typeface="Arial"/>
                <a:ea typeface="Arial"/>
                <a:cs typeface="Arial"/>
                <a:sym typeface="Arial"/>
              </a:rPr>
              <a:t>Día 1: </a:t>
            </a:r>
            <a:r>
              <a:t>¡Estás aquí!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67"/>
          <p:cNvSpPr/>
          <p:nvPr/>
        </p:nvSpPr>
        <p:spPr>
          <a:xfrm>
            <a:off x="1841113" y="1461350"/>
            <a:ext cx="1803000" cy="208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Día 2</a:t>
            </a:r>
            <a:endParaRPr b="0" i="0" sz="14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67"/>
          <p:cNvSpPr/>
          <p:nvPr/>
        </p:nvSpPr>
        <p:spPr>
          <a:xfrm>
            <a:off x="3644113" y="1461350"/>
            <a:ext cx="1803000" cy="208800"/>
          </a:xfrm>
          <a:prstGeom prst="rect">
            <a:avLst/>
          </a:prstGeom>
          <a:solidFill>
            <a:srgbClr val="113D5C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Día 3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67"/>
          <p:cNvSpPr/>
          <p:nvPr/>
        </p:nvSpPr>
        <p:spPr>
          <a:xfrm>
            <a:off x="5447113" y="1461350"/>
            <a:ext cx="1803000" cy="208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Día 4</a:t>
            </a:r>
            <a:endParaRPr b="0" i="0" sz="14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67"/>
          <p:cNvSpPr/>
          <p:nvPr/>
        </p:nvSpPr>
        <p:spPr>
          <a:xfrm>
            <a:off x="7250113" y="1461350"/>
            <a:ext cx="1803000" cy="208800"/>
          </a:xfrm>
          <a:prstGeom prst="rect">
            <a:avLst/>
          </a:prstGeom>
          <a:solidFill>
            <a:srgbClr val="113D5C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Día 5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7" name="Google Shape;447;p6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40913" y="2642675"/>
            <a:ext cx="270175" cy="2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67"/>
          <p:cNvSpPr txBox="1"/>
          <p:nvPr/>
        </p:nvSpPr>
        <p:spPr>
          <a:xfrm>
            <a:off x="47900" y="2974613"/>
            <a:ext cx="18030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1: </a:t>
            </a:r>
            <a:r>
              <a:t>Pasar Tiempo Uno a Uno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9" name="Google Shape;449;p67"/>
          <p:cNvSpPr txBox="1"/>
          <p:nvPr/>
        </p:nvSpPr>
        <p:spPr>
          <a:xfrm>
            <a:off x="1831200" y="2974613"/>
            <a:ext cx="18030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2: </a:t>
            </a:r>
            <a:r>
              <a:t>Dar Reconocimiento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  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0" name="Google Shape;450;p67"/>
          <p:cNvSpPr txBox="1"/>
          <p:nvPr/>
        </p:nvSpPr>
        <p:spPr>
          <a:xfrm>
            <a:off x="3757288" y="2974613"/>
            <a:ext cx="16800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3: </a:t>
            </a:r>
            <a:r>
              <a:t>Crear una Rutina para el Tiempo Uno a Uno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 </a:t>
            </a:r>
            <a:endParaRPr i="0" sz="1100" u="none" cap="none" strike="noStrike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1" name="Google Shape;451;p67"/>
          <p:cNvSpPr txBox="1"/>
          <p:nvPr/>
        </p:nvSpPr>
        <p:spPr>
          <a:xfrm>
            <a:off x="5437263" y="2974613"/>
            <a:ext cx="18030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4: </a:t>
            </a:r>
            <a:r>
              <a:t>Identificar Emociones y Sentimientos durante el Tiempo Uno a Uno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2" name="Google Shape;452;p67"/>
          <p:cNvSpPr txBox="1"/>
          <p:nvPr/>
        </p:nvSpPr>
        <p:spPr>
          <a:xfrm>
            <a:off x="7293100" y="2974613"/>
            <a:ext cx="18030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rPr b="1"/>
              <a:t>Sesión 5: </a:t>
            </a:r>
            <a:r>
              <a:t>Mantener la Calma Cuando Haya Estrés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3" name="Google Shape;453;p67"/>
          <p:cNvSpPr txBox="1"/>
          <p:nvPr/>
        </p:nvSpPr>
        <p:spPr>
          <a:xfrm>
            <a:off x="7230675" y="421195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Discusión de Cierre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(5 min)</a:t>
            </a:r>
            <a:endParaRPr i="0" sz="1100" u="none" cap="none" strike="noStrike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4" name="Google Shape;454;p67"/>
          <p:cNvSpPr txBox="1"/>
          <p:nvPr/>
        </p:nvSpPr>
        <p:spPr>
          <a:xfrm>
            <a:off x="3624575" y="421195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Discusión sobre el Diálogo Interno (15 min) 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5" name="Google Shape;455;p67"/>
          <p:cNvSpPr txBox="1"/>
          <p:nvPr/>
        </p:nvSpPr>
        <p:spPr>
          <a:xfrm>
            <a:off x="67525" y="2111850"/>
            <a:ext cx="1773600" cy="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Sesión de Integración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(2 horas)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6" name="Google Shape;456;p67"/>
          <p:cNvSpPr txBox="1"/>
          <p:nvPr/>
        </p:nvSpPr>
        <p:spPr>
          <a:xfrm>
            <a:off x="676100" y="857444"/>
            <a:ext cx="2359800" cy="3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chemeClr val="accent5"/>
                </a:solidFill>
              </a:defRPr>
            </a:pPr>
            <a:r>
              <a:t>Sesión </a:t>
            </a:r>
            <a:r>
              <a:rPr>
                <a:latin typeface="Arial"/>
                <a:ea typeface="Arial"/>
                <a:cs typeface="Arial"/>
                <a:sym typeface="Arial"/>
              </a:rPr>
              <a:t>Presencial</a:t>
            </a:r>
            <a:r>
              <a:t> </a:t>
            </a:r>
            <a:endParaRPr b="0" i="0" sz="14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67"/>
          <p:cNvSpPr txBox="1"/>
          <p:nvPr/>
        </p:nvSpPr>
        <p:spPr>
          <a:xfrm>
            <a:off x="3453775" y="785444"/>
            <a:ext cx="1946700" cy="5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13D5C"/>
                </a:solidFill>
              </a:defRPr>
            </a:pPr>
            <a:r>
              <a:t>Sesiones en el Chatbot de Crianza con Conciencia +</a:t>
            </a:r>
            <a:endParaRPr i="0" sz="1400" u="none" cap="none" strike="noStrike">
              <a:solidFill>
                <a:srgbClr val="000000"/>
              </a:solidFill>
            </a:endParaRPr>
          </a:p>
        </p:txBody>
      </p:sp>
      <p:sp>
        <p:nvSpPr>
          <p:cNvPr id="458" name="Google Shape;458;p67"/>
          <p:cNvSpPr txBox="1"/>
          <p:nvPr/>
        </p:nvSpPr>
        <p:spPr>
          <a:xfrm>
            <a:off x="6371250" y="695444"/>
            <a:ext cx="19467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13D5C"/>
                </a:solidFill>
              </a:defRPr>
            </a:pPr>
            <a:r>
              <a:t>Discusión y Debate en el Grupo de Comunidad de WhatsApp moderado por el Facilitador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59" name="Google Shape;459;p67"/>
          <p:cNvGrpSpPr/>
          <p:nvPr/>
        </p:nvGrpSpPr>
        <p:grpSpPr>
          <a:xfrm>
            <a:off x="258215" y="857444"/>
            <a:ext cx="372300" cy="372300"/>
            <a:chOff x="6166865" y="140342"/>
            <a:chExt cx="372300" cy="372300"/>
          </a:xfrm>
        </p:grpSpPr>
        <p:sp>
          <p:nvSpPr>
            <p:cNvPr id="460" name="Google Shape;460;p67"/>
            <p:cNvSpPr/>
            <p:nvPr/>
          </p:nvSpPr>
          <p:spPr>
            <a:xfrm>
              <a:off x="6166865" y="140342"/>
              <a:ext cx="372300" cy="372300"/>
            </a:xfrm>
            <a:prstGeom prst="ellipse">
              <a:avLst/>
            </a:prstGeom>
            <a:solidFill>
              <a:srgbClr val="0D395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61" name="Google Shape;461;p67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53825" y="222075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62" name="Google Shape;462;p67"/>
          <p:cNvGrpSpPr/>
          <p:nvPr/>
        </p:nvGrpSpPr>
        <p:grpSpPr>
          <a:xfrm>
            <a:off x="3035896" y="857444"/>
            <a:ext cx="372300" cy="372300"/>
            <a:chOff x="6172071" y="582117"/>
            <a:chExt cx="372300" cy="372300"/>
          </a:xfrm>
        </p:grpSpPr>
        <p:sp>
          <p:nvSpPr>
            <p:cNvPr id="463" name="Google Shape;463;p67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64" name="Google Shape;464;p67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65" name="Google Shape;465;p67"/>
          <p:cNvGrpSpPr/>
          <p:nvPr/>
        </p:nvGrpSpPr>
        <p:grpSpPr>
          <a:xfrm>
            <a:off x="5978865" y="857444"/>
            <a:ext cx="372300" cy="372300"/>
            <a:chOff x="6192365" y="1173617"/>
            <a:chExt cx="372300" cy="372300"/>
          </a:xfrm>
        </p:grpSpPr>
        <p:sp>
          <p:nvSpPr>
            <p:cNvPr id="466" name="Google Shape;466;p67"/>
            <p:cNvSpPr/>
            <p:nvPr/>
          </p:nvSpPr>
          <p:spPr>
            <a:xfrm>
              <a:off x="6192365" y="117361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67" name="Google Shape;467;p67"/>
            <p:cNvPicPr preferRelativeResize="0"/>
            <p:nvPr/>
          </p:nvPicPr>
          <p:blipFill rotWithShape="1">
            <a:blip r:embed="rId7">
              <a:alphaModFix/>
            </a:blip>
            <a:srcRect b="2606" l="0" r="0" t="2606"/>
            <a:stretch/>
          </p:blipFill>
          <p:spPr>
            <a:xfrm>
              <a:off x="6282297" y="1255387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68" name="Google Shape;468;p67"/>
          <p:cNvGrpSpPr/>
          <p:nvPr/>
        </p:nvGrpSpPr>
        <p:grpSpPr>
          <a:xfrm>
            <a:off x="753603" y="1739554"/>
            <a:ext cx="372300" cy="372300"/>
            <a:chOff x="6166865" y="140342"/>
            <a:chExt cx="372300" cy="372300"/>
          </a:xfrm>
        </p:grpSpPr>
        <p:sp>
          <p:nvSpPr>
            <p:cNvPr id="469" name="Google Shape;469;p67"/>
            <p:cNvSpPr/>
            <p:nvPr/>
          </p:nvSpPr>
          <p:spPr>
            <a:xfrm>
              <a:off x="6166865" y="140342"/>
              <a:ext cx="372300" cy="372300"/>
            </a:xfrm>
            <a:prstGeom prst="ellipse">
              <a:avLst/>
            </a:prstGeom>
            <a:solidFill>
              <a:srgbClr val="0D395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70" name="Google Shape;470;p67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53825" y="222075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1" name="Google Shape;471;p67"/>
          <p:cNvGrpSpPr/>
          <p:nvPr/>
        </p:nvGrpSpPr>
        <p:grpSpPr>
          <a:xfrm>
            <a:off x="2615796" y="2614398"/>
            <a:ext cx="372300" cy="372300"/>
            <a:chOff x="6172071" y="582117"/>
            <a:chExt cx="372300" cy="372300"/>
          </a:xfrm>
        </p:grpSpPr>
        <p:sp>
          <p:nvSpPr>
            <p:cNvPr id="472" name="Google Shape;472;p67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73" name="Google Shape;473;p67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4" name="Google Shape;474;p67"/>
          <p:cNvGrpSpPr/>
          <p:nvPr/>
        </p:nvGrpSpPr>
        <p:grpSpPr>
          <a:xfrm>
            <a:off x="4349734" y="2614398"/>
            <a:ext cx="372300" cy="372300"/>
            <a:chOff x="6172071" y="582117"/>
            <a:chExt cx="372300" cy="372300"/>
          </a:xfrm>
        </p:grpSpPr>
        <p:sp>
          <p:nvSpPr>
            <p:cNvPr id="475" name="Google Shape;475;p67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76" name="Google Shape;476;p67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7" name="Google Shape;477;p67"/>
          <p:cNvGrpSpPr/>
          <p:nvPr/>
        </p:nvGrpSpPr>
        <p:grpSpPr>
          <a:xfrm>
            <a:off x="6144559" y="2614398"/>
            <a:ext cx="372300" cy="372300"/>
            <a:chOff x="6172071" y="582117"/>
            <a:chExt cx="372300" cy="372300"/>
          </a:xfrm>
        </p:grpSpPr>
        <p:sp>
          <p:nvSpPr>
            <p:cNvPr id="478" name="Google Shape;478;p67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79" name="Google Shape;479;p67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80" name="Google Shape;480;p67"/>
          <p:cNvGrpSpPr/>
          <p:nvPr/>
        </p:nvGrpSpPr>
        <p:grpSpPr>
          <a:xfrm>
            <a:off x="743708" y="2614380"/>
            <a:ext cx="372300" cy="372300"/>
            <a:chOff x="6172071" y="582117"/>
            <a:chExt cx="372300" cy="372300"/>
          </a:xfrm>
        </p:grpSpPr>
        <p:sp>
          <p:nvSpPr>
            <p:cNvPr id="481" name="Google Shape;481;p67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82" name="Google Shape;482;p67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83" name="Google Shape;483;p67"/>
          <p:cNvGrpSpPr/>
          <p:nvPr/>
        </p:nvGrpSpPr>
        <p:grpSpPr>
          <a:xfrm>
            <a:off x="7955759" y="2614398"/>
            <a:ext cx="372300" cy="372300"/>
            <a:chOff x="6172071" y="582117"/>
            <a:chExt cx="372300" cy="372300"/>
          </a:xfrm>
        </p:grpSpPr>
        <p:sp>
          <p:nvSpPr>
            <p:cNvPr id="484" name="Google Shape;484;p67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85" name="Google Shape;485;p67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86" name="Google Shape;486;p67"/>
          <p:cNvGrpSpPr/>
          <p:nvPr/>
        </p:nvGrpSpPr>
        <p:grpSpPr>
          <a:xfrm>
            <a:off x="4385852" y="3885373"/>
            <a:ext cx="372300" cy="372300"/>
            <a:chOff x="6192365" y="1098867"/>
            <a:chExt cx="372300" cy="372300"/>
          </a:xfrm>
        </p:grpSpPr>
        <p:sp>
          <p:nvSpPr>
            <p:cNvPr id="487" name="Google Shape;487;p67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88" name="Google Shape;488;p67"/>
            <p:cNvPicPr preferRelativeResize="0"/>
            <p:nvPr/>
          </p:nvPicPr>
          <p:blipFill rotWithShape="1">
            <a:blip r:embed="rId7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89" name="Google Shape;489;p67"/>
          <p:cNvGrpSpPr/>
          <p:nvPr/>
        </p:nvGrpSpPr>
        <p:grpSpPr>
          <a:xfrm>
            <a:off x="7991828" y="3885373"/>
            <a:ext cx="372300" cy="372300"/>
            <a:chOff x="6192365" y="1098867"/>
            <a:chExt cx="372300" cy="372300"/>
          </a:xfrm>
        </p:grpSpPr>
        <p:sp>
          <p:nvSpPr>
            <p:cNvPr id="490" name="Google Shape;490;p67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91" name="Google Shape;491;p67"/>
            <p:cNvPicPr preferRelativeResize="0"/>
            <p:nvPr/>
          </p:nvPicPr>
          <p:blipFill rotWithShape="1">
            <a:blip r:embed="rId8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92" name="Google Shape;492;p67"/>
          <p:cNvGrpSpPr/>
          <p:nvPr/>
        </p:nvGrpSpPr>
        <p:grpSpPr>
          <a:xfrm>
            <a:off x="779877" y="3885373"/>
            <a:ext cx="372300" cy="372300"/>
            <a:chOff x="6192365" y="1098867"/>
            <a:chExt cx="372300" cy="372300"/>
          </a:xfrm>
        </p:grpSpPr>
        <p:sp>
          <p:nvSpPr>
            <p:cNvPr id="493" name="Google Shape;493;p67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94" name="Google Shape;494;p67"/>
            <p:cNvPicPr preferRelativeResize="0"/>
            <p:nvPr/>
          </p:nvPicPr>
          <p:blipFill rotWithShape="1">
            <a:blip r:embed="rId7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95" name="Google Shape;495;p67"/>
          <p:cNvSpPr txBox="1"/>
          <p:nvPr/>
        </p:nvSpPr>
        <p:spPr>
          <a:xfrm>
            <a:off x="38075" y="421195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Bienvenida y Presentaciones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(10 min)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496" name="Google Shape;496;p67"/>
          <p:cNvCxnSpPr/>
          <p:nvPr/>
        </p:nvCxnSpPr>
        <p:spPr>
          <a:xfrm>
            <a:off x="1841113" y="1565750"/>
            <a:ext cx="0" cy="3254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7" name="Google Shape;497;p67"/>
          <p:cNvCxnSpPr/>
          <p:nvPr/>
        </p:nvCxnSpPr>
        <p:spPr>
          <a:xfrm flipH="1">
            <a:off x="3637525" y="1528325"/>
            <a:ext cx="4800" cy="330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8" name="Google Shape;498;p67"/>
          <p:cNvCxnSpPr/>
          <p:nvPr/>
        </p:nvCxnSpPr>
        <p:spPr>
          <a:xfrm>
            <a:off x="5443675" y="1461350"/>
            <a:ext cx="8700" cy="3358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9" name="Google Shape;499;p67"/>
          <p:cNvCxnSpPr/>
          <p:nvPr/>
        </p:nvCxnSpPr>
        <p:spPr>
          <a:xfrm>
            <a:off x="7262338" y="1461350"/>
            <a:ext cx="8700" cy="3358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68"/>
          <p:cNvSpPr/>
          <p:nvPr/>
        </p:nvSpPr>
        <p:spPr>
          <a:xfrm rot="-5400000">
            <a:off x="4235100" y="-4033875"/>
            <a:ext cx="519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68"/>
          <p:cNvSpPr txBox="1"/>
          <p:nvPr/>
        </p:nvSpPr>
        <p:spPr>
          <a:xfrm>
            <a:off x="286225" y="197499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Cómo usar el chat automatizado de WhatsApp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68"/>
          <p:cNvSpPr txBox="1"/>
          <p:nvPr/>
        </p:nvSpPr>
        <p:spPr>
          <a:xfrm>
            <a:off x="269600" y="972071"/>
            <a:ext cx="8199600" cy="37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800">
                <a:solidFill>
                  <a:srgbClr val="00969B"/>
                </a:solidFill>
              </a:defRPr>
            </a:pPr>
            <a:r>
              <a:t>U</a:t>
            </a:r>
            <a:r>
              <a:rPr>
                <a:latin typeface="Arial"/>
                <a:ea typeface="Arial"/>
                <a:cs typeface="Arial"/>
                <a:sym typeface="Arial"/>
              </a:rPr>
              <a:t>so del teléfono</a:t>
            </a:r>
            <a:endParaRPr b="0" i="0" sz="18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800" u="none" cap="none" strike="noStrike">
              <a:solidFill>
                <a:srgbClr val="0D3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Prender y apagar el teléfono 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Ajustes del teléfono 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Ajustes de WhatsApp 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Carga del teléfono 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Paquete de datos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Almacenamiento interno del teléfono 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Conciencia digital 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FF5E00"/>
              </a:buClr>
              <a:buSzPts val="1700"/>
              <a:buFont typeface="Arial"/>
              <a:buChar char="●"/>
              <a:defRPr sz="1700">
                <a:solidFill>
                  <a:srgbClr val="123D5D"/>
                </a:solidFill>
              </a:defRPr>
            </a:pPr>
            <a:r>
              <a:t>Evita daños al teléfono</a:t>
            </a:r>
            <a:endParaRPr sz="1700">
              <a:solidFill>
                <a:srgbClr val="123D5D"/>
              </a:solidFill>
            </a:endParaRPr>
          </a:p>
        </p:txBody>
      </p:sp>
      <p:pic>
        <p:nvPicPr>
          <p:cNvPr id="507" name="Google Shape;507;p68"/>
          <p:cNvPicPr preferRelativeResize="0"/>
          <p:nvPr/>
        </p:nvPicPr>
        <p:blipFill rotWithShape="1">
          <a:blip r:embed="rId3">
            <a:alphaModFix/>
          </a:blip>
          <a:srcRect b="2812" l="0" r="29223" t="2821"/>
          <a:stretch/>
        </p:blipFill>
        <p:spPr>
          <a:xfrm>
            <a:off x="5828000" y="1164350"/>
            <a:ext cx="3074700" cy="30747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69"/>
          <p:cNvSpPr/>
          <p:nvPr/>
        </p:nvSpPr>
        <p:spPr>
          <a:xfrm rot="-5400000">
            <a:off x="4236300" y="-4094600"/>
            <a:ext cx="480900" cy="8953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69"/>
          <p:cNvSpPr txBox="1"/>
          <p:nvPr/>
        </p:nvSpPr>
        <p:spPr>
          <a:xfrm>
            <a:off x="286222" y="197506"/>
            <a:ext cx="885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 sz="1800">
                <a:solidFill>
                  <a:schemeClr val="lt1"/>
                </a:solidFill>
              </a:defRPr>
            </a:pPr>
            <a:r>
              <a:t>Aspectos básicos del Uso del Teléfono 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4" name="Google Shape;514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5375" y="691225"/>
            <a:ext cx="7186099" cy="4042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70"/>
          <p:cNvSpPr/>
          <p:nvPr/>
        </p:nvSpPr>
        <p:spPr>
          <a:xfrm rot="-5400000">
            <a:off x="4236300" y="-4035075"/>
            <a:ext cx="480900" cy="8953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70"/>
          <p:cNvSpPr txBox="1"/>
          <p:nvPr/>
        </p:nvSpPr>
        <p:spPr>
          <a:xfrm>
            <a:off x="286222" y="197506"/>
            <a:ext cx="885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 sz="1800">
                <a:solidFill>
                  <a:schemeClr val="lt1"/>
                </a:solidFill>
              </a:defRPr>
            </a:pPr>
            <a:r>
              <a:t>Aspectos básicos del Uso del Teléfono 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1" name="Google Shape;521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3675" y="721450"/>
            <a:ext cx="7193349" cy="404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71"/>
          <p:cNvSpPr/>
          <p:nvPr/>
        </p:nvSpPr>
        <p:spPr>
          <a:xfrm rot="-5400000">
            <a:off x="4236300" y="-4035075"/>
            <a:ext cx="480900" cy="8953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71"/>
          <p:cNvSpPr txBox="1"/>
          <p:nvPr/>
        </p:nvSpPr>
        <p:spPr>
          <a:xfrm>
            <a:off x="286222" y="197506"/>
            <a:ext cx="885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 sz="1800">
                <a:solidFill>
                  <a:schemeClr val="lt1"/>
                </a:solidFill>
              </a:defRPr>
            </a:pPr>
            <a:r>
              <a:t>Aspectos básicos del Uso del Teléfono 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8987" y="743150"/>
            <a:ext cx="7115525" cy="4002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72"/>
          <p:cNvSpPr txBox="1"/>
          <p:nvPr>
            <p:ph idx="1" type="body"/>
          </p:nvPr>
        </p:nvSpPr>
        <p:spPr>
          <a:xfrm>
            <a:off x="2579050" y="273675"/>
            <a:ext cx="56052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  <a:r>
              <a:t>Primeros pasos al usar Crianza con Conciencia + Chatbot</a:t>
            </a:r>
          </a:p>
        </p:txBody>
      </p:sp>
      <p:sp>
        <p:nvSpPr>
          <p:cNvPr id="534" name="Google Shape;534;p72"/>
          <p:cNvSpPr txBox="1"/>
          <p:nvPr>
            <p:ph idx="2" type="body"/>
          </p:nvPr>
        </p:nvSpPr>
        <p:spPr>
          <a:xfrm>
            <a:off x="2579050" y="1675800"/>
            <a:ext cx="6173100" cy="38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700"/>
              <a:buFont typeface="Delicious Handrawn"/>
              <a:buAutoNum type="arabicPeriod"/>
              <a:defRPr sz="2800"/>
            </a:pPr>
            <a:r>
              <a:t>Guarda el teléfono de Crianza con Conciencia + como contacto:</a:t>
            </a:r>
            <a:endParaRPr sz="2800"/>
          </a:p>
          <a:p>
            <a:pPr indent="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endParaRPr sz="2800"/>
          </a:p>
          <a:p>
            <a:pPr indent="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700">
                <a:latin typeface="Noto Sans"/>
                <a:ea typeface="Noto Sans"/>
                <a:cs typeface="Noto Sans"/>
                <a:sym typeface="Noto Sans"/>
              </a:defRPr>
            </a:pPr>
            <a:r>
              <a:t>56 5100 6984</a:t>
            </a: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Noto Sans Thin"/>
              <a:buNone/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Google Shape;539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540" name="Google Shape;540;p73"/>
          <p:cNvSpPr txBox="1"/>
          <p:nvPr/>
        </p:nvSpPr>
        <p:spPr>
          <a:xfrm>
            <a:off x="1315625" y="98075"/>
            <a:ext cx="3272100" cy="8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  <a:defRPr sz="5400">
                <a:solidFill>
                  <a:srgbClr val="FEFFFF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Pasos:</a:t>
            </a:r>
            <a:endParaRPr b="0" i="0" sz="5400" u="none" cap="none" strike="noStrike">
              <a:solidFill>
                <a:srgbClr val="FEFFFF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541" name="Google Shape;541;p7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52874" y="1322625"/>
            <a:ext cx="1601051" cy="3673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42" name="Google Shape;542;p7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15499" y="1322625"/>
            <a:ext cx="1696892" cy="3673924"/>
          </a:xfrm>
          <a:prstGeom prst="rect">
            <a:avLst/>
          </a:prstGeom>
          <a:noFill/>
          <a:ln cap="flat" cmpd="sng" w="9525">
            <a:solidFill>
              <a:srgbClr val="FEFEFE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543" name="Google Shape;543;p7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87674" y="1322615"/>
            <a:ext cx="1696899" cy="3673944"/>
          </a:xfrm>
          <a:prstGeom prst="rect">
            <a:avLst/>
          </a:prstGeom>
          <a:noFill/>
          <a:ln>
            <a:noFill/>
          </a:ln>
        </p:spPr>
      </p:pic>
      <p:sp>
        <p:nvSpPr>
          <p:cNvPr id="544" name="Google Shape;544;p73"/>
          <p:cNvSpPr/>
          <p:nvPr/>
        </p:nvSpPr>
        <p:spPr>
          <a:xfrm>
            <a:off x="2074700" y="938375"/>
            <a:ext cx="557400" cy="553800"/>
          </a:xfrm>
          <a:prstGeom prst="ellipse">
            <a:avLst/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1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545" name="Google Shape;545;p73"/>
          <p:cNvSpPr/>
          <p:nvPr/>
        </p:nvSpPr>
        <p:spPr>
          <a:xfrm>
            <a:off x="4485250" y="938375"/>
            <a:ext cx="557400" cy="553800"/>
          </a:xfrm>
          <a:prstGeom prst="ellipse">
            <a:avLst/>
          </a:prstGeom>
          <a:solidFill>
            <a:srgbClr val="FF5E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2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546" name="Google Shape;546;p73"/>
          <p:cNvSpPr/>
          <p:nvPr/>
        </p:nvSpPr>
        <p:spPr>
          <a:xfrm>
            <a:off x="6757425" y="938375"/>
            <a:ext cx="557400" cy="5538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3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547" name="Google Shape;547;p7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567900" y="207411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548" name="Google Shape;548;p7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896625" y="218251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90125" y="1568369"/>
            <a:ext cx="431350" cy="609231"/>
          </a:xfrm>
          <a:prstGeom prst="rect">
            <a:avLst/>
          </a:prstGeom>
          <a:noFill/>
          <a:ln>
            <a:noFill/>
          </a:ln>
        </p:spPr>
      </p:pic>
      <p:sp>
        <p:nvSpPr>
          <p:cNvPr id="550" name="Google Shape;550;p73"/>
          <p:cNvSpPr/>
          <p:nvPr/>
        </p:nvSpPr>
        <p:spPr>
          <a:xfrm>
            <a:off x="2001575" y="1843550"/>
            <a:ext cx="73200" cy="12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73"/>
          <p:cNvSpPr txBox="1"/>
          <p:nvPr/>
        </p:nvSpPr>
        <p:spPr>
          <a:xfrm>
            <a:off x="1910225" y="1723138"/>
            <a:ext cx="255900" cy="2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  <a:defRPr sz="11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6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73"/>
          <p:cNvSpPr/>
          <p:nvPr/>
        </p:nvSpPr>
        <p:spPr>
          <a:xfrm>
            <a:off x="4389400" y="1839150"/>
            <a:ext cx="73200" cy="123000"/>
          </a:xfrm>
          <a:prstGeom prst="rect">
            <a:avLst/>
          </a:prstGeom>
          <a:solidFill>
            <a:srgbClr val="EEEEEC"/>
          </a:solidFill>
          <a:ln cap="flat" cmpd="sng" w="9525">
            <a:solidFill>
              <a:srgbClr val="F5F5F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73"/>
          <p:cNvSpPr txBox="1"/>
          <p:nvPr/>
        </p:nvSpPr>
        <p:spPr>
          <a:xfrm>
            <a:off x="4298050" y="1723138"/>
            <a:ext cx="255900" cy="2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  <a:defRPr sz="11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6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74"/>
          <p:cNvSpPr txBox="1"/>
          <p:nvPr>
            <p:ph idx="1" type="body"/>
          </p:nvPr>
        </p:nvSpPr>
        <p:spPr>
          <a:xfrm>
            <a:off x="3161276" y="1290304"/>
            <a:ext cx="5045100" cy="25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  <a:r>
              <a:t>Después de guardar el número, abre WhatsApp y busca "Crianza con Conciencia +"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3" name="Google Shape;563;p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564" name="Google Shape;564;p75"/>
          <p:cNvSpPr txBox="1"/>
          <p:nvPr/>
        </p:nvSpPr>
        <p:spPr>
          <a:xfrm>
            <a:off x="1315625" y="98075"/>
            <a:ext cx="3272100" cy="8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  <a:defRPr sz="5400">
                <a:solidFill>
                  <a:srgbClr val="FEFFFF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Pasos:</a:t>
            </a:r>
            <a:endParaRPr b="0" i="0" sz="5400" u="none" cap="none" strike="noStrike">
              <a:solidFill>
                <a:srgbClr val="FEFFFF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565" name="Google Shape;565;p7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83300" y="1642900"/>
            <a:ext cx="201275" cy="28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" name="Google Shape;566;p7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2100" y="2055300"/>
            <a:ext cx="201275" cy="28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7" name="Google Shape;567;p75"/>
          <p:cNvPicPr preferRelativeResize="0"/>
          <p:nvPr/>
        </p:nvPicPr>
        <p:blipFill rotWithShape="1">
          <a:blip r:embed="rId5">
            <a:alphaModFix/>
          </a:blip>
          <a:srcRect b="7037" l="28782" r="49104" t="7029"/>
          <a:stretch/>
        </p:blipFill>
        <p:spPr>
          <a:xfrm>
            <a:off x="3966200" y="1322625"/>
            <a:ext cx="1649589" cy="3606074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5"/>
          <p:cNvSpPr/>
          <p:nvPr/>
        </p:nvSpPr>
        <p:spPr>
          <a:xfrm>
            <a:off x="4485250" y="938375"/>
            <a:ext cx="557400" cy="553800"/>
          </a:xfrm>
          <a:prstGeom prst="ellipse">
            <a:avLst/>
          </a:prstGeom>
          <a:solidFill>
            <a:srgbClr val="FF5E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2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569" name="Google Shape;569;p75"/>
          <p:cNvSpPr/>
          <p:nvPr/>
        </p:nvSpPr>
        <p:spPr>
          <a:xfrm>
            <a:off x="4069575" y="1927175"/>
            <a:ext cx="1074000" cy="265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0" name="Google Shape;570;p7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53750" y="1339913"/>
            <a:ext cx="1649599" cy="3571512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75"/>
          <p:cNvSpPr/>
          <p:nvPr/>
        </p:nvSpPr>
        <p:spPr>
          <a:xfrm>
            <a:off x="6757425" y="938375"/>
            <a:ext cx="557400" cy="5538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3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572" name="Google Shape;572;p75"/>
          <p:cNvSpPr txBox="1"/>
          <p:nvPr/>
        </p:nvSpPr>
        <p:spPr>
          <a:xfrm>
            <a:off x="7884575" y="1547075"/>
            <a:ext cx="972300" cy="142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rgbClr val="0C406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Busca el contacto que guardaste y cuando aparezca, presiónalo</a:t>
            </a:r>
            <a:endParaRPr b="0" i="0" sz="1400" u="none" cap="none" strike="noStrike">
              <a:solidFill>
                <a:srgbClr val="0C406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573" name="Google Shape;573;p7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 rot="4141818">
            <a:off x="7161665" y="1523742"/>
            <a:ext cx="737994" cy="737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7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528599" y="1339900"/>
            <a:ext cx="1649599" cy="3571536"/>
          </a:xfrm>
          <a:prstGeom prst="rect">
            <a:avLst/>
          </a:prstGeom>
          <a:noFill/>
          <a:ln>
            <a:noFill/>
          </a:ln>
        </p:spPr>
      </p:pic>
      <p:sp>
        <p:nvSpPr>
          <p:cNvPr id="575" name="Google Shape;575;p75"/>
          <p:cNvSpPr/>
          <p:nvPr/>
        </p:nvSpPr>
        <p:spPr>
          <a:xfrm>
            <a:off x="2074700" y="938375"/>
            <a:ext cx="557400" cy="553800"/>
          </a:xfrm>
          <a:prstGeom prst="ellipse">
            <a:avLst/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1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576" name="Google Shape;576;p7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00750" y="379361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" name="Google Shape;577;p7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1913" y="154706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8" name="Google Shape;578;p7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51950" y="2156294"/>
            <a:ext cx="431350" cy="609231"/>
          </a:xfrm>
          <a:prstGeom prst="rect">
            <a:avLst/>
          </a:prstGeom>
          <a:noFill/>
          <a:ln>
            <a:noFill/>
          </a:ln>
        </p:spPr>
      </p:pic>
      <p:sp>
        <p:nvSpPr>
          <p:cNvPr id="579" name="Google Shape;579;p75"/>
          <p:cNvSpPr/>
          <p:nvPr/>
        </p:nvSpPr>
        <p:spPr>
          <a:xfrm>
            <a:off x="6153750" y="2826100"/>
            <a:ext cx="1526100" cy="24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75"/>
          <p:cNvSpPr/>
          <p:nvPr/>
        </p:nvSpPr>
        <p:spPr>
          <a:xfrm>
            <a:off x="6215500" y="3227200"/>
            <a:ext cx="1526100" cy="284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585;p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p76"/>
          <p:cNvSpPr txBox="1"/>
          <p:nvPr/>
        </p:nvSpPr>
        <p:spPr>
          <a:xfrm>
            <a:off x="1315625" y="98075"/>
            <a:ext cx="3272100" cy="8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  <a:defRPr sz="5400">
                <a:solidFill>
                  <a:srgbClr val="FEFFFF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Pasos:</a:t>
            </a:r>
            <a:endParaRPr b="0" i="0" sz="5400" u="none" cap="none" strike="noStrike">
              <a:solidFill>
                <a:srgbClr val="FEFFFF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587" name="Google Shape;587;p7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83300" y="1642900"/>
            <a:ext cx="201275" cy="28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8" name="Google Shape;588;p7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2100" y="2055300"/>
            <a:ext cx="201275" cy="28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6"/>
          <p:cNvSpPr txBox="1"/>
          <p:nvPr/>
        </p:nvSpPr>
        <p:spPr>
          <a:xfrm>
            <a:off x="7902575" y="3502775"/>
            <a:ext cx="972300" cy="1466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>
                <a:solidFill>
                  <a:srgbClr val="0C406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Es importante que aceptes participar en el programa y compartas tus datos personales</a:t>
            </a:r>
            <a:endParaRPr b="0" i="0" sz="1100" u="none" cap="none" strike="noStrike">
              <a:solidFill>
                <a:srgbClr val="0C406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590" name="Google Shape;590;p7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4141818">
            <a:off x="7161665" y="1523742"/>
            <a:ext cx="737994" cy="737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7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528599" y="1339900"/>
            <a:ext cx="1649599" cy="3571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592" name="Google Shape;592;p7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00750" y="379361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3" name="Google Shape;593;p7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51950" y="2156294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4" name="Google Shape;594;p7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28599" y="1339890"/>
            <a:ext cx="1649599" cy="3571536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76"/>
          <p:cNvSpPr/>
          <p:nvPr/>
        </p:nvSpPr>
        <p:spPr>
          <a:xfrm>
            <a:off x="2074700" y="938375"/>
            <a:ext cx="557400" cy="553800"/>
          </a:xfrm>
          <a:prstGeom prst="ellipse">
            <a:avLst/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4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596" name="Google Shape;596;p7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74688" y="335576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7" name="Google Shape;597;p7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970599" y="1339899"/>
            <a:ext cx="1649599" cy="3571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598" name="Google Shape;598;p7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211324" y="1339890"/>
            <a:ext cx="1649599" cy="3571536"/>
          </a:xfrm>
          <a:prstGeom prst="rect">
            <a:avLst/>
          </a:prstGeom>
          <a:noFill/>
          <a:ln>
            <a:noFill/>
          </a:ln>
        </p:spPr>
      </p:pic>
      <p:sp>
        <p:nvSpPr>
          <p:cNvPr id="599" name="Google Shape;599;p76"/>
          <p:cNvSpPr/>
          <p:nvPr/>
        </p:nvSpPr>
        <p:spPr>
          <a:xfrm>
            <a:off x="4485250" y="938375"/>
            <a:ext cx="557400" cy="553800"/>
          </a:xfrm>
          <a:prstGeom prst="ellipse">
            <a:avLst/>
          </a:prstGeom>
          <a:solidFill>
            <a:srgbClr val="FF5E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5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600" name="Google Shape;600;p76"/>
          <p:cNvSpPr/>
          <p:nvPr/>
        </p:nvSpPr>
        <p:spPr>
          <a:xfrm>
            <a:off x="6757425" y="938375"/>
            <a:ext cx="557400" cy="5538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6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601" name="Google Shape;601;p76"/>
          <p:cNvSpPr/>
          <p:nvPr/>
        </p:nvSpPr>
        <p:spPr>
          <a:xfrm>
            <a:off x="4907450" y="1766950"/>
            <a:ext cx="338100" cy="82800"/>
          </a:xfrm>
          <a:prstGeom prst="rect">
            <a:avLst/>
          </a:prstGeom>
          <a:solidFill>
            <a:srgbClr val="E1FF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  <a:defRPr sz="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Comienza</a:t>
            </a:r>
            <a:endParaRPr b="0" i="0" sz="4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76"/>
          <p:cNvSpPr/>
          <p:nvPr/>
        </p:nvSpPr>
        <p:spPr>
          <a:xfrm>
            <a:off x="4052125" y="1927175"/>
            <a:ext cx="600000" cy="12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  <a:defRPr sz="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Tu número de identificación es</a:t>
            </a:r>
            <a:endParaRPr b="0" i="0" sz="4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76"/>
          <p:cNvSpPr txBox="1"/>
          <p:nvPr/>
        </p:nvSpPr>
        <p:spPr>
          <a:xfrm>
            <a:off x="5283025" y="1892800"/>
            <a:ext cx="866700" cy="609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>
                <a:solidFill>
                  <a:srgbClr val="0C406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El número de identificación (NID) que compartirás con tu facilitador</a:t>
            </a:r>
            <a:endParaRPr b="0" i="0" sz="800" u="none" cap="none" strike="noStrike">
              <a:solidFill>
                <a:srgbClr val="0C406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604" name="Google Shape;604;p7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3338200">
            <a:off x="4977308" y="1812035"/>
            <a:ext cx="358380" cy="358380"/>
          </a:xfrm>
          <a:prstGeom prst="rect">
            <a:avLst/>
          </a:prstGeom>
          <a:noFill/>
          <a:ln>
            <a:noFill/>
          </a:ln>
        </p:spPr>
      </p:pic>
      <p:sp>
        <p:nvSpPr>
          <p:cNvPr id="605" name="Google Shape;605;p76"/>
          <p:cNvSpPr txBox="1"/>
          <p:nvPr/>
        </p:nvSpPr>
        <p:spPr>
          <a:xfrm>
            <a:off x="5310925" y="3660300"/>
            <a:ext cx="866700" cy="609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>
                <a:solidFill>
                  <a:srgbClr val="0C406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Mensajes de bienvenida</a:t>
            </a:r>
            <a:endParaRPr b="0" i="0" sz="800" u="none" cap="none" strike="noStrike">
              <a:solidFill>
                <a:srgbClr val="0C406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606" name="Google Shape;606;p7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3338200">
            <a:off x="5025108" y="3572635"/>
            <a:ext cx="358380" cy="358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7" name="Google Shape;607;p7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3338199">
            <a:off x="7429682" y="4219234"/>
            <a:ext cx="483357" cy="483357"/>
          </a:xfrm>
          <a:prstGeom prst="rect">
            <a:avLst/>
          </a:prstGeom>
          <a:noFill/>
          <a:ln>
            <a:noFill/>
          </a:ln>
        </p:spPr>
      </p:pic>
      <p:pic>
        <p:nvPicPr>
          <p:cNvPr id="608" name="Google Shape;608;p7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00100" y="4402844"/>
            <a:ext cx="431350" cy="6092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77"/>
          <p:cNvSpPr txBox="1"/>
          <p:nvPr/>
        </p:nvSpPr>
        <p:spPr>
          <a:xfrm>
            <a:off x="337425" y="731350"/>
            <a:ext cx="8502600" cy="28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00969B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Empecemos con </a:t>
            </a:r>
            <a:r>
              <a:t> el chatbot de Crianza con Conciencia +</a:t>
            </a:r>
            <a:endParaRPr b="0" i="0" sz="16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3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>
                <a:solidFill>
                  <a:srgbClr val="123D5D"/>
                </a:solidFill>
              </a:defRPr>
            </a:pPr>
            <a:r>
              <a:t>Prepárate</a:t>
            </a:r>
            <a:r>
              <a:rPr>
                <a:latin typeface="Arial"/>
                <a:ea typeface="Arial"/>
                <a:cs typeface="Arial"/>
                <a:sym typeface="Arial"/>
              </a:rPr>
              <a:t> para proporcionar los siguientes datos a medida que el chat automatizado los vaya solicitando: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</a:defRPr>
            </a:pPr>
            <a:r>
              <a:t>Escribe tu nombre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Escribe tu apellido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</a:defRPr>
            </a:pPr>
            <a:r>
              <a:t>Elige tu género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</a:defRPr>
            </a:pPr>
            <a:r>
              <a:t>Elige el estado en el que resides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Elige tu estado civil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77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77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Primeros pasos al usar </a:t>
            </a:r>
            <a:r>
              <a:t>Crianza con Conciencia + Chatbot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6" name="Google Shape;616;p77"/>
          <p:cNvPicPr preferRelativeResize="0"/>
          <p:nvPr/>
        </p:nvPicPr>
        <p:blipFill rotWithShape="1">
          <a:blip r:embed="rId3">
            <a:alphaModFix/>
          </a:blip>
          <a:srcRect b="5420" l="0" r="44134" t="5429"/>
          <a:stretch/>
        </p:blipFill>
        <p:spPr>
          <a:xfrm>
            <a:off x="5742476" y="1665399"/>
            <a:ext cx="2645400" cy="2645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78"/>
          <p:cNvSpPr txBox="1"/>
          <p:nvPr/>
        </p:nvSpPr>
        <p:spPr>
          <a:xfrm>
            <a:off x="337425" y="731350"/>
            <a:ext cx="8502600" cy="197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00969B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Empecemos con </a:t>
            </a:r>
            <a:r>
              <a:t> el chatbot de Crianza con Conciencia +</a:t>
            </a:r>
            <a:endParaRPr b="0" i="0" sz="16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3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>
                <a:solidFill>
                  <a:srgbClr val="123D5D"/>
                </a:solidFill>
              </a:defRPr>
            </a:pPr>
            <a:r>
              <a:t>Prepárate</a:t>
            </a:r>
            <a:r>
              <a:rPr>
                <a:latin typeface="Arial"/>
                <a:ea typeface="Arial"/>
                <a:cs typeface="Arial"/>
                <a:sym typeface="Arial"/>
              </a:rPr>
              <a:t> para proporcionar los siguientes datos a medida que el chat automatizado los vaya solicitando: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 startAt="6"/>
              <a:defRPr sz="1300">
                <a:solidFill>
                  <a:srgbClr val="123D5D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Escribe el </a:t>
            </a:r>
            <a:r>
              <a:rPr b="1"/>
              <a:t>NOMBRE O APODO </a:t>
            </a:r>
            <a:r>
              <a:rPr>
                <a:latin typeface="Arial"/>
                <a:ea typeface="Arial"/>
                <a:cs typeface="Arial"/>
                <a:sym typeface="Arial"/>
              </a:rPr>
              <a:t>de tu niña, niño o </a:t>
            </a:r>
            <a:r>
              <a:t>adolescente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 startAt="6"/>
              <a:defRPr sz="1300">
                <a:solidFill>
                  <a:srgbClr val="123D5D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Elige el sexo de tu niña, niño o </a:t>
            </a:r>
            <a:r>
              <a:t>adolescente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 startAt="6"/>
              <a:defRPr sz="1300">
                <a:solidFill>
                  <a:srgbClr val="123D5D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Indica la fecha de nacimiento de tu niña, niño o </a:t>
            </a:r>
            <a:r>
              <a:t>adolescente</a:t>
            </a:r>
            <a:r>
              <a:rPr>
                <a:latin typeface="Arial"/>
                <a:ea typeface="Arial"/>
                <a:cs typeface="Arial"/>
                <a:sym typeface="Arial"/>
              </a:rPr>
              <a:t> (dd/mm/aaaa)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78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78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Primeros pasos al usar </a:t>
            </a:r>
            <a:r>
              <a:t>Crianza con Conciencia + Chatbot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78"/>
          <p:cNvSpPr/>
          <p:nvPr/>
        </p:nvSpPr>
        <p:spPr>
          <a:xfrm>
            <a:off x="424675" y="2937475"/>
            <a:ext cx="7904100" cy="1038000"/>
          </a:xfrm>
          <a:prstGeom prst="roundRect">
            <a:avLst>
              <a:gd fmla="val 16667" name="adj"/>
            </a:avLst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i="1">
                <a:solidFill>
                  <a:schemeClr val="lt1"/>
                </a:solidFill>
              </a:defRPr>
            </a:pPr>
            <a:r>
              <a:t>Pero, ¿cuál niña, niño o adolescente debo de escoger? ¡Tengo más de uno!</a:t>
            </a:r>
            <a:endParaRPr i="1">
              <a:solidFill>
                <a:schemeClr val="lt1"/>
              </a:solidFill>
            </a:endParaRPr>
          </a:p>
        </p:txBody>
      </p:sp>
      <p:pic>
        <p:nvPicPr>
          <p:cNvPr id="625" name="Google Shape;625;p78"/>
          <p:cNvPicPr preferRelativeResize="0"/>
          <p:nvPr/>
        </p:nvPicPr>
        <p:blipFill rotWithShape="1">
          <a:blip r:embed="rId3">
            <a:alphaModFix/>
          </a:blip>
          <a:srcRect b="27677" l="0" r="44320" t="0"/>
          <a:stretch/>
        </p:blipFill>
        <p:spPr>
          <a:xfrm>
            <a:off x="125650" y="3350350"/>
            <a:ext cx="1186500" cy="11556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79"/>
          <p:cNvSpPr txBox="1"/>
          <p:nvPr/>
        </p:nvSpPr>
        <p:spPr>
          <a:xfrm>
            <a:off x="854050" y="1970050"/>
            <a:ext cx="7904100" cy="26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Entendemos que cada persona es única e irrepetible y que cada situación es compleja.</a:t>
            </a:r>
            <a:endParaRPr sz="15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Sacarás el máximo provecho de Crianza con Conciencia + si te centras en un solo niño, niña o adolescente.</a:t>
            </a:r>
            <a:endParaRPr sz="15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Al inscribirte, elige al niño, niña o adolescente que presente más problemas de conducta. Recuerda que la niña, el niño o adolescente tiene que tener entre </a:t>
            </a:r>
            <a:r>
              <a:rPr b="1"/>
              <a:t>2 y 17 años. </a:t>
            </a:r>
            <a:endParaRPr b="1" sz="15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Si te centras en un solo niño, niña o adolescente, comprenderás mejor sus necesidades.</a:t>
            </a:r>
            <a:endParaRPr sz="15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Lo que aprenderás en Crianza con Conciencia + puede aplicarse para apoyar el crecimiento de todos tus niños, niñas o adolescentes.</a:t>
            </a:r>
            <a:endParaRPr b="1" sz="1500">
              <a:solidFill>
                <a:srgbClr val="00969B"/>
              </a:solidFill>
            </a:endParaRPr>
          </a:p>
        </p:txBody>
      </p:sp>
      <p:sp>
        <p:nvSpPr>
          <p:cNvPr id="631" name="Google Shape;631;p79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79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Primeros pasos al usar </a:t>
            </a:r>
            <a:r>
              <a:t>Crianza con Conciencia + Chatbot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79"/>
          <p:cNvSpPr/>
          <p:nvPr/>
        </p:nvSpPr>
        <p:spPr>
          <a:xfrm>
            <a:off x="698425" y="908400"/>
            <a:ext cx="7904100" cy="884700"/>
          </a:xfrm>
          <a:prstGeom prst="roundRect">
            <a:avLst>
              <a:gd fmla="val 16667" name="adj"/>
            </a:avLst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i="1">
                <a:solidFill>
                  <a:schemeClr val="lt1"/>
                </a:solidFill>
              </a:defRPr>
            </a:pPr>
            <a:r>
              <a:t>Pero, ¿cuál niña, niño o adolescente debo de escoger? ¡Tengo más de uno!</a:t>
            </a:r>
            <a:endParaRPr i="1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8" name="Google Shape;638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4775"/>
            <a:ext cx="9143999" cy="5219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39" name="Google Shape;639;p80" title="onboarding_yc.mp4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31700" y="692825"/>
            <a:ext cx="6680602" cy="3757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81"/>
          <p:cNvSpPr txBox="1"/>
          <p:nvPr/>
        </p:nvSpPr>
        <p:spPr>
          <a:xfrm>
            <a:off x="286225" y="855984"/>
            <a:ext cx="8199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>
                <a:solidFill>
                  <a:srgbClr val="123D5D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Elige </a:t>
            </a:r>
            <a:r>
              <a:rPr b="1"/>
              <a:t>CUALQUIER OPCIÓN </a:t>
            </a:r>
            <a:r>
              <a:t>para</a:t>
            </a:r>
            <a:r>
              <a:rPr>
                <a:latin typeface="Arial"/>
                <a:ea typeface="Arial"/>
                <a:cs typeface="Arial"/>
                <a:sym typeface="Arial"/>
              </a:rPr>
              <a:t> establecer cómo quieres recibir los mensajes</a:t>
            </a:r>
            <a:endParaRPr b="0" i="0" sz="15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81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81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Primeros pasos al usar </a:t>
            </a:r>
            <a:r>
              <a:t>Crianza con Conciencia + Chatbot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7" name="Google Shape;647;p81"/>
          <p:cNvGrpSpPr/>
          <p:nvPr/>
        </p:nvGrpSpPr>
        <p:grpSpPr>
          <a:xfrm>
            <a:off x="1445012" y="1352951"/>
            <a:ext cx="569100" cy="576600"/>
            <a:chOff x="1680299" y="3458426"/>
            <a:chExt cx="569100" cy="576600"/>
          </a:xfrm>
        </p:grpSpPr>
        <p:sp>
          <p:nvSpPr>
            <p:cNvPr id="648" name="Google Shape;648;p81"/>
            <p:cNvSpPr/>
            <p:nvPr/>
          </p:nvSpPr>
          <p:spPr>
            <a:xfrm>
              <a:off x="1680299" y="3458426"/>
              <a:ext cx="569100" cy="576600"/>
            </a:xfrm>
            <a:prstGeom prst="ellipse">
              <a:avLst/>
            </a:prstGeom>
            <a:solidFill>
              <a:srgbClr val="FF5E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49" name="Google Shape;649;p8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799914" y="3581840"/>
              <a:ext cx="329807" cy="32981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50" name="Google Shape;650;p81"/>
          <p:cNvSpPr/>
          <p:nvPr/>
        </p:nvSpPr>
        <p:spPr>
          <a:xfrm>
            <a:off x="677463" y="2118001"/>
            <a:ext cx="2104200" cy="2303100"/>
          </a:xfrm>
          <a:prstGeom prst="roundRect">
            <a:avLst>
              <a:gd fmla="val 16667" name="adj"/>
            </a:avLst>
          </a:prstGeom>
          <a:solidFill>
            <a:srgbClr val="FF5E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Texto, Imágenes y Videos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Selecciona esta opción si: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t>Leer representa un reto para ti 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rPr b="1"/>
              <a:t>NO </a:t>
            </a:r>
            <a:r>
              <a:t>necesitas cuidar tus datos móviles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51" name="Google Shape;651;p81"/>
          <p:cNvSpPr/>
          <p:nvPr/>
        </p:nvSpPr>
        <p:spPr>
          <a:xfrm>
            <a:off x="4168137" y="1352951"/>
            <a:ext cx="569100" cy="576600"/>
          </a:xfrm>
          <a:prstGeom prst="ellipse">
            <a:avLst/>
          </a:prstGeom>
          <a:solidFill>
            <a:srgbClr val="D600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81"/>
          <p:cNvSpPr/>
          <p:nvPr/>
        </p:nvSpPr>
        <p:spPr>
          <a:xfrm>
            <a:off x="3400588" y="2118001"/>
            <a:ext cx="2104200" cy="2303100"/>
          </a:xfrm>
          <a:prstGeom prst="roundRect">
            <a:avLst>
              <a:gd fmla="val 16667" name="adj"/>
            </a:avLst>
          </a:prstGeom>
          <a:solidFill>
            <a:srgbClr val="E4027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Texto, Imágenes y Audio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Selecciona esta opción si: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t>Leer representa un reto para ti 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rPr b="1"/>
              <a:t>SÍ </a:t>
            </a:r>
            <a:r>
              <a:t>necesitas cuidar tus datos móviles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653" name="Google Shape;653;p8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91138" y="1479700"/>
            <a:ext cx="323100" cy="32310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81"/>
          <p:cNvSpPr/>
          <p:nvPr/>
        </p:nvSpPr>
        <p:spPr>
          <a:xfrm>
            <a:off x="7129887" y="1352951"/>
            <a:ext cx="569100" cy="5766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81"/>
          <p:cNvSpPr/>
          <p:nvPr/>
        </p:nvSpPr>
        <p:spPr>
          <a:xfrm>
            <a:off x="6362338" y="2118001"/>
            <a:ext cx="2104200" cy="2303100"/>
          </a:xfrm>
          <a:prstGeom prst="roundRect">
            <a:avLst>
              <a:gd fmla="val 16667" name="adj"/>
            </a:avLst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Solo Texto e Imágenes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Selecciona esta opción si: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t>Leer </a:t>
            </a:r>
            <a:r>
              <a:rPr b="1"/>
              <a:t>NO </a:t>
            </a:r>
            <a:r>
              <a:t> representa un reto para ti 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rPr b="1"/>
              <a:t>SÍ </a:t>
            </a:r>
            <a:r>
              <a:t>necesitas cuidar tus datos móviles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656" name="Google Shape;656;p8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52888" y="1479700"/>
            <a:ext cx="323100" cy="32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82"/>
          <p:cNvSpPr txBox="1"/>
          <p:nvPr>
            <p:ph idx="1" type="body"/>
          </p:nvPr>
        </p:nvSpPr>
        <p:spPr>
          <a:xfrm>
            <a:off x="2655100" y="2081900"/>
            <a:ext cx="5817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  <a:r>
              <a:t>Ahora sí, ¡estamos listos para empezar!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4775"/>
            <a:ext cx="9143999" cy="5219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7" name="Google Shape;667;p83" title="take_a_pause.mp4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52063" y="633226"/>
            <a:ext cx="6639874" cy="3734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84"/>
          <p:cNvSpPr txBox="1"/>
          <p:nvPr>
            <p:ph idx="1" type="body"/>
          </p:nvPr>
        </p:nvSpPr>
        <p:spPr>
          <a:xfrm>
            <a:off x="4724200" y="2277575"/>
            <a:ext cx="4144200" cy="21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  <a:defRPr sz="3600"/>
            </a:pPr>
            <a:r>
              <a:t>¡Exploremos la primera sesión juntos! </a:t>
            </a:r>
            <a:endParaRPr sz="3600"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4500"/>
              <a:buFont typeface="Delicious Handrawn"/>
              <a:buNone/>
              <a:defRPr sz="3600"/>
            </a:pPr>
            <a:br>
              <a:rPr lang="en-US" sz="3600"/>
            </a:br>
            <a:r>
              <a:t>Selecciona/Escribe SIGUIENTE</a:t>
            </a:r>
            <a:endParaRPr sz="36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85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85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t>¿En qué consiste una sesión de Crianza con Conciencia +?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79" name="Google Shape;679;p85"/>
          <p:cNvPicPr preferRelativeResize="0"/>
          <p:nvPr/>
        </p:nvPicPr>
        <p:blipFill rotWithShape="1">
          <a:blip r:embed="rId3">
            <a:alphaModFix/>
          </a:blip>
          <a:srcRect b="0" l="0" r="0" t="54067"/>
          <a:stretch/>
        </p:blipFill>
        <p:spPr>
          <a:xfrm>
            <a:off x="784088" y="806731"/>
            <a:ext cx="1704534" cy="1694971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80" name="Google Shape;680;p85"/>
          <p:cNvSpPr txBox="1"/>
          <p:nvPr/>
        </p:nvSpPr>
        <p:spPr>
          <a:xfrm>
            <a:off x="784088" y="2668031"/>
            <a:ext cx="1736100" cy="117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Cuestionarios</a:t>
            </a:r>
            <a:br>
              <a:rPr lang="en-US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</a:br>
            <a:br>
              <a:rPr lang="en-US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i="1"/>
              <a:t>Recuerda, contesta usando lo que ya sabes. ¡Estamos aquí para aprender! 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681" name="Google Shape;681;p85"/>
          <p:cNvPicPr preferRelativeResize="0"/>
          <p:nvPr/>
        </p:nvPicPr>
        <p:blipFill rotWithShape="1">
          <a:blip r:embed="rId4">
            <a:alphaModFix/>
          </a:blip>
          <a:srcRect b="46600" l="0" r="0" t="11199"/>
          <a:stretch/>
        </p:blipFill>
        <p:spPr>
          <a:xfrm>
            <a:off x="2655370" y="775725"/>
            <a:ext cx="1889190" cy="1725978"/>
          </a:xfrm>
          <a:prstGeom prst="rect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82" name="Google Shape;682;p85"/>
          <p:cNvPicPr preferRelativeResize="0"/>
          <p:nvPr/>
        </p:nvPicPr>
        <p:blipFill rotWithShape="1">
          <a:blip r:embed="rId3">
            <a:alphaModFix/>
          </a:blip>
          <a:srcRect b="0" l="0" r="0" t="54067"/>
          <a:stretch/>
        </p:blipFill>
        <p:spPr>
          <a:xfrm>
            <a:off x="784088" y="806731"/>
            <a:ext cx="1704534" cy="1694971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85"/>
          <p:cNvSpPr txBox="1"/>
          <p:nvPr/>
        </p:nvSpPr>
        <p:spPr>
          <a:xfrm>
            <a:off x="2655375" y="2674575"/>
            <a:ext cx="1889100" cy="322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historietas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684" name="Google Shape;684;p85"/>
          <p:cNvPicPr preferRelativeResize="0"/>
          <p:nvPr/>
        </p:nvPicPr>
        <p:blipFill rotWithShape="1">
          <a:blip r:embed="rId5">
            <a:alphaModFix/>
          </a:blip>
          <a:srcRect b="38031" l="0" r="0" t="11361"/>
          <a:stretch/>
        </p:blipFill>
        <p:spPr>
          <a:xfrm>
            <a:off x="4748135" y="1185197"/>
            <a:ext cx="1410597" cy="1545452"/>
          </a:xfrm>
          <a:prstGeom prst="rect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85" name="Google Shape;685;p85"/>
          <p:cNvSpPr txBox="1"/>
          <p:nvPr/>
        </p:nvSpPr>
        <p:spPr>
          <a:xfrm>
            <a:off x="4711314" y="776324"/>
            <a:ext cx="3648600" cy="322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Tips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86" name="Google Shape;686;p85"/>
          <p:cNvSpPr txBox="1"/>
          <p:nvPr/>
        </p:nvSpPr>
        <p:spPr>
          <a:xfrm>
            <a:off x="4748125" y="2817275"/>
            <a:ext cx="1464300" cy="322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Video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687" name="Google Shape;687;p85"/>
          <p:cNvPicPr preferRelativeResize="0"/>
          <p:nvPr/>
        </p:nvPicPr>
        <p:blipFill rotWithShape="1">
          <a:blip r:embed="rId6">
            <a:alphaModFix/>
          </a:blip>
          <a:srcRect b="20658" l="0" r="0" t="11002"/>
          <a:stretch/>
        </p:blipFill>
        <p:spPr>
          <a:xfrm>
            <a:off x="6467760" y="1185196"/>
            <a:ext cx="1794820" cy="2655519"/>
          </a:xfrm>
          <a:prstGeom prst="rect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88" name="Google Shape;688;p85"/>
          <p:cNvPicPr preferRelativeResize="0"/>
          <p:nvPr/>
        </p:nvPicPr>
        <p:blipFill rotWithShape="1">
          <a:blip r:embed="rId7">
            <a:alphaModFix/>
          </a:blip>
          <a:srcRect b="53668" l="0" r="0" t="10871"/>
          <a:stretch/>
        </p:blipFill>
        <p:spPr>
          <a:xfrm>
            <a:off x="4748134" y="3226119"/>
            <a:ext cx="1464297" cy="1124163"/>
          </a:xfrm>
          <a:prstGeom prst="rect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89" name="Google Shape;689;p85"/>
          <p:cNvSpPr txBox="1"/>
          <p:nvPr/>
        </p:nvSpPr>
        <p:spPr>
          <a:xfrm>
            <a:off x="4711325" y="4436925"/>
            <a:ext cx="1527900" cy="322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Audio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0" name="Google Shape;690;p85"/>
          <p:cNvSpPr txBox="1"/>
          <p:nvPr/>
        </p:nvSpPr>
        <p:spPr>
          <a:xfrm>
            <a:off x="6467749" y="3927400"/>
            <a:ext cx="1889100" cy="322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Texto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1" name="Google Shape;691;p85"/>
          <p:cNvSpPr txBox="1"/>
          <p:nvPr/>
        </p:nvSpPr>
        <p:spPr>
          <a:xfrm>
            <a:off x="2697550" y="3179750"/>
            <a:ext cx="1794900" cy="1257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i="1" sz="13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sesiones serán diferentes para cada persona. ¡Están personalizadas!</a:t>
            </a:r>
            <a:endParaRPr i="1" sz="13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86"/>
          <p:cNvSpPr/>
          <p:nvPr/>
        </p:nvSpPr>
        <p:spPr>
          <a:xfrm>
            <a:off x="13" y="1061289"/>
            <a:ext cx="9144000" cy="48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97" name="Google Shape;697;p86"/>
          <p:cNvSpPr/>
          <p:nvPr/>
        </p:nvSpPr>
        <p:spPr>
          <a:xfrm>
            <a:off x="25" y="2871426"/>
            <a:ext cx="9144000" cy="48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98" name="Google Shape;698;p86"/>
          <p:cNvSpPr/>
          <p:nvPr/>
        </p:nvSpPr>
        <p:spPr>
          <a:xfrm>
            <a:off x="4556476" y="1061300"/>
            <a:ext cx="17700" cy="40821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699" name="Google Shape;699;p86"/>
          <p:cNvGrpSpPr/>
          <p:nvPr/>
        </p:nvGrpSpPr>
        <p:grpSpPr>
          <a:xfrm>
            <a:off x="521350" y="1294012"/>
            <a:ext cx="3448196" cy="931514"/>
            <a:chOff x="0" y="-57150"/>
            <a:chExt cx="5523300" cy="2484038"/>
          </a:xfrm>
        </p:grpSpPr>
        <p:sp>
          <p:nvSpPr>
            <p:cNvPr id="700" name="Google Shape;700;p86"/>
            <p:cNvSpPr txBox="1"/>
            <p:nvPr/>
          </p:nvSpPr>
          <p:spPr>
            <a:xfrm>
              <a:off x="0" y="-57150"/>
              <a:ext cx="5523300" cy="65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600"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rPr>
                  <a:solidFill>
                    <a:schemeClr val="dk1"/>
                  </a:solidFill>
                </a:rPr>
                <a:t>ESCRIBE </a:t>
              </a:r>
              <a:r>
                <a:rPr b="1">
                  <a:solidFill>
                    <a:srgbClr val="00969B"/>
                  </a:solidFill>
                </a:rPr>
                <a:t>SIGUIENTE</a:t>
              </a:r>
              <a:endParaRPr b="1" sz="13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sp>
          <p:nvSpPr>
            <p:cNvPr id="701" name="Google Shape;701;p86"/>
            <p:cNvSpPr txBox="1"/>
            <p:nvPr/>
          </p:nvSpPr>
          <p:spPr>
            <a:xfrm>
              <a:off x="0" y="866888"/>
              <a:ext cx="5523300" cy="156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¿Te atoraste en el chatbot? </a:t>
              </a: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r>
                <a:t>¿No ves la palabra SIGUIENTE?</a:t>
              </a:r>
              <a:endParaRPr sz="7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sp>
        <p:nvSpPr>
          <p:cNvPr id="702" name="Google Shape;702;p86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86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Resuelve Retos y Dificultades en el chatbot de </a:t>
            </a:r>
            <a:r>
              <a:t>Crianza con Conciencia +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04" name="Google Shape;704;p86"/>
          <p:cNvGrpSpPr/>
          <p:nvPr/>
        </p:nvGrpSpPr>
        <p:grpSpPr>
          <a:xfrm>
            <a:off x="4887775" y="1294000"/>
            <a:ext cx="3484650" cy="1578052"/>
            <a:chOff x="0" y="-57150"/>
            <a:chExt cx="5523300" cy="4208138"/>
          </a:xfrm>
        </p:grpSpPr>
        <p:sp>
          <p:nvSpPr>
            <p:cNvPr id="705" name="Google Shape;705;p86"/>
            <p:cNvSpPr txBox="1"/>
            <p:nvPr/>
          </p:nvSpPr>
          <p:spPr>
            <a:xfrm>
              <a:off x="0" y="-57150"/>
              <a:ext cx="5523300" cy="65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600"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rPr>
                  <a:solidFill>
                    <a:schemeClr val="dk1"/>
                  </a:solidFill>
                </a:rPr>
                <a:t>ESCRIBE </a:t>
              </a:r>
              <a:r>
                <a:rPr b="1">
                  <a:solidFill>
                    <a:srgbClr val="00969B"/>
                  </a:solidFill>
                </a:rPr>
                <a:t>MENÚ</a:t>
              </a:r>
              <a:endParaRPr b="1" sz="13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sp>
          <p:nvSpPr>
            <p:cNvPr id="706" name="Google Shape;706;p86"/>
            <p:cNvSpPr txBox="1"/>
            <p:nvPr/>
          </p:nvSpPr>
          <p:spPr>
            <a:xfrm>
              <a:off x="0" y="866888"/>
              <a:ext cx="5523300" cy="328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Cambia la configuración </a:t>
              </a: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r>
                <a:t>Revisa las sesiones que has completado </a:t>
              </a:r>
              <a:endParaRPr sz="10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r>
                <a:t>Vuelve a ver el vídeo de integración</a:t>
              </a:r>
              <a:endParaRPr sz="10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707" name="Google Shape;707;p86"/>
          <p:cNvGrpSpPr/>
          <p:nvPr/>
        </p:nvGrpSpPr>
        <p:grpSpPr>
          <a:xfrm>
            <a:off x="485075" y="3501012"/>
            <a:ext cx="3448196" cy="500414"/>
            <a:chOff x="0" y="-57150"/>
            <a:chExt cx="5523300" cy="1334438"/>
          </a:xfrm>
        </p:grpSpPr>
        <p:sp>
          <p:nvSpPr>
            <p:cNvPr id="708" name="Google Shape;708;p86"/>
            <p:cNvSpPr txBox="1"/>
            <p:nvPr/>
          </p:nvSpPr>
          <p:spPr>
            <a:xfrm>
              <a:off x="0" y="-57150"/>
              <a:ext cx="5523300" cy="65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600"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rPr>
                  <a:solidFill>
                    <a:schemeClr val="dk1"/>
                  </a:solidFill>
                </a:rPr>
                <a:t>ESCRIBE </a:t>
              </a:r>
              <a:r>
                <a:rPr b="1">
                  <a:solidFill>
                    <a:srgbClr val="00969B"/>
                  </a:solidFill>
                </a:rPr>
                <a:t>REPRODUCIR</a:t>
              </a:r>
              <a:endParaRPr b="1" sz="13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sp>
          <p:nvSpPr>
            <p:cNvPr id="709" name="Google Shape;709;p86"/>
            <p:cNvSpPr txBox="1"/>
            <p:nvPr/>
          </p:nvSpPr>
          <p:spPr>
            <a:xfrm>
              <a:off x="0" y="866888"/>
              <a:ext cx="5523300" cy="410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Encuentra actividades lúdicas para hacer con tu niña, niño o adolescente</a:t>
              </a:r>
              <a:endParaRPr sz="7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710" name="Google Shape;710;p86"/>
          <p:cNvGrpSpPr/>
          <p:nvPr/>
        </p:nvGrpSpPr>
        <p:grpSpPr>
          <a:xfrm>
            <a:off x="4906000" y="3522162"/>
            <a:ext cx="3448196" cy="715964"/>
            <a:chOff x="0" y="-57150"/>
            <a:chExt cx="5523300" cy="1909238"/>
          </a:xfrm>
        </p:grpSpPr>
        <p:sp>
          <p:nvSpPr>
            <p:cNvPr id="711" name="Google Shape;711;p86"/>
            <p:cNvSpPr txBox="1"/>
            <p:nvPr/>
          </p:nvSpPr>
          <p:spPr>
            <a:xfrm>
              <a:off x="0" y="-57150"/>
              <a:ext cx="5523300" cy="65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600"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rPr>
                  <a:solidFill>
                    <a:schemeClr val="dk1"/>
                  </a:solidFill>
                </a:rPr>
                <a:t>ESCRIBE </a:t>
              </a:r>
              <a:r>
                <a:rPr b="1">
                  <a:solidFill>
                    <a:srgbClr val="00969B"/>
                  </a:solidFill>
                </a:rPr>
                <a:t>AYUDA</a:t>
              </a:r>
              <a:endParaRPr b="1" sz="13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sp>
          <p:nvSpPr>
            <p:cNvPr id="712" name="Google Shape;712;p86"/>
            <p:cNvSpPr txBox="1"/>
            <p:nvPr/>
          </p:nvSpPr>
          <p:spPr>
            <a:xfrm>
              <a:off x="0" y="866888"/>
              <a:ext cx="5523300" cy="98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Explora recursos e información de contacto relacionados con violencia intrafamiliar, violencia sexual, salud mental u otras situaciones urgentes.</a:t>
              </a:r>
              <a:endParaRPr sz="7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87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87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t>¿Cómo Entender el MENÚ de Crianza con Conciencia +?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p88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88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t>¿Cómo Entender el MENÚ de Crianza con Conciencia +?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89"/>
          <p:cNvSpPr txBox="1"/>
          <p:nvPr>
            <p:ph idx="1" type="body"/>
          </p:nvPr>
        </p:nvSpPr>
        <p:spPr>
          <a:xfrm>
            <a:off x="2641276" y="2012905"/>
            <a:ext cx="50451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  <a:r>
              <a:t>Acordemos algunas reglas básicas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p90"/>
          <p:cNvSpPr/>
          <p:nvPr/>
        </p:nvSpPr>
        <p:spPr>
          <a:xfrm rot="-5400000">
            <a:off x="2775450" y="-2605400"/>
            <a:ext cx="532200" cy="60831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90"/>
          <p:cNvSpPr txBox="1"/>
          <p:nvPr/>
        </p:nvSpPr>
        <p:spPr>
          <a:xfrm>
            <a:off x="57625" y="216750"/>
            <a:ext cx="714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Próximos Pasos: Rol del Facilitador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36" name="Google Shape;736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737" name="Google Shape;737;p90"/>
          <p:cNvSpPr txBox="1"/>
          <p:nvPr/>
        </p:nvSpPr>
        <p:spPr>
          <a:xfrm>
            <a:off x="505050" y="1075775"/>
            <a:ext cx="574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90"/>
          <p:cNvSpPr txBox="1"/>
          <p:nvPr/>
        </p:nvSpPr>
        <p:spPr>
          <a:xfrm>
            <a:off x="248350" y="991175"/>
            <a:ext cx="8089200" cy="36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>
                <a:solidFill>
                  <a:srgbClr val="00969B"/>
                </a:solidFill>
              </a:defRPr>
            </a:pPr>
            <a:r>
              <a:rPr sz="1400">
                <a:latin typeface="Arial"/>
                <a:ea typeface="Arial"/>
                <a:cs typeface="Arial"/>
                <a:sym typeface="Arial"/>
              </a:rPr>
              <a:t>A lo largo de</a:t>
            </a:r>
            <a:r>
              <a:t> Crianza con Conciencia +</a:t>
            </a:r>
            <a:r>
              <a:rPr sz="1400">
                <a:latin typeface="Arial"/>
                <a:ea typeface="Arial"/>
                <a:cs typeface="Arial"/>
                <a:sym typeface="Arial"/>
              </a:rPr>
              <a:t>, yo:</a:t>
            </a:r>
            <a:endParaRPr b="0" i="0" sz="11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400"/>
              <a:buFont typeface="Arial"/>
              <a:buChar char="●"/>
              <a:defRPr sz="14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Estaré en contacto contigo de vez en cuando, de aquí hasta que termine el curso, para saludarte y preguntarte cómo vas.</a:t>
            </a:r>
            <a:endParaRPr b="0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400"/>
              <a:buFont typeface="Arial"/>
              <a:buChar char="●"/>
              <a:defRPr>
                <a:solidFill>
                  <a:srgbClr val="123D5D"/>
                </a:solidFill>
              </a:defRPr>
            </a:pPr>
            <a:r>
              <a:rPr sz="1400">
                <a:latin typeface="Arial"/>
                <a:ea typeface="Arial"/>
                <a:cs typeface="Arial"/>
                <a:sym typeface="Arial"/>
              </a:rPr>
              <a:t>Me aseguraré de que todos y todas sigan las </a:t>
            </a:r>
            <a:r>
              <a:t>r</a:t>
            </a:r>
            <a:r>
              <a:rPr sz="1400">
                <a:latin typeface="Arial"/>
                <a:ea typeface="Arial"/>
                <a:cs typeface="Arial"/>
                <a:sym typeface="Arial"/>
              </a:rPr>
              <a:t>eglas </a:t>
            </a:r>
            <a:r>
              <a:t>b</a:t>
            </a:r>
            <a:r>
              <a:rPr sz="1400">
                <a:latin typeface="Arial"/>
                <a:ea typeface="Arial"/>
                <a:cs typeface="Arial"/>
                <a:sym typeface="Arial"/>
              </a:rPr>
              <a:t>ásicas que hemos acordado hoy como grupo. </a:t>
            </a:r>
            <a:endParaRPr b="0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400"/>
              <a:buFont typeface="Arial"/>
              <a:buChar char="●"/>
              <a:defRPr sz="14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Te invitaré a hablar sobre algunas cuestiones relacionadas con la crianza.</a:t>
            </a:r>
            <a:endParaRPr b="0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400"/>
              <a:buFont typeface="Arial"/>
              <a:buChar char="●"/>
              <a:defRPr sz="14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Denunciaré cualquier caso de abuso hacia niñas, niños, adolescentes y adultos.</a:t>
            </a:r>
            <a:endParaRPr b="0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400"/>
              <a:buFont typeface="Arial"/>
              <a:buChar char="●"/>
              <a:defRPr sz="14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Me despediré y me saldré el grupo cuando termine el programa. Sin embargo, todos pueden seguir aprendiendo y usando el WhatsApp de Crianza con Conciencia +.</a:t>
            </a:r>
            <a:endParaRPr b="0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400"/>
              <a:buFont typeface="Arial"/>
              <a:buNone/>
              <a:defRPr b="1">
                <a:solidFill>
                  <a:srgbClr val="123D5D"/>
                </a:solidFill>
              </a:defRPr>
            </a:pPr>
            <a:r>
              <a:rPr sz="1400">
                <a:latin typeface="Arial"/>
                <a:ea typeface="Arial"/>
                <a:cs typeface="Arial"/>
                <a:sym typeface="Arial"/>
              </a:rPr>
              <a:t>Al final del </a:t>
            </a:r>
            <a:r>
              <a:t>año</a:t>
            </a:r>
            <a:r>
              <a:rPr sz="1400">
                <a:latin typeface="Arial"/>
                <a:ea typeface="Arial"/>
                <a:cs typeface="Arial"/>
                <a:sym typeface="Arial"/>
              </a:rPr>
              <a:t>, habrá nuevos cursos de </a:t>
            </a:r>
            <a:r>
              <a:t>Crianza con Conciencia +</a:t>
            </a:r>
            <a:r>
              <a:rPr sz="1400">
                <a:latin typeface="Arial"/>
                <a:ea typeface="Arial"/>
                <a:cs typeface="Arial"/>
                <a:sym typeface="Arial"/>
              </a:rPr>
              <a:t> .</a:t>
            </a:r>
            <a:endParaRPr b="1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39" name="Google Shape;739;p90"/>
          <p:cNvGrpSpPr/>
          <p:nvPr/>
        </p:nvGrpSpPr>
        <p:grpSpPr>
          <a:xfrm>
            <a:off x="312541" y="1442984"/>
            <a:ext cx="354468" cy="359177"/>
            <a:chOff x="475577" y="1034115"/>
            <a:chExt cx="523200" cy="523200"/>
          </a:xfrm>
        </p:grpSpPr>
        <p:sp>
          <p:nvSpPr>
            <p:cNvPr id="740" name="Google Shape;740;p90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FF5E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741" name="Google Shape;741;p9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42" name="Google Shape;742;p90"/>
          <p:cNvGrpSpPr/>
          <p:nvPr/>
        </p:nvGrpSpPr>
        <p:grpSpPr>
          <a:xfrm>
            <a:off x="312541" y="2145189"/>
            <a:ext cx="354468" cy="359177"/>
            <a:chOff x="475577" y="1034115"/>
            <a:chExt cx="523200" cy="523200"/>
          </a:xfrm>
        </p:grpSpPr>
        <p:sp>
          <p:nvSpPr>
            <p:cNvPr id="743" name="Google Shape;743;p90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744" name="Google Shape;744;p9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45" name="Google Shape;745;p90"/>
          <p:cNvGrpSpPr/>
          <p:nvPr/>
        </p:nvGrpSpPr>
        <p:grpSpPr>
          <a:xfrm>
            <a:off x="312541" y="2643232"/>
            <a:ext cx="354468" cy="359177"/>
            <a:chOff x="475577" y="1034115"/>
            <a:chExt cx="523200" cy="523200"/>
          </a:xfrm>
        </p:grpSpPr>
        <p:sp>
          <p:nvSpPr>
            <p:cNvPr id="746" name="Google Shape;746;p90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DB351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747" name="Google Shape;747;p9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48" name="Google Shape;748;p90"/>
          <p:cNvGrpSpPr/>
          <p:nvPr/>
        </p:nvGrpSpPr>
        <p:grpSpPr>
          <a:xfrm>
            <a:off x="312541" y="3088624"/>
            <a:ext cx="354468" cy="359177"/>
            <a:chOff x="475577" y="1034115"/>
            <a:chExt cx="523200" cy="523200"/>
          </a:xfrm>
        </p:grpSpPr>
        <p:sp>
          <p:nvSpPr>
            <p:cNvPr id="749" name="Google Shape;749;p90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10406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750" name="Google Shape;750;p9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51" name="Google Shape;751;p90"/>
          <p:cNvGrpSpPr/>
          <p:nvPr/>
        </p:nvGrpSpPr>
        <p:grpSpPr>
          <a:xfrm>
            <a:off x="312541" y="3610234"/>
            <a:ext cx="354468" cy="359177"/>
            <a:chOff x="475577" y="1034115"/>
            <a:chExt cx="523200" cy="523200"/>
          </a:xfrm>
        </p:grpSpPr>
        <p:sp>
          <p:nvSpPr>
            <p:cNvPr id="752" name="Google Shape;752;p90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FF5E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753" name="Google Shape;753;p9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7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91"/>
          <p:cNvSpPr/>
          <p:nvPr/>
        </p:nvSpPr>
        <p:spPr>
          <a:xfrm rot="-5400000">
            <a:off x="1218301" y="-1017075"/>
            <a:ext cx="480900" cy="2917500"/>
          </a:xfrm>
          <a:prstGeom prst="round2SameRect">
            <a:avLst>
              <a:gd fmla="val 0" name="adj1"/>
              <a:gd fmla="val 3351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91"/>
          <p:cNvSpPr txBox="1"/>
          <p:nvPr/>
        </p:nvSpPr>
        <p:spPr>
          <a:xfrm>
            <a:off x="286226" y="197500"/>
            <a:ext cx="27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Preguntas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91"/>
          <p:cNvSpPr txBox="1"/>
          <p:nvPr/>
        </p:nvSpPr>
        <p:spPr>
          <a:xfrm>
            <a:off x="269600" y="972071"/>
            <a:ext cx="8199600" cy="192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b="1" sz="1700">
                <a:solidFill>
                  <a:srgbClr val="0D3959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¿Tienes alguna pregunta sobre</a:t>
            </a:r>
            <a:endParaRPr b="1" i="0" sz="1700" u="none" cap="none" strike="noStrike">
              <a:solidFill>
                <a:srgbClr val="0D3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marR="0" rtl="0" algn="just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3959"/>
              </a:buClr>
              <a:buSzPts val="1700"/>
              <a:buFont typeface="Arial"/>
              <a:buChar char="●"/>
              <a:defRPr sz="1700">
                <a:solidFill>
                  <a:srgbClr val="0D3959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Cómo usar el </a:t>
            </a:r>
            <a:r>
              <a:t> chatbot de Crianza con Conciencia +</a:t>
            </a:r>
            <a:endParaRPr b="0" i="0" sz="1700" u="none" cap="none" strike="noStrike">
              <a:solidFill>
                <a:srgbClr val="0D3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959"/>
              </a:buClr>
              <a:buSzPts val="1700"/>
              <a:buFont typeface="Arial"/>
              <a:buChar char="●"/>
              <a:defRPr sz="1700">
                <a:solidFill>
                  <a:srgbClr val="0D3959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Cómo participar en el Grupo de Comunidad de WhatsApp</a:t>
            </a:r>
            <a:endParaRPr b="0" i="0" sz="1700" u="none" cap="none" strike="noStrike">
              <a:solidFill>
                <a:srgbClr val="0D3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959"/>
              </a:buClr>
              <a:buSzPts val="1700"/>
              <a:buFont typeface="Arial"/>
              <a:buChar char="●"/>
              <a:defRPr sz="1700">
                <a:solidFill>
                  <a:srgbClr val="0D3959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¿Algo más?</a:t>
            </a:r>
            <a:endParaRPr b="1" i="0" sz="1700" u="none" cap="none" strike="noStrike">
              <a:solidFill>
                <a:srgbClr val="0D3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61" name="Google Shape;761;p91"/>
          <p:cNvGrpSpPr/>
          <p:nvPr/>
        </p:nvGrpSpPr>
        <p:grpSpPr>
          <a:xfrm>
            <a:off x="312541" y="1773621"/>
            <a:ext cx="354468" cy="359177"/>
            <a:chOff x="475577" y="1034115"/>
            <a:chExt cx="523200" cy="523200"/>
          </a:xfrm>
        </p:grpSpPr>
        <p:sp>
          <p:nvSpPr>
            <p:cNvPr id="762" name="Google Shape;762;p91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FF5E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763" name="Google Shape;763;p9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64" name="Google Shape;764;p91"/>
          <p:cNvGrpSpPr/>
          <p:nvPr/>
        </p:nvGrpSpPr>
        <p:grpSpPr>
          <a:xfrm>
            <a:off x="312541" y="2182789"/>
            <a:ext cx="354468" cy="359177"/>
            <a:chOff x="475577" y="1034115"/>
            <a:chExt cx="523200" cy="523200"/>
          </a:xfrm>
        </p:grpSpPr>
        <p:sp>
          <p:nvSpPr>
            <p:cNvPr id="765" name="Google Shape;765;p91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766" name="Google Shape;766;p9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67" name="Google Shape;767;p91"/>
          <p:cNvGrpSpPr/>
          <p:nvPr/>
        </p:nvGrpSpPr>
        <p:grpSpPr>
          <a:xfrm>
            <a:off x="312541" y="2591982"/>
            <a:ext cx="354468" cy="359177"/>
            <a:chOff x="475577" y="1034115"/>
            <a:chExt cx="523200" cy="523200"/>
          </a:xfrm>
        </p:grpSpPr>
        <p:sp>
          <p:nvSpPr>
            <p:cNvPr id="768" name="Google Shape;768;p91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DB351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769" name="Google Shape;769;p9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70" name="Google Shape;770;p91"/>
          <p:cNvPicPr preferRelativeResize="0"/>
          <p:nvPr/>
        </p:nvPicPr>
        <p:blipFill rotWithShape="1">
          <a:blip r:embed="rId4">
            <a:alphaModFix/>
          </a:blip>
          <a:srcRect b="36315" l="46857" r="7926" t="2619"/>
          <a:stretch/>
        </p:blipFill>
        <p:spPr>
          <a:xfrm>
            <a:off x="6596701" y="2596198"/>
            <a:ext cx="2547300" cy="2547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92"/>
          <p:cNvSpPr txBox="1"/>
          <p:nvPr>
            <p:ph idx="1" type="body"/>
          </p:nvPr>
        </p:nvSpPr>
        <p:spPr>
          <a:xfrm>
            <a:off x="2703401" y="1698029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  <a:r>
              <a:t>Vincula la app:</a:t>
            </a:r>
          </a:p>
        </p:txBody>
      </p:sp>
      <p:sp>
        <p:nvSpPr>
          <p:cNvPr id="776" name="Google Shape;776;p92"/>
          <p:cNvSpPr txBox="1"/>
          <p:nvPr>
            <p:ph idx="2" type="body"/>
          </p:nvPr>
        </p:nvSpPr>
        <p:spPr>
          <a:xfrm>
            <a:off x="2642600" y="2512325"/>
            <a:ext cx="6173100" cy="22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2800"/>
            </a:pPr>
            <a:r>
              <a:t>Vincula la App Formando Conciencia + y el Número 
 de Identificación Único (NID)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Noto Sans Thin"/>
              <a:buNone/>
            </a:p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0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93"/>
          <p:cNvSpPr txBox="1"/>
          <p:nvPr>
            <p:ph idx="1" type="body"/>
          </p:nvPr>
        </p:nvSpPr>
        <p:spPr>
          <a:xfrm>
            <a:off x="2724100" y="1913700"/>
            <a:ext cx="5889900" cy="25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t>¡Comparte en una palabra cómo te sientes después de la sesión!</a:t>
            </a: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94"/>
          <p:cNvSpPr/>
          <p:nvPr/>
        </p:nvSpPr>
        <p:spPr>
          <a:xfrm rot="-5400000">
            <a:off x="1218301" y="-1017075"/>
            <a:ext cx="480900" cy="2917500"/>
          </a:xfrm>
          <a:prstGeom prst="round2SameRect">
            <a:avLst>
              <a:gd fmla="val 0" name="adj1"/>
              <a:gd fmla="val 3351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94"/>
          <p:cNvSpPr txBox="1"/>
          <p:nvPr/>
        </p:nvSpPr>
        <p:spPr>
          <a:xfrm>
            <a:off x="286226" y="197500"/>
            <a:ext cx="27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Próximos Pasos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94"/>
          <p:cNvSpPr txBox="1"/>
          <p:nvPr/>
        </p:nvSpPr>
        <p:spPr>
          <a:xfrm>
            <a:off x="269600" y="972075"/>
            <a:ext cx="5691600" cy="33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959"/>
              </a:buClr>
              <a:buSzPts val="1700"/>
              <a:buFont typeface="Arial"/>
              <a:buChar char="●"/>
              <a:defRPr sz="1700">
                <a:solidFill>
                  <a:srgbClr val="0D3959"/>
                </a:solidFill>
              </a:defRPr>
            </a:pPr>
            <a:r>
              <a:t>Más adelante tendremos nuestra primera sesión de chat para presentarnos</a:t>
            </a:r>
            <a:endParaRPr sz="1700">
              <a:solidFill>
                <a:srgbClr val="0D3959"/>
              </a:solidFill>
            </a:endParaRPr>
          </a:p>
          <a:p>
            <a:pPr indent="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rgbClr val="0D3959"/>
              </a:solidFill>
            </a:endParaRPr>
          </a:p>
          <a:p>
            <a:pPr indent="-3365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959"/>
              </a:buClr>
              <a:buSzPts val="1700"/>
              <a:buFont typeface="Arial"/>
              <a:buChar char="●"/>
              <a:defRPr sz="1700">
                <a:solidFill>
                  <a:srgbClr val="0D3959"/>
                </a:solidFill>
              </a:defRPr>
            </a:pPr>
            <a:r>
              <a:t>Irás a casa y probarás tu primera Actividad para Casa: pasar 5 minutos de Tiempo Uno a Uno con tu niña, niño o adolescente </a:t>
            </a:r>
            <a:endParaRPr sz="1700">
              <a:solidFill>
                <a:srgbClr val="0D3959"/>
              </a:solidFill>
            </a:endParaRPr>
          </a:p>
          <a:p>
            <a:pPr indent="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rgbClr val="0D3959"/>
              </a:solidFill>
            </a:endParaRPr>
          </a:p>
          <a:p>
            <a:pPr indent="-3365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959"/>
              </a:buClr>
              <a:buSzPts val="1700"/>
              <a:buChar char="●"/>
              <a:defRPr sz="1700">
                <a:solidFill>
                  <a:srgbClr val="0D3959"/>
                </a:solidFill>
              </a:defRPr>
            </a:pPr>
            <a:r>
              <a:t>¡Mañana llevarás la próxima sesión!</a:t>
            </a:r>
            <a:endParaRPr sz="1700">
              <a:solidFill>
                <a:srgbClr val="0D3959"/>
              </a:solidFill>
            </a:endParaRPr>
          </a:p>
        </p:txBody>
      </p:sp>
      <p:grpSp>
        <p:nvGrpSpPr>
          <p:cNvPr id="789" name="Google Shape;789;p94"/>
          <p:cNvGrpSpPr/>
          <p:nvPr/>
        </p:nvGrpSpPr>
        <p:grpSpPr>
          <a:xfrm>
            <a:off x="319541" y="1323346"/>
            <a:ext cx="354468" cy="359177"/>
            <a:chOff x="475577" y="1034115"/>
            <a:chExt cx="523200" cy="523200"/>
          </a:xfrm>
        </p:grpSpPr>
        <p:sp>
          <p:nvSpPr>
            <p:cNvPr id="790" name="Google Shape;790;p94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FF5E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791" name="Google Shape;791;p9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92" name="Google Shape;792;p94"/>
          <p:cNvGrpSpPr/>
          <p:nvPr/>
        </p:nvGrpSpPr>
        <p:grpSpPr>
          <a:xfrm>
            <a:off x="354491" y="2392151"/>
            <a:ext cx="354468" cy="359177"/>
            <a:chOff x="475577" y="1034115"/>
            <a:chExt cx="523200" cy="523200"/>
          </a:xfrm>
        </p:grpSpPr>
        <p:sp>
          <p:nvSpPr>
            <p:cNvPr id="793" name="Google Shape;793;p94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794" name="Google Shape;794;p9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95" name="Google Shape;795;p94"/>
          <p:cNvGrpSpPr/>
          <p:nvPr/>
        </p:nvGrpSpPr>
        <p:grpSpPr>
          <a:xfrm>
            <a:off x="354491" y="3976207"/>
            <a:ext cx="354468" cy="359177"/>
            <a:chOff x="475577" y="1034115"/>
            <a:chExt cx="523200" cy="523200"/>
          </a:xfrm>
        </p:grpSpPr>
        <p:sp>
          <p:nvSpPr>
            <p:cNvPr id="796" name="Google Shape;796;p94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DB351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797" name="Google Shape;797;p9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98" name="Google Shape;798;p94"/>
          <p:cNvPicPr preferRelativeResize="0"/>
          <p:nvPr/>
        </p:nvPicPr>
        <p:blipFill rotWithShape="1">
          <a:blip r:embed="rId4">
            <a:alphaModFix/>
          </a:blip>
          <a:srcRect b="0" l="12435" r="12427" t="0"/>
          <a:stretch/>
        </p:blipFill>
        <p:spPr>
          <a:xfrm>
            <a:off x="6100526" y="1047636"/>
            <a:ext cx="2547300" cy="2547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95"/>
          <p:cNvSpPr txBox="1"/>
          <p:nvPr>
            <p:ph idx="1" type="body"/>
          </p:nvPr>
        </p:nvSpPr>
        <p:spPr>
          <a:xfrm>
            <a:off x="1767750" y="388225"/>
            <a:ext cx="5608500" cy="29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</a:pPr>
            <a:r>
              <a:t>Gracias por tu compromiso</a:t>
            </a: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</a:p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</a:pPr>
            <a:r>
              <a:t>¿Alguna pregunta?</a:t>
            </a: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Delicious Handrawn"/>
              <a:buNone/>
            </a:pPr>
          </a:p>
        </p:txBody>
      </p:sp>
      <p:pic>
        <p:nvPicPr>
          <p:cNvPr id="804" name="Google Shape;804;p9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89047" y="2672899"/>
            <a:ext cx="2577825" cy="1023550"/>
          </a:xfrm>
          <a:prstGeom prst="rect">
            <a:avLst/>
          </a:prstGeom>
          <a:noFill/>
          <a:ln>
            <a:noFill/>
          </a:ln>
        </p:spPr>
      </p:pic>
      <p:sp>
        <p:nvSpPr>
          <p:cNvPr id="805" name="Google Shape;805;p95"/>
          <p:cNvSpPr/>
          <p:nvPr/>
        </p:nvSpPr>
        <p:spPr>
          <a:xfrm>
            <a:off x="-24325" y="4673575"/>
            <a:ext cx="9216900" cy="53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06" name="Google Shape;806;p9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0121" y="4705350"/>
            <a:ext cx="1076954" cy="38771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7" name="Google Shape;807;p9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84975" y="4673575"/>
            <a:ext cx="931226" cy="475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808" name="Google Shape;808;p95"/>
          <p:cNvPicPr preferRelativeResize="0"/>
          <p:nvPr/>
        </p:nvPicPr>
        <p:blipFill rotWithShape="1">
          <a:blip r:embed="rId6">
            <a:alphaModFix/>
          </a:blip>
          <a:srcRect b="1066" l="0" r="0" t="1076"/>
          <a:stretch/>
        </p:blipFill>
        <p:spPr>
          <a:xfrm>
            <a:off x="4505500" y="4758750"/>
            <a:ext cx="1261374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X PPT">
  <a:themeElements>
    <a:clrScheme name="PLH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B1F0"/>
      </a:accent1>
      <a:accent2>
        <a:srgbClr val="FCA203"/>
      </a:accent2>
      <a:accent3>
        <a:srgbClr val="222299"/>
      </a:accent3>
      <a:accent4>
        <a:srgbClr val="D60066"/>
      </a:accent4>
      <a:accent5>
        <a:srgbClr val="0B4060"/>
      </a:accent5>
      <a:accent6>
        <a:srgbClr val="999999"/>
      </a:accent6>
      <a:hlink>
        <a:srgbClr val="30FFF5"/>
      </a:hlink>
      <a:folHlink>
        <a:srgbClr val="FF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PLH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B1F0"/>
      </a:accent1>
      <a:accent2>
        <a:srgbClr val="FCA203"/>
      </a:accent2>
      <a:accent3>
        <a:srgbClr val="222299"/>
      </a:accent3>
      <a:accent4>
        <a:srgbClr val="D60066"/>
      </a:accent4>
      <a:accent5>
        <a:srgbClr val="0B4060"/>
      </a:accent5>
      <a:accent6>
        <a:srgbClr val="999999"/>
      </a:accent6>
      <a:hlink>
        <a:srgbClr val="30FFF5"/>
      </a:hlink>
      <a:folHlink>
        <a:srgbClr val="FF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Blank">
  <a:themeElements>
    <a:clrScheme name="Custom 1">
      <a:dk1>
        <a:srgbClr val="0D3A5A"/>
      </a:dk1>
      <a:lt1>
        <a:srgbClr val="FEFFFF"/>
      </a:lt1>
      <a:dk2>
        <a:srgbClr val="02969A"/>
      </a:dk2>
      <a:lt2>
        <a:srgbClr val="FEFFFF"/>
      </a:lt2>
      <a:accent1>
        <a:srgbClr val="02969A"/>
      </a:accent1>
      <a:accent2>
        <a:srgbClr val="FE5E00"/>
      </a:accent2>
      <a:accent3>
        <a:srgbClr val="E3027C"/>
      </a:accent3>
      <a:accent4>
        <a:srgbClr val="ED0000"/>
      </a:accent4>
      <a:accent5>
        <a:srgbClr val="F2F2F2"/>
      </a:accent5>
      <a:accent6>
        <a:srgbClr val="0E3959"/>
      </a:accent6>
      <a:hlink>
        <a:srgbClr val="4E5CD7"/>
      </a:hlink>
      <a:folHlink>
        <a:srgbClr val="00969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MX PPT">
  <a:themeElements>
    <a:clrScheme name="PLH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B1F0"/>
      </a:accent1>
      <a:accent2>
        <a:srgbClr val="FCA203"/>
      </a:accent2>
      <a:accent3>
        <a:srgbClr val="222299"/>
      </a:accent3>
      <a:accent4>
        <a:srgbClr val="D60066"/>
      </a:accent4>
      <a:accent5>
        <a:srgbClr val="0B4060"/>
      </a:accent5>
      <a:accent6>
        <a:srgbClr val="999999"/>
      </a:accent6>
      <a:hlink>
        <a:srgbClr val="30FFF5"/>
      </a:hlink>
      <a:folHlink>
        <a:srgbClr val="FF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PLH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B1F0"/>
      </a:accent1>
      <a:accent2>
        <a:srgbClr val="FCA203"/>
      </a:accent2>
      <a:accent3>
        <a:srgbClr val="222299"/>
      </a:accent3>
      <a:accent4>
        <a:srgbClr val="D60066"/>
      </a:accent4>
      <a:accent5>
        <a:srgbClr val="0B4060"/>
      </a:accent5>
      <a:accent6>
        <a:srgbClr val="999999"/>
      </a:accent6>
      <a:hlink>
        <a:srgbClr val="30FFF5"/>
      </a:hlink>
      <a:folHlink>
        <a:srgbClr val="FF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